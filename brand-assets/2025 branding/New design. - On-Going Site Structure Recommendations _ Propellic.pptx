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Proxima Nova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7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FCD875-137A-4144-84B2-6214862CD443}">
  <a:tblStyle styleId="{CAFCD875-137A-4144-84B2-6214862CD44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regular.fntdata"/><Relationship Id="rId10" Type="http://schemas.openxmlformats.org/officeDocument/2006/relationships/slide" Target="slides/slide4.xml"/><Relationship Id="rId13" Type="http://schemas.openxmlformats.org/officeDocument/2006/relationships/font" Target="fonts/ProximaNova-italic.fntdata"/><Relationship Id="rId12" Type="http://schemas.openxmlformats.org/officeDocument/2006/relationships/font" Target="fonts/ProximaNov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font" Target="fonts/ProximaNova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07ad06b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407ad06b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0a4ec99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g340a4ec991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0a4ec991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0a4ec991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0a4ec991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0a4ec991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hyperlink" Target="https://propellic.com/travel/seo/" TargetMode="External"/><Relationship Id="rId11" Type="http://schemas.openxmlformats.org/officeDocument/2006/relationships/hyperlink" Target="https://propellic.com/ota/seo/" TargetMode="External"/><Relationship Id="rId22" Type="http://schemas.openxmlformats.org/officeDocument/2006/relationships/hyperlink" Target="https://propellic.com/travel/seo/" TargetMode="External"/><Relationship Id="rId10" Type="http://schemas.openxmlformats.org/officeDocument/2006/relationships/hyperlink" Target="https://propellic.com/ota/" TargetMode="External"/><Relationship Id="rId21" Type="http://schemas.openxmlformats.org/officeDocument/2006/relationships/hyperlink" Target="https://propellic.com/travel-facebook/" TargetMode="External"/><Relationship Id="rId13" Type="http://schemas.openxmlformats.org/officeDocument/2006/relationships/hyperlink" Target="https://propellic.com/ota/" TargetMode="External"/><Relationship Id="rId24" Type="http://schemas.openxmlformats.org/officeDocument/2006/relationships/hyperlink" Target="https://propellic.com/travel/seo/" TargetMode="External"/><Relationship Id="rId12" Type="http://schemas.openxmlformats.org/officeDocument/2006/relationships/hyperlink" Target="https://propellic.com/ota/cro/" TargetMode="External"/><Relationship Id="rId23" Type="http://schemas.openxmlformats.org/officeDocument/2006/relationships/hyperlink" Target="https://propellic.com/travel-linkedin/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hyperlink" Target="https://propellic.com/hotels/" TargetMode="External"/><Relationship Id="rId9" Type="http://schemas.openxmlformats.org/officeDocument/2006/relationships/hyperlink" Target="https://propellic.com/destination-marketing/facebook-ads" TargetMode="External"/><Relationship Id="rId15" Type="http://schemas.openxmlformats.org/officeDocument/2006/relationships/hyperlink" Target="https://propellic.com/luxury-travel/ppc/" TargetMode="External"/><Relationship Id="rId14" Type="http://schemas.openxmlformats.org/officeDocument/2006/relationships/hyperlink" Target="https://propellic.com/ota/seo/" TargetMode="External"/><Relationship Id="rId17" Type="http://schemas.openxmlformats.org/officeDocument/2006/relationships/hyperlink" Target="https://propellic.com/hotels/" TargetMode="External"/><Relationship Id="rId16" Type="http://schemas.openxmlformats.org/officeDocument/2006/relationships/image" Target="../media/image7.png"/><Relationship Id="rId5" Type="http://schemas.openxmlformats.org/officeDocument/2006/relationships/hyperlink" Target="https://propellic.com/hotels/seo/" TargetMode="External"/><Relationship Id="rId19" Type="http://schemas.openxmlformats.org/officeDocument/2006/relationships/hyperlink" Target="https://propellic.com/travel-ppc/" TargetMode="External"/><Relationship Id="rId6" Type="http://schemas.openxmlformats.org/officeDocument/2006/relationships/hyperlink" Target="https://propellic.com/hotels/ppc/" TargetMode="External"/><Relationship Id="rId18" Type="http://schemas.openxmlformats.org/officeDocument/2006/relationships/hyperlink" Target="https://propellic.com/travel/seo/" TargetMode="External"/><Relationship Id="rId7" Type="http://schemas.openxmlformats.org/officeDocument/2006/relationships/hyperlink" Target="https://propellic.com/destination-marketing" TargetMode="External"/><Relationship Id="rId8" Type="http://schemas.openxmlformats.org/officeDocument/2006/relationships/hyperlink" Target="https://propellic.com/dmo/seo/" TargetMode="Externa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8.png"/><Relationship Id="rId13" Type="http://schemas.openxmlformats.org/officeDocument/2006/relationships/image" Target="../media/image11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hyperlink" Target="https://propellic.com/travel/seo/" TargetMode="External"/><Relationship Id="rId5" Type="http://schemas.openxmlformats.org/officeDocument/2006/relationships/image" Target="../media/image6.png"/><Relationship Id="rId6" Type="http://schemas.openxmlformats.org/officeDocument/2006/relationships/hyperlink" Target="https://propellic.com/travel/seo/" TargetMode="External"/><Relationship Id="rId7" Type="http://schemas.openxmlformats.org/officeDocument/2006/relationships/hyperlink" Target="https://propellic.com/travel/seo/" TargetMode="External"/><Relationship Id="rId8" Type="http://schemas.openxmlformats.org/officeDocument/2006/relationships/hyperlink" Target="https://propellic.com/travel/se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1A6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Group 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4443" y="0"/>
            <a:ext cx="852924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175" y="1978348"/>
            <a:ext cx="5898600" cy="1361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Ongoing Site Structure Recommendations</a:t>
            </a:r>
            <a:endParaRPr b="1" sz="3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6" name="Google Shape;56;p13" title="63583ec7c37213a801727969_propellic-logo-white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550" y="430098"/>
            <a:ext cx="1396975" cy="34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Group 17.png"/>
          <p:cNvPicPr preferRelativeResize="0"/>
          <p:nvPr/>
        </p:nvPicPr>
        <p:blipFill rotWithShape="1">
          <a:blip r:embed="rId3">
            <a:alphaModFix/>
          </a:blip>
          <a:srcRect b="3248" l="0" r="1088" t="2873"/>
          <a:stretch/>
        </p:blipFill>
        <p:spPr>
          <a:xfrm>
            <a:off x="2521452" y="0"/>
            <a:ext cx="6622546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800" y="831413"/>
            <a:ext cx="8070300" cy="3575100"/>
          </a:xfrm>
          <a:prstGeom prst="roundRect">
            <a:avLst>
              <a:gd fmla="val 5133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9525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Group 16.png"/>
          <p:cNvPicPr preferRelativeResize="0"/>
          <p:nvPr/>
        </p:nvPicPr>
        <p:blipFill rotWithShape="1">
          <a:blip r:embed="rId3">
            <a:alphaModFix/>
          </a:blip>
          <a:srcRect b="5247" l="0" r="32533" t="5825"/>
          <a:stretch/>
        </p:blipFill>
        <p:spPr>
          <a:xfrm>
            <a:off x="3945350" y="0"/>
            <a:ext cx="47176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title"/>
          </p:nvPr>
        </p:nvSpPr>
        <p:spPr>
          <a:xfrm>
            <a:off x="242425" y="132075"/>
            <a:ext cx="6236400" cy="9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URL Recommendations</a:t>
            </a:r>
            <a:endParaRPr b="1" sz="240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69" name="Google Shape;69;p15"/>
          <p:cNvGraphicFramePr/>
          <p:nvPr/>
        </p:nvGraphicFramePr>
        <p:xfrm>
          <a:off x="318625" y="1106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{CAFCD875-137A-4144-84B2-6214862CD443}</a:tableStyleId>
              </a:tblPr>
              <a:tblGrid>
                <a:gridCol w="1055175"/>
                <a:gridCol w="3514650"/>
              </a:tblGrid>
              <a:tr h="47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Page</a:t>
                      </a:r>
                      <a:endParaRPr b="1" sz="1200">
                        <a:solidFill>
                          <a:schemeClr val="lt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1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URL</a:t>
                      </a:r>
                      <a:endParaRPr b="1" sz="1200">
                        <a:solidFill>
                          <a:schemeClr val="lt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1A6B"/>
                    </a:solidFill>
                  </a:tcPr>
                </a:tc>
              </a:tr>
              <a:tr h="706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Hotels</a:t>
                      </a:r>
                      <a:endParaRPr b="1"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4000" marB="64000" marR="64000" marL="155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4"/>
                        </a:rPr>
                        <a:t>https://propellic.com/hotel-marketing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5"/>
                        </a:rPr>
                        <a:t>https://propellic.com/hotel-marketing/seo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6"/>
                        </a:rPr>
                        <a:t>https://propellic.com/hotel-marketing/ppc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286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71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DMOs</a:t>
                      </a:r>
                      <a:endParaRPr b="1"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4000" marB="64000" marR="64000" marL="155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7"/>
                        </a:rPr>
                        <a:t>https://propellic.com/destination-marketing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8"/>
                        </a:rPr>
                        <a:t>https://propellic.com/destination-marketing/seo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9"/>
                        </a:rPr>
                        <a:t>https://propellic.com/destination-marketing/facebook-ads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286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8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OTAs</a:t>
                      </a:r>
                      <a:endParaRPr b="1"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4000" marB="64000" marR="64000" marL="155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10"/>
                        </a:rPr>
                        <a:t>https://propellic.com/ota/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11"/>
                        </a:rPr>
                        <a:t>https://propellic.com/ota/seo/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12"/>
                        </a:rPr>
                        <a:t>https://propellic.com/ota/cro/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286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08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Luxury</a:t>
                      </a:r>
                      <a:endParaRPr b="1"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4000" marB="64000" marR="64000" marL="155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sng">
                          <a:solidFill>
                            <a:schemeClr val="accent5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1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https://propellic.com/luxury-travel/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sng">
                          <a:solidFill>
                            <a:schemeClr val="accent5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1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https://propellic.com/luxury-travel/seo/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15"/>
                        </a:rPr>
                        <a:t>https://propellic.com/luxury-travel/ppc/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 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286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70" name="Google Shape;70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432975" y="250200"/>
            <a:ext cx="465000" cy="39381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1" name="Google Shape;71;p15"/>
          <p:cNvGraphicFramePr/>
          <p:nvPr/>
        </p:nvGraphicFramePr>
        <p:xfrm>
          <a:off x="5096506" y="1092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{CAFCD875-137A-4144-84B2-6214862CD443}</a:tableStyleId>
              </a:tblPr>
              <a:tblGrid>
                <a:gridCol w="854950"/>
                <a:gridCol w="2850650"/>
              </a:tblGrid>
              <a:tr h="47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Page</a:t>
                      </a:r>
                      <a:endParaRPr b="1" sz="1200">
                        <a:solidFill>
                          <a:schemeClr val="lt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1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URL</a:t>
                      </a:r>
                      <a:endParaRPr b="1" sz="1200">
                        <a:solidFill>
                          <a:schemeClr val="lt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1A6B"/>
                    </a:solidFill>
                  </a:tcPr>
                </a:tc>
              </a:tr>
              <a:tr h="70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SEO</a:t>
                      </a:r>
                      <a:endParaRPr b="1"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4000" marB="64000" marR="64000" marL="155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17"/>
                        </a:rPr>
                        <a:t>https://propellic.com/travel-seo/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or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18"/>
                        </a:rPr>
                        <a:t>https://propellic.com/travel/seo/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286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74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PPC</a:t>
                      </a:r>
                      <a:endParaRPr b="1"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4000" marB="64000" marR="64000" marL="155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19"/>
                        </a:rPr>
                        <a:t>https://propellic.com/travel-ppc/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or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accent5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2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https://propellic.com/travel/ppc/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 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286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8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Facebook</a:t>
                      </a:r>
                      <a:endParaRPr b="1"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4000" marB="64000" marR="64000" marL="155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21"/>
                        </a:rPr>
                        <a:t>https://propellic.com/travel-facebook/</a:t>
                      </a: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or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accent5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2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https://propellic.com/travel/facebook/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286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11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LinkedIn</a:t>
                      </a:r>
                      <a:endParaRPr b="1"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4000" marB="64000" marR="64000" marL="155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23"/>
                        </a:rPr>
                        <a:t>https://propellic.com/travel-linkedin/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or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accent5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2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https://propellic.com/travel/linkedin/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286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Group 16.png"/>
          <p:cNvPicPr preferRelativeResize="0"/>
          <p:nvPr/>
        </p:nvPicPr>
        <p:blipFill rotWithShape="1">
          <a:blip r:embed="rId3">
            <a:alphaModFix/>
          </a:blip>
          <a:srcRect b="6029" l="0" r="41806" t="5826"/>
          <a:stretch/>
        </p:blipFill>
        <p:spPr>
          <a:xfrm rot="-5400000">
            <a:off x="4560288" y="-507321"/>
            <a:ext cx="4069125" cy="509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2975" y="250200"/>
            <a:ext cx="465000" cy="393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148" y="1331425"/>
            <a:ext cx="5794800" cy="2954100"/>
          </a:xfrm>
          <a:prstGeom prst="roundRect">
            <a:avLst>
              <a:gd fmla="val 4358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95250">
              <a:srgbClr val="000000">
                <a:alpha val="10000"/>
              </a:srgbClr>
            </a:outerShdw>
          </a:effectLst>
        </p:spPr>
      </p:pic>
      <p:graphicFrame>
        <p:nvGraphicFramePr>
          <p:cNvPr id="79" name="Google Shape;79;p16"/>
          <p:cNvGraphicFramePr/>
          <p:nvPr/>
        </p:nvGraphicFramePr>
        <p:xfrm>
          <a:off x="6241198" y="1331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{CAFCD875-137A-4144-84B2-6214862CD443}</a:tableStyleId>
              </a:tblPr>
              <a:tblGrid>
                <a:gridCol w="2600200"/>
              </a:tblGrid>
              <a:tr h="377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URL</a:t>
                      </a:r>
                      <a:endParaRPr b="1" sz="1200">
                        <a:solidFill>
                          <a:schemeClr val="lt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1A6B"/>
                    </a:solidFill>
                  </a:tcPr>
                </a:tc>
              </a:tr>
              <a:tr h="600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SEO - </a:t>
                      </a:r>
                      <a:r>
                        <a:rPr lang="en" sz="1000" u="sng">
                          <a:solidFill>
                            <a:schemeClr val="hlink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6"/>
                        </a:rPr>
                        <a:t>https://propellic.com/travel/seo/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5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PPC - </a:t>
                      </a:r>
                      <a:r>
                        <a:rPr lang="en" sz="1000" u="sng">
                          <a:solidFill>
                            <a:schemeClr val="accent5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https://propellic.com/travel/ppc/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 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63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Facebook - </a:t>
                      </a:r>
                      <a:r>
                        <a:rPr lang="en" sz="1000" u="sng">
                          <a:solidFill>
                            <a:schemeClr val="accent5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https://propellic.com/travel/facebook/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87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LinkedIn - </a:t>
                      </a:r>
                      <a:r>
                        <a:rPr lang="en" sz="1000" u="sng">
                          <a:solidFill>
                            <a:schemeClr val="accent5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https://propellic.com/travel/linkedin/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</a:t>
                      </a:r>
                      <a:endParaRPr sz="10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0" name="Google Shape;80;p16"/>
          <p:cNvSpPr txBox="1"/>
          <p:nvPr>
            <p:ph type="title"/>
          </p:nvPr>
        </p:nvSpPr>
        <p:spPr>
          <a:xfrm>
            <a:off x="242425" y="820669"/>
            <a:ext cx="36906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https://propellic.com/travel/</a:t>
            </a:r>
            <a:endParaRPr b="1" sz="14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10724" y="3045217"/>
            <a:ext cx="556765" cy="403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281607" y="3104818"/>
            <a:ext cx="438787" cy="284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81008" y="3061188"/>
            <a:ext cx="943174" cy="371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37595" y="3030132"/>
            <a:ext cx="583399" cy="43382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>
            <p:ph type="title"/>
          </p:nvPr>
        </p:nvSpPr>
        <p:spPr>
          <a:xfrm>
            <a:off x="242425" y="132075"/>
            <a:ext cx="6236400" cy="9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Travel Marketing &amp; Advertising</a:t>
            </a:r>
            <a:endParaRPr b="1" sz="240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