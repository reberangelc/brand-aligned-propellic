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Roboto Slab Light"/>
      <p:regular r:id="rId23"/>
      <p:bold r:id="rId24"/>
    </p:embeddedFont>
    <p:embeddedFont>
      <p:font typeface="Roboto Slab"/>
      <p:regular r:id="rId25"/>
      <p:bold r:id="rId26"/>
    </p:embeddedFont>
    <p:embeddedFont>
      <p:font typeface="Roboto"/>
      <p:regular r:id="rId27"/>
      <p:bold r:id="rId28"/>
      <p:italic r:id="rId29"/>
      <p:boldItalic r:id="rId30"/>
    </p:embeddedFont>
    <p:embeddedFont>
      <p:font typeface="Proxima Nova"/>
      <p:regular r:id="rId31"/>
      <p:bold r:id="rId32"/>
      <p:italic r:id="rId33"/>
      <p:boldItalic r:id="rId34"/>
    </p:embeddedFont>
    <p:embeddedFont>
      <p:font typeface="Poppins"/>
      <p:regular r:id="rId35"/>
      <p:bold r:id="rId36"/>
      <p:italic r:id="rId37"/>
      <p:boldItalic r:id="rId38"/>
    </p:embeddedFont>
    <p:embeddedFont>
      <p:font typeface="Varela Round"/>
      <p:regular r:id="rId39"/>
    </p:embeddedFont>
    <p:embeddedFont>
      <p:font typeface="Proxima Nova Extrabold"/>
      <p:bold r:id="rId40"/>
    </p:embeddedFont>
    <p:embeddedFont>
      <p:font typeface="Roboto Ligh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2133FC-8D15-4E15-8F72-6987E640E1F1}">
  <a:tblStyle styleId="{5E2133FC-8D15-4E15-8F72-6987E640E1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D2F4486-5539-4740-A8DE-F1E3A49F638C}"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roximaNovaExtrabold-bold.fntdata"/><Relationship Id="rId20" Type="http://schemas.openxmlformats.org/officeDocument/2006/relationships/slide" Target="slides/slide13.xml"/><Relationship Id="rId42" Type="http://schemas.openxmlformats.org/officeDocument/2006/relationships/font" Target="fonts/RobotoLight-bold.fntdata"/><Relationship Id="rId41" Type="http://schemas.openxmlformats.org/officeDocument/2006/relationships/font" Target="fonts/RobotoLight-regular.fntdata"/><Relationship Id="rId22" Type="http://schemas.openxmlformats.org/officeDocument/2006/relationships/slide" Target="slides/slide15.xml"/><Relationship Id="rId44" Type="http://schemas.openxmlformats.org/officeDocument/2006/relationships/font" Target="fonts/RobotoLight-boldItalic.fntdata"/><Relationship Id="rId21" Type="http://schemas.openxmlformats.org/officeDocument/2006/relationships/slide" Target="slides/slide14.xml"/><Relationship Id="rId43" Type="http://schemas.openxmlformats.org/officeDocument/2006/relationships/font" Target="fonts/RobotoLight-italic.fntdata"/><Relationship Id="rId24" Type="http://schemas.openxmlformats.org/officeDocument/2006/relationships/font" Target="fonts/RobotoSlabLight-bold.fntdata"/><Relationship Id="rId23" Type="http://schemas.openxmlformats.org/officeDocument/2006/relationships/font" Target="fonts/RobotoSlabLigh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RobotoSlab-bold.fntdata"/><Relationship Id="rId25" Type="http://schemas.openxmlformats.org/officeDocument/2006/relationships/font" Target="fonts/RobotoSlab-regular.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Roboto-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roximaNova-regular.fntdata"/><Relationship Id="rId30" Type="http://schemas.openxmlformats.org/officeDocument/2006/relationships/font" Target="fonts/Roboto-boldItalic.fntdata"/><Relationship Id="rId11" Type="http://schemas.openxmlformats.org/officeDocument/2006/relationships/slide" Target="slides/slide4.xml"/><Relationship Id="rId33" Type="http://schemas.openxmlformats.org/officeDocument/2006/relationships/font" Target="fonts/ProximaNova-italic.fntdata"/><Relationship Id="rId10" Type="http://schemas.openxmlformats.org/officeDocument/2006/relationships/slide" Target="slides/slide3.xml"/><Relationship Id="rId32" Type="http://schemas.openxmlformats.org/officeDocument/2006/relationships/font" Target="fonts/ProximaNova-bold.fntdata"/><Relationship Id="rId13" Type="http://schemas.openxmlformats.org/officeDocument/2006/relationships/slide" Target="slides/slide6.xml"/><Relationship Id="rId35" Type="http://schemas.openxmlformats.org/officeDocument/2006/relationships/font" Target="fonts/Poppins-regular.fntdata"/><Relationship Id="rId12" Type="http://schemas.openxmlformats.org/officeDocument/2006/relationships/slide" Target="slides/slide5.xml"/><Relationship Id="rId34" Type="http://schemas.openxmlformats.org/officeDocument/2006/relationships/font" Target="fonts/ProximaNova-boldItalic.fntdata"/><Relationship Id="rId15" Type="http://schemas.openxmlformats.org/officeDocument/2006/relationships/slide" Target="slides/slide8.xml"/><Relationship Id="rId37" Type="http://schemas.openxmlformats.org/officeDocument/2006/relationships/font" Target="fonts/Poppins-italic.fntdata"/><Relationship Id="rId14" Type="http://schemas.openxmlformats.org/officeDocument/2006/relationships/slide" Target="slides/slide7.xml"/><Relationship Id="rId36" Type="http://schemas.openxmlformats.org/officeDocument/2006/relationships/font" Target="fonts/Poppins-bold.fntdata"/><Relationship Id="rId17" Type="http://schemas.openxmlformats.org/officeDocument/2006/relationships/slide" Target="slides/slide10.xml"/><Relationship Id="rId39" Type="http://schemas.openxmlformats.org/officeDocument/2006/relationships/font" Target="fonts/VarelaRound-regular.fntdata"/><Relationship Id="rId16" Type="http://schemas.openxmlformats.org/officeDocument/2006/relationships/slide" Target="slides/slide9.xml"/><Relationship Id="rId38" Type="http://schemas.openxmlformats.org/officeDocument/2006/relationships/font" Target="fonts/Poppins-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xLy7Mtc2lnKykzUKfIG6-6c5MaC2EtfkDH_kfk5GecE/edit?gid=1975750220#gid=1975750220"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307378891#gid=1307378891"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xLy7Mtc2lnKykzUKfIG6-6c5MaC2EtfkDH_kfk5GecE/edit?gid=92554350#gid=92554350"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065132173#gid=1065132173"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428278599#gid=1428278599"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41615818f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41615818f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41615818f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41615818f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a:t>https://docs.google.com/spreadsheets/d/1xLy7Mtc2lnKykzUKfIG6-6c5MaC2EtfkDH_kfk5GecE/edit?gid=1618588231#gid=1618588231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4339c09ea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4339c09ea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https://docs.google.com/spreadsheets/d/1xLy7Mtc2lnKykzUKfIG6-6c5MaC2EtfkDH_kfk5GecE/edit?gid=1975750220#gid=1975750220</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4339c09ea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4339c09ea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https://docs.google.com/spreadsheets/d/1CNChHS8-gO7lqbSYQlH-LxSfJwzyimmYhFJGy6CzZ-g/edit?gid=1307378891#gid=1307378891</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41615818f2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41615818f2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https://docs.google.com/spreadsheets/d/1xLy7Mtc2lnKykzUKfIG6-6c5MaC2EtfkDH_kfk5GecE/edit?gid=92554350#gid=92554350</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4339c09ea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4339c09ea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Revenue by Category Bar Chart: </a:t>
            </a:r>
            <a:r>
              <a:rPr lang="en" u="sng">
                <a:solidFill>
                  <a:schemeClr val="hlink"/>
                </a:solidFill>
                <a:hlinkClick r:id="rId2"/>
              </a:rPr>
              <a:t>https://docs.google.com/spreadsheets/d/1CNChHS8-gO7lqbSYQlH-LxSfJwzyimmYhFJGy6CzZ-g/edit?gid=1065132173#gid=1065132173</a:t>
            </a:r>
            <a:r>
              <a:rPr lang="en"/>
              <a:t> </a:t>
            </a:r>
            <a:endParaRPr/>
          </a:p>
          <a:p>
            <a:pPr indent="0" lvl="0" marL="0" rtl="0" algn="l">
              <a:spcBef>
                <a:spcPts val="0"/>
              </a:spcBef>
              <a:spcAft>
                <a:spcPts val="0"/>
              </a:spcAft>
              <a:buNone/>
            </a:pPr>
            <a:r>
              <a:rPr lang="en"/>
              <a:t>Link to Top 5 Pages by Revenue Table: https://docs.google.com/spreadsheets/d/1CNChHS8-gO7lqbSYQlH-LxSfJwzyimmYhFJGy6CzZ-g/edit?gid=1611787336#gid=1611787336</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477ebbe8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477ebbe8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 of Pages Driving Revenue by Category Bar Chart: </a:t>
            </a:r>
            <a:r>
              <a:rPr lang="en" u="sng">
                <a:solidFill>
                  <a:schemeClr val="hlink"/>
                </a:solidFill>
                <a:hlinkClick r:id="rId2"/>
              </a:rPr>
              <a:t>https://docs.google.com/spreadsheets/d/1CNChHS8-gO7lqbSYQlH-LxSfJwzyimmYhFJGy6CzZ-g/edit?gid=1428278599#gid=1428278599</a:t>
            </a:r>
            <a:r>
              <a:rPr lang="en"/>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360ae271b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360ae271b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360ae271be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360ae271b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8" name="Shape 168"/>
        <p:cNvGrpSpPr/>
        <p:nvPr/>
      </p:nvGrpSpPr>
      <p:grpSpPr>
        <a:xfrm>
          <a:off x="0" y="0"/>
          <a:ext cx="0" cy="0"/>
          <a:chOff x="0" y="0"/>
          <a:chExt cx="0" cy="0"/>
        </a:xfrm>
      </p:grpSpPr>
      <p:sp>
        <p:nvSpPr>
          <p:cNvPr id="169" name="Google Shape;169;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0" name="Google Shape;170;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1" name="Google Shape;171;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4" name="Google Shape;174;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5" name="Shape 175"/>
        <p:cNvGrpSpPr/>
        <p:nvPr/>
      </p:nvGrpSpPr>
      <p:grpSpPr>
        <a:xfrm>
          <a:off x="0" y="0"/>
          <a:ext cx="0" cy="0"/>
          <a:chOff x="0" y="0"/>
          <a:chExt cx="0" cy="0"/>
        </a:xfrm>
      </p:grpSpPr>
      <p:sp>
        <p:nvSpPr>
          <p:cNvPr id="176" name="Google Shape;17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 name="Google Shape;177;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78" name="Google Shape;178;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9" name="Shape 179"/>
        <p:cNvGrpSpPr/>
        <p:nvPr/>
      </p:nvGrpSpPr>
      <p:grpSpPr>
        <a:xfrm>
          <a:off x="0" y="0"/>
          <a:ext cx="0" cy="0"/>
          <a:chOff x="0" y="0"/>
          <a:chExt cx="0" cy="0"/>
        </a:xfrm>
      </p:grpSpPr>
      <p:sp>
        <p:nvSpPr>
          <p:cNvPr id="180" name="Google Shape;18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1" name="Google Shape;181;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2" name="Google Shape;182;p3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3" name="Google Shape;18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6" name="Google Shape;18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7" name="Shape 187"/>
        <p:cNvGrpSpPr/>
        <p:nvPr/>
      </p:nvGrpSpPr>
      <p:grpSpPr>
        <a:xfrm>
          <a:off x="0" y="0"/>
          <a:ext cx="0" cy="0"/>
          <a:chOff x="0" y="0"/>
          <a:chExt cx="0" cy="0"/>
        </a:xfrm>
      </p:grpSpPr>
      <p:sp>
        <p:nvSpPr>
          <p:cNvPr id="188" name="Google Shape;188;p4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89" name="Google Shape;189;p4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90" name="Google Shape;19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1" name="Shape 191"/>
        <p:cNvGrpSpPr/>
        <p:nvPr/>
      </p:nvGrpSpPr>
      <p:grpSpPr>
        <a:xfrm>
          <a:off x="0" y="0"/>
          <a:ext cx="0" cy="0"/>
          <a:chOff x="0" y="0"/>
          <a:chExt cx="0" cy="0"/>
        </a:xfrm>
      </p:grpSpPr>
      <p:sp>
        <p:nvSpPr>
          <p:cNvPr id="192" name="Google Shape;192;p4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3" name="Google Shape;19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4" name="Shape 194"/>
        <p:cNvGrpSpPr/>
        <p:nvPr/>
      </p:nvGrpSpPr>
      <p:grpSpPr>
        <a:xfrm>
          <a:off x="0" y="0"/>
          <a:ext cx="0" cy="0"/>
          <a:chOff x="0" y="0"/>
          <a:chExt cx="0" cy="0"/>
        </a:xfrm>
      </p:grpSpPr>
      <p:sp>
        <p:nvSpPr>
          <p:cNvPr id="195" name="Google Shape;195;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7" name="Google Shape;197;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8" name="Google Shape;198;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9" name="Google Shape;199;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0" name="Shape 200"/>
        <p:cNvGrpSpPr/>
        <p:nvPr/>
      </p:nvGrpSpPr>
      <p:grpSpPr>
        <a:xfrm>
          <a:off x="0" y="0"/>
          <a:ext cx="0" cy="0"/>
          <a:chOff x="0" y="0"/>
          <a:chExt cx="0" cy="0"/>
        </a:xfrm>
      </p:grpSpPr>
      <p:sp>
        <p:nvSpPr>
          <p:cNvPr id="201" name="Google Shape;20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202" name="Google Shape;202;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3" name="Shape 203"/>
        <p:cNvGrpSpPr/>
        <p:nvPr/>
      </p:nvGrpSpPr>
      <p:grpSpPr>
        <a:xfrm>
          <a:off x="0" y="0"/>
          <a:ext cx="0" cy="0"/>
          <a:chOff x="0" y="0"/>
          <a:chExt cx="0" cy="0"/>
        </a:xfrm>
      </p:grpSpPr>
      <p:sp>
        <p:nvSpPr>
          <p:cNvPr id="204" name="Google Shape;204;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05" name="Google Shape;205;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206" name="Google Shape;206;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7" name="Shape 207"/>
        <p:cNvGrpSpPr/>
        <p:nvPr/>
      </p:nvGrpSpPr>
      <p:grpSpPr>
        <a:xfrm>
          <a:off x="0" y="0"/>
          <a:ext cx="0" cy="0"/>
          <a:chOff x="0" y="0"/>
          <a:chExt cx="0" cy="0"/>
        </a:xfrm>
      </p:grpSpPr>
      <p:sp>
        <p:nvSpPr>
          <p:cNvPr id="208" name="Google Shape;208;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209" name="Shape 209"/>
        <p:cNvGrpSpPr/>
        <p:nvPr/>
      </p:nvGrpSpPr>
      <p:grpSpPr>
        <a:xfrm>
          <a:off x="0" y="0"/>
          <a:ext cx="0" cy="0"/>
          <a:chOff x="0" y="0"/>
          <a:chExt cx="0" cy="0"/>
        </a:xfrm>
      </p:grpSpPr>
      <p:sp>
        <p:nvSpPr>
          <p:cNvPr id="210" name="Google Shape;210;p47"/>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7"/>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7"/>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7"/>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7"/>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7"/>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7"/>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7"/>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7"/>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7"/>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7"/>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7"/>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7"/>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7"/>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7"/>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7"/>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7"/>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7"/>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7"/>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7"/>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7"/>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7"/>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2" name="Google Shape;232;p47"/>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rgbClr val="434343"/>
              </a:buClr>
              <a:buSzPts val="4800"/>
              <a:buNone/>
              <a:defRPr sz="4800">
                <a:solidFill>
                  <a:srgbClr val="434343"/>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233" name="Shape 233"/>
        <p:cNvGrpSpPr/>
        <p:nvPr/>
      </p:nvGrpSpPr>
      <p:grpSpPr>
        <a:xfrm>
          <a:off x="0" y="0"/>
          <a:ext cx="0" cy="0"/>
          <a:chOff x="0" y="0"/>
          <a:chExt cx="0" cy="0"/>
        </a:xfrm>
      </p:grpSpPr>
      <p:sp>
        <p:nvSpPr>
          <p:cNvPr id="234" name="Google Shape;234;p48"/>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5" name="Google Shape;235;p48"/>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8"/>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8"/>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8"/>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8"/>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8"/>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8"/>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8"/>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8"/>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8"/>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8"/>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8"/>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8"/>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8"/>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8"/>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8"/>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8"/>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8"/>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8"/>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8"/>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8"/>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8"/>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7" name="Google Shape;257;p48"/>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800"/>
              <a:buNone/>
              <a:defRPr sz="1800">
                <a:solidFill>
                  <a:srgbClr val="434343"/>
                </a:solidFill>
              </a:defRPr>
            </a:lvl1pPr>
            <a:lvl2pPr lvl="1" algn="ctr">
              <a:spcBef>
                <a:spcPts val="1600"/>
              </a:spcBef>
              <a:spcAft>
                <a:spcPts val="0"/>
              </a:spcAft>
              <a:buClr>
                <a:srgbClr val="434343"/>
              </a:buClr>
              <a:buSzPts val="1800"/>
              <a:buNone/>
              <a:defRPr sz="1800">
                <a:solidFill>
                  <a:srgbClr val="434343"/>
                </a:solidFill>
              </a:defRPr>
            </a:lvl2pPr>
            <a:lvl3pPr lvl="2" algn="ctr">
              <a:spcBef>
                <a:spcPts val="1600"/>
              </a:spcBef>
              <a:spcAft>
                <a:spcPts val="0"/>
              </a:spcAft>
              <a:buClr>
                <a:srgbClr val="434343"/>
              </a:buClr>
              <a:buSzPts val="1800"/>
              <a:buNone/>
              <a:defRPr sz="1800">
                <a:solidFill>
                  <a:srgbClr val="434343"/>
                </a:solidFill>
              </a:defRPr>
            </a:lvl3pPr>
            <a:lvl4pPr lvl="3" algn="ctr">
              <a:spcBef>
                <a:spcPts val="1600"/>
              </a:spcBef>
              <a:spcAft>
                <a:spcPts val="0"/>
              </a:spcAft>
              <a:buClr>
                <a:srgbClr val="434343"/>
              </a:buClr>
              <a:buSzPts val="1400"/>
              <a:buNone/>
              <a:defRPr>
                <a:solidFill>
                  <a:srgbClr val="434343"/>
                </a:solidFill>
              </a:defRPr>
            </a:lvl4pPr>
            <a:lvl5pPr lvl="4" algn="ctr">
              <a:spcBef>
                <a:spcPts val="1600"/>
              </a:spcBef>
              <a:spcAft>
                <a:spcPts val="0"/>
              </a:spcAft>
              <a:buClr>
                <a:srgbClr val="434343"/>
              </a:buClr>
              <a:buSzPts val="1400"/>
              <a:buNone/>
              <a:defRPr>
                <a:solidFill>
                  <a:srgbClr val="434343"/>
                </a:solidFill>
              </a:defRPr>
            </a:lvl5pPr>
            <a:lvl6pPr lvl="5" algn="ctr">
              <a:spcBef>
                <a:spcPts val="1600"/>
              </a:spcBef>
              <a:spcAft>
                <a:spcPts val="0"/>
              </a:spcAft>
              <a:buClr>
                <a:srgbClr val="434343"/>
              </a:buClr>
              <a:buSzPts val="1400"/>
              <a:buNone/>
              <a:defRPr>
                <a:solidFill>
                  <a:srgbClr val="434343"/>
                </a:solidFill>
              </a:defRPr>
            </a:lvl6pPr>
            <a:lvl7pPr lvl="6" algn="ctr">
              <a:spcBef>
                <a:spcPts val="1600"/>
              </a:spcBef>
              <a:spcAft>
                <a:spcPts val="0"/>
              </a:spcAft>
              <a:buClr>
                <a:srgbClr val="434343"/>
              </a:buClr>
              <a:buSzPts val="1400"/>
              <a:buNone/>
              <a:defRPr>
                <a:solidFill>
                  <a:srgbClr val="434343"/>
                </a:solidFill>
              </a:defRPr>
            </a:lvl7pPr>
            <a:lvl8pPr lvl="7" algn="ctr">
              <a:spcBef>
                <a:spcPts val="1600"/>
              </a:spcBef>
              <a:spcAft>
                <a:spcPts val="0"/>
              </a:spcAft>
              <a:buClr>
                <a:srgbClr val="434343"/>
              </a:buClr>
              <a:buSzPts val="1400"/>
              <a:buNone/>
              <a:defRPr>
                <a:solidFill>
                  <a:srgbClr val="434343"/>
                </a:solidFill>
              </a:defRPr>
            </a:lvl8pPr>
            <a:lvl9pPr lvl="8" algn="ctr">
              <a:spcBef>
                <a:spcPts val="1600"/>
              </a:spcBef>
              <a:spcAft>
                <a:spcPts val="1600"/>
              </a:spcAft>
              <a:buClr>
                <a:srgbClr val="434343"/>
              </a:buClr>
              <a:buSzPts val="1400"/>
              <a:buNone/>
              <a:defRPr>
                <a:solidFill>
                  <a:srgbClr val="434343"/>
                </a:solidFill>
              </a:defRPr>
            </a:lvl9pPr>
          </a:lstStyle>
          <a:p/>
        </p:txBody>
      </p:sp>
      <p:sp>
        <p:nvSpPr>
          <p:cNvPr id="258" name="Google Shape;258;p48"/>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60" name="Shape 260"/>
        <p:cNvGrpSpPr/>
        <p:nvPr/>
      </p:nvGrpSpPr>
      <p:grpSpPr>
        <a:xfrm>
          <a:off x="0" y="0"/>
          <a:ext cx="0" cy="0"/>
          <a:chOff x="0" y="0"/>
          <a:chExt cx="0" cy="0"/>
        </a:xfrm>
      </p:grpSpPr>
      <p:sp>
        <p:nvSpPr>
          <p:cNvPr id="261" name="Google Shape;261;p49"/>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algn="ctr">
              <a:spcBef>
                <a:spcPts val="0"/>
              </a:spcBef>
              <a:spcAft>
                <a:spcPts val="0"/>
              </a:spcAft>
              <a:buSzPts val="2400"/>
              <a:buChar char="●"/>
              <a:defRPr i="1" sz="2400"/>
            </a:lvl1pPr>
            <a:lvl2pPr indent="-317500" lvl="1" marL="914400" algn="ctr">
              <a:spcBef>
                <a:spcPts val="1600"/>
              </a:spcBef>
              <a:spcAft>
                <a:spcPts val="0"/>
              </a:spcAft>
              <a:buSzPts val="1400"/>
              <a:buChar char="○"/>
              <a:defRPr i="1"/>
            </a:lvl2pPr>
            <a:lvl3pPr indent="-317500" lvl="2" marL="1371600" algn="ctr">
              <a:spcBef>
                <a:spcPts val="1600"/>
              </a:spcBef>
              <a:spcAft>
                <a:spcPts val="0"/>
              </a:spcAft>
              <a:buSzPts val="1400"/>
              <a:buChar char="■"/>
              <a:defRPr i="1"/>
            </a:lvl3pPr>
            <a:lvl4pPr indent="-381000" lvl="3" marL="1828800" algn="ctr">
              <a:spcBef>
                <a:spcPts val="1600"/>
              </a:spcBef>
              <a:spcAft>
                <a:spcPts val="0"/>
              </a:spcAft>
              <a:buSzPts val="2400"/>
              <a:buChar char="●"/>
              <a:defRPr i="1" sz="2400"/>
            </a:lvl4pPr>
            <a:lvl5pPr indent="-381000" lvl="4" marL="2286000" algn="ctr">
              <a:spcBef>
                <a:spcPts val="1600"/>
              </a:spcBef>
              <a:spcAft>
                <a:spcPts val="0"/>
              </a:spcAft>
              <a:buSzPts val="2400"/>
              <a:buChar char="○"/>
              <a:defRPr i="1" sz="2400"/>
            </a:lvl5pPr>
            <a:lvl6pPr indent="-381000" lvl="5" marL="2743200" algn="ctr">
              <a:spcBef>
                <a:spcPts val="1600"/>
              </a:spcBef>
              <a:spcAft>
                <a:spcPts val="0"/>
              </a:spcAft>
              <a:buSzPts val="2400"/>
              <a:buChar char="■"/>
              <a:defRPr i="1" sz="2400"/>
            </a:lvl6pPr>
            <a:lvl7pPr indent="-381000" lvl="6" marL="3200400" algn="ctr">
              <a:spcBef>
                <a:spcPts val="1600"/>
              </a:spcBef>
              <a:spcAft>
                <a:spcPts val="0"/>
              </a:spcAft>
              <a:buSzPts val="2400"/>
              <a:buChar char="●"/>
              <a:defRPr i="1" sz="2400"/>
            </a:lvl7pPr>
            <a:lvl8pPr indent="-381000" lvl="7" marL="3657600" algn="ctr">
              <a:spcBef>
                <a:spcPts val="1600"/>
              </a:spcBef>
              <a:spcAft>
                <a:spcPts val="0"/>
              </a:spcAft>
              <a:buSzPts val="2400"/>
              <a:buChar char="○"/>
              <a:defRPr i="1" sz="2400"/>
            </a:lvl8pPr>
            <a:lvl9pPr indent="-381000" lvl="8" marL="4114800" algn="ctr">
              <a:spcBef>
                <a:spcPts val="1600"/>
              </a:spcBef>
              <a:spcAft>
                <a:spcPts val="1600"/>
              </a:spcAft>
              <a:buSzPts val="2400"/>
              <a:buChar char="■"/>
              <a:defRPr i="1" sz="2400"/>
            </a:lvl9pPr>
          </a:lstStyle>
          <a:p/>
        </p:txBody>
      </p:sp>
      <p:sp>
        <p:nvSpPr>
          <p:cNvPr id="262" name="Google Shape;262;p49"/>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63" name="Google Shape;263;p49"/>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9"/>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9"/>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9"/>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9"/>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9"/>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9"/>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9"/>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9"/>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9"/>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9"/>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9"/>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9"/>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9"/>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9"/>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9"/>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9"/>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9"/>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9"/>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9"/>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85" name="Shape 285"/>
        <p:cNvGrpSpPr/>
        <p:nvPr/>
      </p:nvGrpSpPr>
      <p:grpSpPr>
        <a:xfrm>
          <a:off x="0" y="0"/>
          <a:ext cx="0" cy="0"/>
          <a:chOff x="0" y="0"/>
          <a:chExt cx="0" cy="0"/>
        </a:xfrm>
      </p:grpSpPr>
      <p:sp>
        <p:nvSpPr>
          <p:cNvPr id="286" name="Google Shape;286;p50"/>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7" name="Google Shape;287;p50"/>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0"/>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0"/>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0"/>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0"/>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0"/>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0"/>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0"/>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0"/>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0"/>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0"/>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0"/>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0"/>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0"/>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1" name="Google Shape;301;p50"/>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2" name="Google Shape;302;p50"/>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3" name="Google Shape;303;p50"/>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4" name="Google Shape;304;p50"/>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305" name="Shape 305"/>
        <p:cNvGrpSpPr/>
        <p:nvPr/>
      </p:nvGrpSpPr>
      <p:grpSpPr>
        <a:xfrm>
          <a:off x="0" y="0"/>
          <a:ext cx="0" cy="0"/>
          <a:chOff x="0" y="0"/>
          <a:chExt cx="0" cy="0"/>
        </a:xfrm>
      </p:grpSpPr>
      <p:sp>
        <p:nvSpPr>
          <p:cNvPr id="306" name="Google Shape;306;p51"/>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7" name="Google Shape;307;p51"/>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2" Type="http://schemas.openxmlformats.org/officeDocument/2006/relationships/theme" Target="../theme/theme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theme" Target="../theme/theme1.xml"/><Relationship Id="rId16" Type="http://schemas.openxmlformats.org/officeDocument/2006/relationships/slideLayout" Target="../slideLayouts/slideLayout48.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64" name="Shape 164"/>
        <p:cNvGrpSpPr/>
        <p:nvPr/>
      </p:nvGrpSpPr>
      <p:grpSpPr>
        <a:xfrm>
          <a:off x="0" y="0"/>
          <a:ext cx="0" cy="0"/>
          <a:chOff x="0" y="0"/>
          <a:chExt cx="0" cy="0"/>
        </a:xfrm>
      </p:grpSpPr>
      <p:sp>
        <p:nvSpPr>
          <p:cNvPr id="165" name="Google Shape;16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6" name="Google Shape;166;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167" name="Google Shape;16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1.png"/><Relationship Id="rId6"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0.png"/><Relationship Id="rId9" Type="http://schemas.openxmlformats.org/officeDocument/2006/relationships/hyperlink" Target="https://www.mountainshuttle.com/shuttle-schedules/" TargetMode="External"/><Relationship Id="rId5" Type="http://schemas.openxmlformats.org/officeDocument/2006/relationships/hyperlink" Target="https://www.mountainshuttle.com/" TargetMode="External"/><Relationship Id="rId6" Type="http://schemas.openxmlformats.org/officeDocument/2006/relationships/hyperlink" Target="https://www.mountainshuttle.com/book-now/" TargetMode="External"/><Relationship Id="rId7" Type="http://schemas.openxmlformats.org/officeDocument/2006/relationships/hyperlink" Target="https://www.mountainshuttle.com/shuttle-destinations/breckenridge/" TargetMode="External"/><Relationship Id="rId8" Type="http://schemas.openxmlformats.org/officeDocument/2006/relationships/hyperlink" Target="https://www.mountainshuttle.com/shuttle-destinations/vai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hyperlink" Target="https://docs.google.com/spreadsheets/d/173zNReYAmYrtbB5zUrrUVOlL3YZ15WIpUwJ35qID72s/edit?gid=284016896#gid=284016896" TargetMode="External"/><Relationship Id="rId4" Type="http://schemas.openxmlformats.org/officeDocument/2006/relationships/hyperlink" Target="https://docs.google.com/spreadsheets/d/173zNReYAmYrtbB5zUrrUVOlL3YZ15WIpUwJ35qID72s/edit?gid=284016896#gid=284016896" TargetMode="External"/><Relationship Id="rId5" Type="http://schemas.openxmlformats.org/officeDocument/2006/relationships/image" Target="../media/image7.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hyperlink" Target="https://docs.google.com/spreadsheets/d/173zNReYAmYrtbB5zUrrUVOlL3YZ15WIpUwJ35qID72s/edit?gid=459418815#gid=459418815" TargetMode="External"/><Relationship Id="rId4" Type="http://schemas.openxmlformats.org/officeDocument/2006/relationships/image" Target="../media/image7.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Peak 1</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May</a:t>
            </a:r>
            <a:r>
              <a:rPr lang="en" sz="1000">
                <a:solidFill>
                  <a:schemeClr val="lt1"/>
                </a:solidFill>
                <a:latin typeface="Proxima Nova"/>
                <a:ea typeface="Proxima Nova"/>
                <a:cs typeface="Proxima Nova"/>
                <a:sym typeface="Proxima Nova"/>
              </a:rPr>
              <a:t> 2025</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5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(Backlinks) </a:t>
            </a:r>
            <a:r>
              <a:rPr lang="en" sz="1200">
                <a:solidFill>
                  <a:schemeClr val="dk1"/>
                </a:solidFill>
                <a:latin typeface="Proxima Nova"/>
                <a:ea typeface="Proxima Nova"/>
                <a:cs typeface="Proxima Nova"/>
                <a:sym typeface="Proxima Nova"/>
              </a:rPr>
              <a:t>-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(Keywords) </a:t>
            </a:r>
            <a:r>
              <a:rPr lang="en" sz="1200">
                <a:solidFill>
                  <a:schemeClr val="dk1"/>
                </a:solidFill>
                <a:latin typeface="Proxima Nova"/>
                <a:ea typeface="Proxima Nova"/>
                <a:cs typeface="Proxima Nova"/>
                <a:sym typeface="Proxima Nova"/>
              </a:rPr>
              <a:t>-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61" name="Google Shape;361;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62" name="Google Shape;362;p5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Transportation Company</a:t>
            </a:r>
            <a:endParaRPr sz="1600">
              <a:solidFill>
                <a:srgbClr val="E21A6B"/>
              </a:solidFill>
              <a:latin typeface="Proxima Nova"/>
              <a:ea typeface="Proxima Nova"/>
              <a:cs typeface="Proxima Nova"/>
              <a:sym typeface="Proxima Nova"/>
            </a:endParaRPr>
          </a:p>
        </p:txBody>
      </p:sp>
      <p:graphicFrame>
        <p:nvGraphicFramePr>
          <p:cNvPr id="363" name="Google Shape;363;p56"/>
          <p:cNvGraphicFramePr/>
          <p:nvPr/>
        </p:nvGraphicFramePr>
        <p:xfrm>
          <a:off x="4084975" y="644025"/>
          <a:ext cx="3000000" cy="3000000"/>
        </p:xfrm>
        <a:graphic>
          <a:graphicData uri="http://schemas.openxmlformats.org/drawingml/2006/table">
            <a:tbl>
              <a:tblPr>
                <a:noFill/>
                <a:tableStyleId>{5E2133FC-8D15-4E15-8F72-6987E640E1F1}</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Landing page highlighting fleet options, popular charter routes, and booking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Transportation by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detailing each charter service to or from a specific location.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Transportation by Vehicle Type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each specific vessel or vehicle in the fleet.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pages for charter routes, itineraries, or popular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destinations accessible via charters.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clearly outlining pricing structures and charter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Testimonials/Reviews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displaying reviews and customer feedback.</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Safety Information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content covering safety protocols and certifications.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sharing charter tips, destination highlights, or company news.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for organizing blog posts into clear topics.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guides providing FAQs, booking tips, and travel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 (privacy policy, terms of service, contact).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contributors to the site.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content showcasing the fleet, destinations, or charter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7" name="Shape 367"/>
        <p:cNvGrpSpPr/>
        <p:nvPr/>
      </p:nvGrpSpPr>
      <p:grpSpPr>
        <a:xfrm>
          <a:off x="0" y="0"/>
          <a:ext cx="0" cy="0"/>
          <a:chOff x="0" y="0"/>
          <a:chExt cx="0" cy="0"/>
        </a:xfrm>
      </p:grpSpPr>
      <p:pic>
        <p:nvPicPr>
          <p:cNvPr id="368" name="Google Shape;368;p5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69" name="Google Shape;369;p5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371" name="Google Shape;371;p57"/>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372" name="Google Shape;372;p5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373" name="Google Shape;373;p57"/>
          <p:cNvGraphicFramePr/>
          <p:nvPr/>
        </p:nvGraphicFramePr>
        <p:xfrm>
          <a:off x="4119000" y="143575"/>
          <a:ext cx="3000000" cy="3000000"/>
        </p:xfrm>
        <a:graphic>
          <a:graphicData uri="http://schemas.openxmlformats.org/drawingml/2006/table">
            <a:tbl>
              <a:tblPr>
                <a:noFill/>
                <a:tableStyleId>{2D2F4486-5539-4740-A8DE-F1E3A49F638C}</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377" name="Shape 377"/>
        <p:cNvGrpSpPr/>
        <p:nvPr/>
      </p:nvGrpSpPr>
      <p:grpSpPr>
        <a:xfrm>
          <a:off x="0" y="0"/>
          <a:ext cx="0" cy="0"/>
          <a:chOff x="0" y="0"/>
          <a:chExt cx="0" cy="0"/>
        </a:xfrm>
      </p:grpSpPr>
      <p:sp>
        <p:nvSpPr>
          <p:cNvPr id="378" name="Google Shape;378;p58"/>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379" name="Google Shape;379;p58"/>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380" name="Google Shape;380;p58"/>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381" name="Google Shape;381;p58"/>
          <p:cNvSpPr txBox="1"/>
          <p:nvPr/>
        </p:nvSpPr>
        <p:spPr>
          <a:xfrm>
            <a:off x="152400" y="6013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Site Structure</a:t>
            </a:r>
            <a:endParaRPr/>
          </a:p>
        </p:txBody>
      </p:sp>
      <p:sp>
        <p:nvSpPr>
          <p:cNvPr id="382" name="Google Shape;382;p58"/>
          <p:cNvSpPr txBox="1"/>
          <p:nvPr/>
        </p:nvSpPr>
        <p:spPr>
          <a:xfrm>
            <a:off x="6179475" y="1612750"/>
            <a:ext cx="26520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Blog Category pages and Blog Post pages make up the bulk of the website - almost 1,000 pages total.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Together, this is </a:t>
            </a:r>
            <a:r>
              <a:rPr b="1" lang="en" sz="1200">
                <a:solidFill>
                  <a:schemeClr val="dk1"/>
                </a:solidFill>
                <a:latin typeface="Proxima Nova"/>
                <a:ea typeface="Proxima Nova"/>
                <a:cs typeface="Proxima Nova"/>
                <a:sym typeface="Proxima Nova"/>
              </a:rPr>
              <a:t>more than almost all of the other pages on the site combined</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p:txBody>
      </p:sp>
      <p:pic>
        <p:nvPicPr>
          <p:cNvPr id="383" name="Google Shape;383;p58" title="Chart"/>
          <p:cNvPicPr preferRelativeResize="0"/>
          <p:nvPr/>
        </p:nvPicPr>
        <p:blipFill>
          <a:blip r:embed="rId4">
            <a:alphaModFix/>
          </a:blip>
          <a:stretch>
            <a:fillRect/>
          </a:stretch>
        </p:blipFill>
        <p:spPr>
          <a:xfrm>
            <a:off x="152400" y="1276925"/>
            <a:ext cx="5795424" cy="3257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387" name="Shape 387"/>
        <p:cNvGrpSpPr/>
        <p:nvPr/>
      </p:nvGrpSpPr>
      <p:grpSpPr>
        <a:xfrm>
          <a:off x="0" y="0"/>
          <a:ext cx="0" cy="0"/>
          <a:chOff x="0" y="0"/>
          <a:chExt cx="0" cy="0"/>
        </a:xfrm>
      </p:grpSpPr>
      <p:sp>
        <p:nvSpPr>
          <p:cNvPr id="388" name="Google Shape;388;p59"/>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389" name="Google Shape;389;p59"/>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390" name="Google Shape;390;p59"/>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391" name="Google Shape;391;p59"/>
          <p:cNvSpPr txBox="1"/>
          <p:nvPr/>
        </p:nvSpPr>
        <p:spPr>
          <a:xfrm>
            <a:off x="143325" y="724850"/>
            <a:ext cx="4291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Status Codes by Category</a:t>
            </a:r>
            <a:endParaRPr/>
          </a:p>
        </p:txBody>
      </p:sp>
      <p:pic>
        <p:nvPicPr>
          <p:cNvPr id="392" name="Google Shape;392;p59" title="Chart"/>
          <p:cNvPicPr preferRelativeResize="0"/>
          <p:nvPr/>
        </p:nvPicPr>
        <p:blipFill>
          <a:blip r:embed="rId4">
            <a:alphaModFix/>
          </a:blip>
          <a:stretch>
            <a:fillRect/>
          </a:stretch>
        </p:blipFill>
        <p:spPr>
          <a:xfrm>
            <a:off x="143325" y="1294725"/>
            <a:ext cx="5337726" cy="3416150"/>
          </a:xfrm>
          <a:prstGeom prst="rect">
            <a:avLst/>
          </a:prstGeom>
          <a:noFill/>
          <a:ln>
            <a:noFill/>
          </a:ln>
          <a:effectLst>
            <a:outerShdw blurRad="57150" rotWithShape="0" algn="bl" dir="5400000" dist="19050">
              <a:srgbClr val="000000">
                <a:alpha val="50000"/>
              </a:srgbClr>
            </a:outerShdw>
          </a:effectLst>
        </p:spPr>
      </p:pic>
      <p:sp>
        <p:nvSpPr>
          <p:cNvPr id="393" name="Google Shape;393;p59"/>
          <p:cNvSpPr txBox="1"/>
          <p:nvPr/>
        </p:nvSpPr>
        <p:spPr>
          <a:xfrm>
            <a:off x="6179475" y="1612750"/>
            <a:ext cx="26520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There are a large portion of links across the site that need to be fixed or removed entirely.</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In total, there are close to 1,000 URLs that are either 301 Redirects or 404 pages, which means a large amount of authority is being sent through a redirect chain, or to a broken page.</a:t>
            </a:r>
            <a:endParaRPr sz="1200">
              <a:solidFill>
                <a:schemeClr val="dk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397" name="Shape 397"/>
        <p:cNvGrpSpPr/>
        <p:nvPr/>
      </p:nvGrpSpPr>
      <p:grpSpPr>
        <a:xfrm>
          <a:off x="0" y="0"/>
          <a:ext cx="0" cy="0"/>
          <a:chOff x="0" y="0"/>
          <a:chExt cx="0" cy="0"/>
        </a:xfrm>
      </p:grpSpPr>
      <p:sp>
        <p:nvSpPr>
          <p:cNvPr id="398" name="Google Shape;398;p60"/>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399" name="Google Shape;399;p60"/>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400" name="Google Shape;400;p60"/>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Authority Overview</a:t>
            </a:r>
            <a:endParaRPr sz="1200">
              <a:solidFill>
                <a:schemeClr val="lt1"/>
              </a:solidFill>
              <a:latin typeface="Proxima Nova Extrabold"/>
              <a:ea typeface="Proxima Nova Extrabold"/>
              <a:cs typeface="Proxima Nova Extrabold"/>
              <a:sym typeface="Proxima Nova Extrabold"/>
            </a:endParaRPr>
          </a:p>
        </p:txBody>
      </p:sp>
      <p:sp>
        <p:nvSpPr>
          <p:cNvPr id="401" name="Google Shape;401;p60"/>
          <p:cNvSpPr txBox="1"/>
          <p:nvPr/>
        </p:nvSpPr>
        <p:spPr>
          <a:xfrm>
            <a:off x="6179475" y="750850"/>
            <a:ext cx="29646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Backlinks by Category</a:t>
            </a:r>
            <a:endParaRPr/>
          </a:p>
        </p:txBody>
      </p:sp>
      <p:sp>
        <p:nvSpPr>
          <p:cNvPr id="402" name="Google Shape;402;p60"/>
          <p:cNvSpPr txBox="1"/>
          <p:nvPr/>
        </p:nvSpPr>
        <p:spPr>
          <a:xfrm>
            <a:off x="6179475" y="1612750"/>
            <a:ext cx="2652000" cy="27801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Bulk of dofollow backlinks pointing to the site are currently going to the Home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Transportation by Destination pages have the second highest amount of backlinks compared to other site sections - this is a strong sign, as these are the most important pages to build links to</a:t>
            </a:r>
            <a:endParaRPr sz="1200">
              <a:solidFill>
                <a:schemeClr val="dk1"/>
              </a:solidFill>
              <a:latin typeface="Proxima Nova"/>
              <a:ea typeface="Proxima Nova"/>
              <a:cs typeface="Proxima Nova"/>
              <a:sym typeface="Proxima Nova"/>
            </a:endParaRPr>
          </a:p>
        </p:txBody>
      </p:sp>
      <p:pic>
        <p:nvPicPr>
          <p:cNvPr id="403" name="Google Shape;403;p60" title="Chart"/>
          <p:cNvPicPr preferRelativeResize="0"/>
          <p:nvPr/>
        </p:nvPicPr>
        <p:blipFill>
          <a:blip r:embed="rId4">
            <a:alphaModFix/>
          </a:blip>
          <a:stretch>
            <a:fillRect/>
          </a:stretch>
        </p:blipFill>
        <p:spPr>
          <a:xfrm>
            <a:off x="152400" y="829076"/>
            <a:ext cx="5795624" cy="365104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407" name="Shape 407"/>
        <p:cNvGrpSpPr/>
        <p:nvPr/>
      </p:nvGrpSpPr>
      <p:grpSpPr>
        <a:xfrm>
          <a:off x="0" y="0"/>
          <a:ext cx="0" cy="0"/>
          <a:chOff x="0" y="0"/>
          <a:chExt cx="0" cy="0"/>
        </a:xfrm>
      </p:grpSpPr>
      <p:sp>
        <p:nvSpPr>
          <p:cNvPr id="408" name="Google Shape;408;p61"/>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409" name="Google Shape;409;p61"/>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410" name="Google Shape;410;p61"/>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Traffic</a:t>
            </a:r>
            <a:endParaRPr sz="1200">
              <a:solidFill>
                <a:schemeClr val="lt1"/>
              </a:solidFill>
              <a:latin typeface="Proxima Nova Extrabold"/>
              <a:ea typeface="Proxima Nova Extrabold"/>
              <a:cs typeface="Proxima Nova Extrabold"/>
              <a:sym typeface="Proxima Nova Extrabold"/>
            </a:endParaRPr>
          </a:p>
        </p:txBody>
      </p:sp>
      <p:sp>
        <p:nvSpPr>
          <p:cNvPr id="411" name="Google Shape;411;p61"/>
          <p:cNvSpPr txBox="1"/>
          <p:nvPr/>
        </p:nvSpPr>
        <p:spPr>
          <a:xfrm>
            <a:off x="267825" y="550713"/>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Sessions by Category</a:t>
            </a:r>
            <a:endParaRPr/>
          </a:p>
        </p:txBody>
      </p:sp>
      <p:pic>
        <p:nvPicPr>
          <p:cNvPr id="412" name="Google Shape;412;p61" title="Chart"/>
          <p:cNvPicPr preferRelativeResize="0"/>
          <p:nvPr/>
        </p:nvPicPr>
        <p:blipFill>
          <a:blip r:embed="rId4">
            <a:alphaModFix/>
          </a:blip>
          <a:stretch>
            <a:fillRect/>
          </a:stretch>
        </p:blipFill>
        <p:spPr>
          <a:xfrm>
            <a:off x="143300" y="1073925"/>
            <a:ext cx="7216800" cy="3506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416" name="Shape 416"/>
        <p:cNvGrpSpPr/>
        <p:nvPr/>
      </p:nvGrpSpPr>
      <p:grpSpPr>
        <a:xfrm>
          <a:off x="0" y="0"/>
          <a:ext cx="0" cy="0"/>
          <a:chOff x="0" y="0"/>
          <a:chExt cx="0" cy="0"/>
        </a:xfrm>
      </p:grpSpPr>
      <p:sp>
        <p:nvSpPr>
          <p:cNvPr id="417" name="Google Shape;417;p62"/>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418" name="Google Shape;418;p62"/>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419" name="Google Shape;419;p62"/>
          <p:cNvSpPr txBox="1"/>
          <p:nvPr/>
        </p:nvSpPr>
        <p:spPr>
          <a:xfrm>
            <a:off x="6020200" y="2008325"/>
            <a:ext cx="2811300" cy="238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Proxima Nova"/>
                <a:ea typeface="Proxima Nova"/>
                <a:cs typeface="Proxima Nova"/>
                <a:sym typeface="Proxima Nova"/>
              </a:rPr>
              <a:t>At this time, the Home Page is the leading landing page driving the most revenue from users who arrived from organic search.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100">
                <a:solidFill>
                  <a:schemeClr val="dk1"/>
                </a:solidFill>
                <a:latin typeface="Proxima Nova"/>
                <a:ea typeface="Proxima Nova"/>
                <a:cs typeface="Proxima Nova"/>
                <a:sym typeface="Proxima Nova"/>
              </a:rPr>
              <a:t>Following the home page, </a:t>
            </a:r>
            <a:r>
              <a:rPr lang="en" sz="1100">
                <a:solidFill>
                  <a:schemeClr val="dk1"/>
                </a:solidFill>
                <a:latin typeface="Proxima Nova"/>
                <a:ea typeface="Proxima Nova"/>
                <a:cs typeface="Proxima Nova"/>
                <a:sym typeface="Proxima Nova"/>
              </a:rPr>
              <a:t>Destination</a:t>
            </a:r>
            <a:r>
              <a:rPr lang="en" sz="1100">
                <a:solidFill>
                  <a:schemeClr val="dk1"/>
                </a:solidFill>
                <a:latin typeface="Proxima Nova"/>
                <a:ea typeface="Proxima Nova"/>
                <a:cs typeface="Proxima Nova"/>
                <a:sym typeface="Proxima Nova"/>
              </a:rPr>
              <a:t> specific shuttle transportation pages are driving organic revenue, with the Breckenridge and Vail pages leading the pack.</a:t>
            </a:r>
            <a:endParaRPr sz="1100">
              <a:solidFill>
                <a:schemeClr val="dk1"/>
              </a:solidFill>
              <a:latin typeface="Proxima Nova"/>
              <a:ea typeface="Proxima Nova"/>
              <a:cs typeface="Proxima Nova"/>
              <a:sym typeface="Proxima Nova"/>
            </a:endParaRPr>
          </a:p>
        </p:txBody>
      </p:sp>
      <p:sp>
        <p:nvSpPr>
          <p:cNvPr id="420" name="Google Shape;420;p62"/>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421" name="Google Shape;421;p62"/>
          <p:cNvSpPr txBox="1"/>
          <p:nvPr/>
        </p:nvSpPr>
        <p:spPr>
          <a:xfrm>
            <a:off x="6020200" y="738400"/>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Pages &amp; Site Sections Driving Organic Revenue</a:t>
            </a:r>
            <a:endParaRPr/>
          </a:p>
        </p:txBody>
      </p:sp>
      <p:pic>
        <p:nvPicPr>
          <p:cNvPr id="422" name="Google Shape;422;p62" title="Chart"/>
          <p:cNvPicPr preferRelativeResize="0"/>
          <p:nvPr/>
        </p:nvPicPr>
        <p:blipFill>
          <a:blip r:embed="rId4">
            <a:alphaModFix/>
          </a:blip>
          <a:stretch>
            <a:fillRect/>
          </a:stretch>
        </p:blipFill>
        <p:spPr>
          <a:xfrm>
            <a:off x="170575" y="738400"/>
            <a:ext cx="5200101" cy="2201400"/>
          </a:xfrm>
          <a:prstGeom prst="rect">
            <a:avLst/>
          </a:prstGeom>
          <a:noFill/>
          <a:ln>
            <a:noFill/>
          </a:ln>
          <a:effectLst>
            <a:outerShdw blurRad="57150" rotWithShape="0" algn="bl" dir="5400000" dist="19050">
              <a:srgbClr val="000000">
                <a:alpha val="50000"/>
              </a:srgbClr>
            </a:outerShdw>
          </a:effectLst>
        </p:spPr>
      </p:pic>
      <p:graphicFrame>
        <p:nvGraphicFramePr>
          <p:cNvPr id="423" name="Google Shape;423;p62"/>
          <p:cNvGraphicFramePr/>
          <p:nvPr/>
        </p:nvGraphicFramePr>
        <p:xfrm>
          <a:off x="116050" y="3167750"/>
          <a:ext cx="3000000" cy="3000000"/>
        </p:xfrm>
        <a:graphic>
          <a:graphicData uri="http://schemas.openxmlformats.org/drawingml/2006/table">
            <a:tbl>
              <a:tblPr>
                <a:noFill/>
                <a:tableStyleId>{5E2133FC-8D15-4E15-8F72-6987E640E1F1}</a:tableStyleId>
              </a:tblPr>
              <a:tblGrid>
                <a:gridCol w="3973225"/>
                <a:gridCol w="1281400"/>
              </a:tblGrid>
              <a:tr h="209550">
                <a:tc>
                  <a:txBody>
                    <a:bodyPr/>
                    <a:lstStyle/>
                    <a:p>
                      <a:pPr indent="0" lvl="0" marL="0" rtl="0" algn="l">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Top 5 Pages by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c>
                  <a:txBody>
                    <a:bodyPr/>
                    <a:lstStyle/>
                    <a:p>
                      <a:pPr indent="0" lvl="0" marL="0" rtl="0" algn="ctr">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Purchase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r>
              <a:tr h="209550">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5"/>
                        </a:rPr>
                        <a:t>https://www.mountainshuttle.com/</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$474,114</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6"/>
                        </a:rPr>
                        <a:t>https://www.mountainshuttle.com/book-now/</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$161,413</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7"/>
                        </a:rPr>
                        <a:t>https://www.mountainshuttle.com/shuttle-destinations/breckenridge/</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$116,447</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8"/>
                        </a:rPr>
                        <a:t>https://www.mountainshuttle.com/shuttle-destinations/vail/</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$90,216</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209550">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9"/>
                        </a:rPr>
                        <a:t>https://www.mountainshuttle.com/shuttle-schedules/</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$76,425</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427" name="Shape 427"/>
        <p:cNvGrpSpPr/>
        <p:nvPr/>
      </p:nvGrpSpPr>
      <p:grpSpPr>
        <a:xfrm>
          <a:off x="0" y="0"/>
          <a:ext cx="0" cy="0"/>
          <a:chOff x="0" y="0"/>
          <a:chExt cx="0" cy="0"/>
        </a:xfrm>
      </p:grpSpPr>
      <p:sp>
        <p:nvSpPr>
          <p:cNvPr id="428" name="Google Shape;428;p63"/>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429" name="Google Shape;429;p63"/>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430" name="Google Shape;430;p63"/>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431" name="Google Shape;431;p63"/>
          <p:cNvSpPr txBox="1"/>
          <p:nvPr/>
        </p:nvSpPr>
        <p:spPr>
          <a:xfrm>
            <a:off x="276675" y="509925"/>
            <a:ext cx="5939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F00D68"/>
                </a:solidFill>
                <a:latin typeface="Proxima Nova"/>
                <a:ea typeface="Proxima Nova"/>
                <a:cs typeface="Proxima Nova"/>
                <a:sym typeface="Proxima Nova"/>
              </a:rPr>
              <a:t>Number of Pages Driving Revenue by Section</a:t>
            </a:r>
            <a:endParaRPr sz="1300"/>
          </a:p>
        </p:txBody>
      </p:sp>
      <p:pic>
        <p:nvPicPr>
          <p:cNvPr id="432" name="Google Shape;432;p63" title="Chart"/>
          <p:cNvPicPr preferRelativeResize="0"/>
          <p:nvPr/>
        </p:nvPicPr>
        <p:blipFill>
          <a:blip r:embed="rId4">
            <a:alphaModFix/>
          </a:blip>
          <a:stretch>
            <a:fillRect/>
          </a:stretch>
        </p:blipFill>
        <p:spPr>
          <a:xfrm>
            <a:off x="276675" y="1070525"/>
            <a:ext cx="5430249" cy="386455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36" name="Shape 436"/>
        <p:cNvGrpSpPr/>
        <p:nvPr/>
      </p:nvGrpSpPr>
      <p:grpSpPr>
        <a:xfrm>
          <a:off x="0" y="0"/>
          <a:ext cx="0" cy="0"/>
          <a:chOff x="0" y="0"/>
          <a:chExt cx="0" cy="0"/>
        </a:xfrm>
      </p:grpSpPr>
      <p:sp>
        <p:nvSpPr>
          <p:cNvPr id="437" name="Google Shape;437;p64"/>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4"/>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39" name="Google Shape;439;p64"/>
          <p:cNvSpPr txBox="1"/>
          <p:nvPr/>
        </p:nvSpPr>
        <p:spPr>
          <a:xfrm>
            <a:off x="2875500" y="342900"/>
            <a:ext cx="6268500" cy="453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Issue: Internal Links Point to 301 Redirects</a:t>
            </a:r>
            <a:endParaRPr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lang="en" sz="1200">
                <a:solidFill>
                  <a:schemeClr val="dk1"/>
                </a:solidFill>
                <a:latin typeface="Proxima Nova"/>
                <a:ea typeface="Proxima Nova"/>
                <a:cs typeface="Proxima Nova"/>
                <a:sym typeface="Proxima Nova"/>
              </a:rPr>
              <a:t>Over 500 internal links on the site point to URLs that return a 301 redirect instead of linking directly to the final destination page.</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Why This is a Problem:</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Wasted Crawl Budget:</a:t>
            </a:r>
            <a:r>
              <a:rPr lang="en" sz="1200">
                <a:solidFill>
                  <a:schemeClr val="dk1"/>
                </a:solidFill>
                <a:latin typeface="Proxima Nova"/>
                <a:ea typeface="Proxima Nova"/>
                <a:cs typeface="Proxima Nova"/>
                <a:sym typeface="Proxima Nova"/>
              </a:rPr>
              <a:t> Search engines must crawl both the redirect and the destination, reducing efficiency.</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Diluted Link Equity: </a:t>
            </a:r>
            <a:r>
              <a:rPr lang="en" sz="1200">
                <a:solidFill>
                  <a:schemeClr val="dk1"/>
                </a:solidFill>
                <a:latin typeface="Proxima Nova"/>
                <a:ea typeface="Proxima Nova"/>
                <a:cs typeface="Proxima Nova"/>
                <a:sym typeface="Proxima Nova"/>
              </a:rPr>
              <a:t>Although Google passes PageRank through redirects, some value may be lost or delayed.</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Slower Page Load: </a:t>
            </a:r>
            <a:r>
              <a:rPr lang="en" sz="1200">
                <a:solidFill>
                  <a:schemeClr val="dk1"/>
                </a:solidFill>
                <a:latin typeface="Proxima Nova"/>
                <a:ea typeface="Proxima Nova"/>
                <a:cs typeface="Proxima Nova"/>
                <a:sym typeface="Proxima Nova"/>
              </a:rPr>
              <a:t>Each redirect adds extra HTTP requests, which can negatively affect page speed and user experience.</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Signals Confusion: </a:t>
            </a:r>
            <a:r>
              <a:rPr lang="en" sz="1200">
                <a:solidFill>
                  <a:schemeClr val="dk1"/>
                </a:solidFill>
                <a:latin typeface="Proxima Nova"/>
                <a:ea typeface="Proxima Nova"/>
                <a:cs typeface="Proxima Nova"/>
                <a:sym typeface="Proxima Nova"/>
              </a:rPr>
              <a:t>It creates unnecessary complexity for search engines trying to interpret your internal structure.</a:t>
            </a:r>
            <a:endParaRPr sz="1200">
              <a:solidFill>
                <a:schemeClr val="dk1"/>
              </a:solidFill>
              <a:latin typeface="Proxima Nova"/>
              <a:ea typeface="Proxima Nova"/>
              <a:cs typeface="Proxima Nova"/>
              <a:sym typeface="Proxima Nova"/>
            </a:endParaRPr>
          </a:p>
          <a:p>
            <a:pPr indent="0" lvl="0" marL="0" rtl="0" algn="l">
              <a:lnSpc>
                <a:spcPct val="115000"/>
              </a:lnSpc>
              <a:spcBef>
                <a:spcPts val="1400"/>
              </a:spcBef>
              <a:spcAft>
                <a:spcPts val="0"/>
              </a:spcAft>
              <a:buNone/>
            </a:pPr>
            <a:r>
              <a:rPr b="1" lang="en" sz="1200" u="sng">
                <a:solidFill>
                  <a:schemeClr val="dk1"/>
                </a:solidFill>
                <a:latin typeface="Proxima Nova"/>
                <a:ea typeface="Proxima Nova"/>
                <a:cs typeface="Proxima Nova"/>
                <a:sym typeface="Proxima Nova"/>
              </a:rPr>
              <a:t>Recommendation: Update all internal links to point directly to the final URL</a:t>
            </a:r>
            <a:endParaRPr b="1" sz="1200" u="sng">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200">
                <a:solidFill>
                  <a:schemeClr val="dk1"/>
                </a:solidFill>
                <a:latin typeface="Proxima Nova"/>
                <a:ea typeface="Proxima Nova"/>
                <a:cs typeface="Proxima Nova"/>
                <a:sym typeface="Proxima Nova"/>
              </a:rPr>
              <a:t>Using the “</a:t>
            </a:r>
            <a:r>
              <a:rPr lang="en" sz="1200" u="sng">
                <a:solidFill>
                  <a:schemeClr val="hlink"/>
                </a:solidFill>
                <a:latin typeface="Proxima Nova"/>
                <a:ea typeface="Proxima Nova"/>
                <a:cs typeface="Proxima Nova"/>
                <a:sym typeface="Proxima Nova"/>
                <a:hlinkClick r:id="rId3"/>
              </a:rPr>
              <a:t>Find and Remove or Replace</a:t>
            </a:r>
            <a:r>
              <a:rPr lang="en" sz="1200">
                <a:solidFill>
                  <a:schemeClr val="dk1"/>
                </a:solidFill>
                <a:latin typeface="Proxima Nova"/>
                <a:ea typeface="Proxima Nova"/>
                <a:cs typeface="Proxima Nova"/>
                <a:sym typeface="Proxima Nova"/>
              </a:rPr>
              <a:t>” tab in the WQA, perform a Find and Replace for all 301 Redirects on the site, as instructed by the sheet. This will fix all issues in the “Aggregation” tab assigned a “Find and Replace” URL Action. </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b="1" lang="en" sz="1200">
                <a:solidFill>
                  <a:schemeClr val="dk1"/>
                </a:solidFill>
                <a:latin typeface="Proxima Nova"/>
                <a:ea typeface="Proxima Nova"/>
                <a:cs typeface="Proxima Nova"/>
                <a:sym typeface="Proxima Nova"/>
              </a:rPr>
              <a:t>IMPORTANT NOTE: </a:t>
            </a:r>
            <a:r>
              <a:rPr lang="en" sz="1200">
                <a:solidFill>
                  <a:schemeClr val="dk1"/>
                </a:solidFill>
                <a:latin typeface="Proxima Nova"/>
                <a:ea typeface="Proxima Nova"/>
                <a:cs typeface="Proxima Nova"/>
                <a:sym typeface="Proxima Nova"/>
              </a:rPr>
              <a:t>For any rows where “Header” or “Footer” appear in Column G “Link Position” of the </a:t>
            </a:r>
            <a:r>
              <a:rPr lang="en" sz="1200">
                <a:solidFill>
                  <a:schemeClr val="dk1"/>
                </a:solidFill>
                <a:latin typeface="Proxima Nova"/>
                <a:ea typeface="Proxima Nova"/>
                <a:cs typeface="Proxima Nova"/>
                <a:sym typeface="Proxima Nova"/>
              </a:rPr>
              <a:t>“</a:t>
            </a:r>
            <a:r>
              <a:rPr lang="en" sz="1200" u="sng">
                <a:solidFill>
                  <a:schemeClr val="accent5"/>
                </a:solidFill>
                <a:latin typeface="Proxima Nova"/>
                <a:ea typeface="Proxima Nova"/>
                <a:cs typeface="Proxima Nova"/>
                <a:sym typeface="Proxima Nova"/>
                <a:hlinkClick r:id="rId4">
                  <a:extLst>
                    <a:ext uri="{A12FA001-AC4F-418D-AE19-62706E023703}">
                      <ahyp:hlinkClr val="tx"/>
                    </a:ext>
                  </a:extLst>
                </a:hlinkClick>
              </a:rPr>
              <a:t>Find and Remove or Replace</a:t>
            </a:r>
            <a:r>
              <a:rPr lang="en" sz="1200">
                <a:solidFill>
                  <a:schemeClr val="dk1"/>
                </a:solidFill>
                <a:latin typeface="Proxima Nova"/>
                <a:ea typeface="Proxima Nova"/>
                <a:cs typeface="Proxima Nova"/>
                <a:sym typeface="Proxima Nova"/>
              </a:rPr>
              <a:t>” tab, this means the URL to replace appears in a single location in the menu and footer of every single page. Fixing one of these instances should fix this in every other single instance it appears in that spot.</a:t>
            </a:r>
            <a:endParaRPr sz="1200">
              <a:solidFill>
                <a:schemeClr val="dk1"/>
              </a:solidFill>
              <a:latin typeface="Proxima Nova"/>
              <a:ea typeface="Proxima Nova"/>
              <a:cs typeface="Proxima Nova"/>
              <a:sym typeface="Proxima Nova"/>
            </a:endParaRPr>
          </a:p>
          <a:p>
            <a:pPr indent="0" lvl="0" marL="0" rtl="0" algn="l">
              <a:lnSpc>
                <a:spcPct val="100000"/>
              </a:lnSpc>
              <a:spcBef>
                <a:spcPts val="12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440" name="Google Shape;440;p6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441" name="Google Shape;441;p64"/>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000"/>
                                        <p:tgtEl>
                                          <p:spTgt spid="4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5" name="Shape 445"/>
        <p:cNvGrpSpPr/>
        <p:nvPr/>
      </p:nvGrpSpPr>
      <p:grpSpPr>
        <a:xfrm>
          <a:off x="0" y="0"/>
          <a:ext cx="0" cy="0"/>
          <a:chOff x="0" y="0"/>
          <a:chExt cx="0" cy="0"/>
        </a:xfrm>
      </p:grpSpPr>
      <p:sp>
        <p:nvSpPr>
          <p:cNvPr id="446" name="Google Shape;446;p65"/>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5"/>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48" name="Google Shape;448;p65"/>
          <p:cNvSpPr txBox="1"/>
          <p:nvPr/>
        </p:nvSpPr>
        <p:spPr>
          <a:xfrm>
            <a:off x="2875500" y="342900"/>
            <a:ext cx="6268500" cy="453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Issue: Pages or Links Returning 404 Errors</a:t>
            </a:r>
            <a:endParaRPr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lang="en" sz="1200">
                <a:solidFill>
                  <a:schemeClr val="dk1"/>
                </a:solidFill>
                <a:latin typeface="Proxima Nova"/>
                <a:ea typeface="Proxima Nova"/>
                <a:cs typeface="Proxima Nova"/>
                <a:sym typeface="Proxima Nova"/>
              </a:rPr>
              <a:t>Over 500 internal links - </a:t>
            </a:r>
            <a:r>
              <a:rPr lang="en" sz="1200">
                <a:solidFill>
                  <a:schemeClr val="dk1"/>
                </a:solidFill>
                <a:latin typeface="Proxima Nova"/>
                <a:ea typeface="Proxima Nova"/>
                <a:cs typeface="Proxima Nova"/>
                <a:sym typeface="Proxima Nova"/>
              </a:rPr>
              <a:t>or previously indexed pages and images - return 404 (Not Found) errors, meaning the content is missing or the page has been removed without a redirect.</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Why This is a Problem:</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Poor User Experience: </a:t>
            </a:r>
            <a:r>
              <a:rPr lang="en" sz="1200">
                <a:solidFill>
                  <a:schemeClr val="dk1"/>
                </a:solidFill>
                <a:latin typeface="Proxima Nova"/>
                <a:ea typeface="Proxima Nova"/>
                <a:cs typeface="Proxima Nova"/>
                <a:sym typeface="Proxima Nova"/>
              </a:rPr>
              <a:t>Users hitting dead ends can become frustrated and leave the site, reducing engagement and trust.</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Wasted Crawl Budget: </a:t>
            </a:r>
            <a:r>
              <a:rPr lang="en" sz="1200">
                <a:solidFill>
                  <a:schemeClr val="dk1"/>
                </a:solidFill>
                <a:latin typeface="Proxima Nova"/>
                <a:ea typeface="Proxima Nova"/>
                <a:cs typeface="Proxima Nova"/>
                <a:sym typeface="Proxima Nova"/>
              </a:rPr>
              <a:t>Search engines waste time crawling broken pages instead of valuable content.</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Lost Link Equity: </a:t>
            </a:r>
            <a:r>
              <a:rPr lang="en" sz="1200">
                <a:solidFill>
                  <a:schemeClr val="dk1"/>
                </a:solidFill>
                <a:latin typeface="Proxima Nova"/>
                <a:ea typeface="Proxima Nova"/>
                <a:cs typeface="Proxima Nova"/>
                <a:sym typeface="Proxima Nova"/>
              </a:rPr>
              <a:t>If other internal or external pages link to a 404 URL, that authority is lost unless it’s redirected appropriately.</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Negative SEO Signals: </a:t>
            </a:r>
            <a:r>
              <a:rPr lang="en" sz="1200">
                <a:solidFill>
                  <a:schemeClr val="dk1"/>
                </a:solidFill>
                <a:latin typeface="Proxima Nova"/>
                <a:ea typeface="Proxima Nova"/>
                <a:cs typeface="Proxima Nova"/>
                <a:sym typeface="Proxima Nova"/>
              </a:rPr>
              <a:t>A large number of 404s can be interpreted as poor site maintenance or content decay.</a:t>
            </a:r>
            <a:endParaRPr sz="1200">
              <a:solidFill>
                <a:schemeClr val="dk1"/>
              </a:solidFill>
              <a:latin typeface="Proxima Nova"/>
              <a:ea typeface="Proxima Nova"/>
              <a:cs typeface="Proxima Nova"/>
              <a:sym typeface="Proxima Nova"/>
            </a:endParaRPr>
          </a:p>
          <a:p>
            <a:pPr indent="0" lvl="0" marL="0" rtl="0" algn="l">
              <a:lnSpc>
                <a:spcPct val="115000"/>
              </a:lnSpc>
              <a:spcBef>
                <a:spcPts val="1400"/>
              </a:spcBef>
              <a:spcAft>
                <a:spcPts val="0"/>
              </a:spcAft>
              <a:buNone/>
            </a:pPr>
            <a:r>
              <a:rPr b="1" lang="en" sz="1200" u="sng">
                <a:solidFill>
                  <a:schemeClr val="dk1"/>
                </a:solidFill>
                <a:latin typeface="Proxima Nova"/>
                <a:ea typeface="Proxima Nova"/>
                <a:cs typeface="Proxima Nova"/>
                <a:sym typeface="Proxima Nova"/>
              </a:rPr>
              <a:t>Recommendation: Update all internal links to point directly to the 404 URL</a:t>
            </a:r>
            <a:endParaRPr b="1" sz="1200" u="sng">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200">
                <a:solidFill>
                  <a:schemeClr val="dk1"/>
                </a:solidFill>
                <a:latin typeface="Proxima Nova"/>
                <a:ea typeface="Proxima Nova"/>
                <a:cs typeface="Proxima Nova"/>
                <a:sym typeface="Proxima Nova"/>
              </a:rPr>
              <a:t>Using the “</a:t>
            </a:r>
            <a:r>
              <a:rPr lang="en" sz="1200" u="sng">
                <a:solidFill>
                  <a:schemeClr val="hlink"/>
                </a:solidFill>
                <a:latin typeface="Proxima Nova"/>
                <a:ea typeface="Proxima Nova"/>
                <a:cs typeface="Proxima Nova"/>
                <a:sym typeface="Proxima Nova"/>
                <a:hlinkClick r:id="rId3"/>
              </a:rPr>
              <a:t>Find and Remove Images</a:t>
            </a:r>
            <a:r>
              <a:rPr lang="en" sz="1200">
                <a:solidFill>
                  <a:schemeClr val="dk1"/>
                </a:solidFill>
                <a:latin typeface="Proxima Nova"/>
                <a:ea typeface="Proxima Nova"/>
                <a:cs typeface="Proxima Nova"/>
                <a:sym typeface="Proxima Nova"/>
              </a:rPr>
              <a:t>” tab in the WQA, locate the “Find and Remove” instructions in Column A to locate all the URLs that should be removed. </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200">
                <a:solidFill>
                  <a:schemeClr val="dk1"/>
                </a:solidFill>
                <a:latin typeface="Proxima Nova"/>
                <a:ea typeface="Proxima Nova"/>
                <a:cs typeface="Proxima Nova"/>
                <a:sym typeface="Proxima Nova"/>
              </a:rPr>
              <a:t>This will fix all issues in the “Aggregation” tab assigned a “Find and Remove” URL Action. </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0" lvl="0" marL="0" rtl="0" algn="l">
              <a:lnSpc>
                <a:spcPct val="100000"/>
              </a:lnSpc>
              <a:spcBef>
                <a:spcPts val="12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449" name="Google Shape;449;p6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pic>
        <p:nvPicPr>
          <p:cNvPr id="450" name="Google Shape;450;p65"/>
          <p:cNvPicPr preferRelativeResize="0"/>
          <p:nvPr/>
        </p:nvPicPr>
        <p:blipFill rotWithShape="1">
          <a:blip r:embed="rId5">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54" name="Shape 454"/>
        <p:cNvGrpSpPr/>
        <p:nvPr/>
      </p:nvGrpSpPr>
      <p:grpSpPr>
        <a:xfrm>
          <a:off x="0" y="0"/>
          <a:ext cx="0" cy="0"/>
          <a:chOff x="0" y="0"/>
          <a:chExt cx="0" cy="0"/>
        </a:xfrm>
      </p:grpSpPr>
      <p:sp>
        <p:nvSpPr>
          <p:cNvPr id="455" name="Google Shape;455;p66"/>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456" name="Google Shape;456;p66"/>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457" name="Google Shape;457;p66"/>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458" name="Google Shape;458;p66"/>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