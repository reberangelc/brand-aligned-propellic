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Roboto Slab Light"/>
      <p:regular r:id="rId39"/>
      <p:bold r:id="rId40"/>
    </p:embeddedFont>
    <p:embeddedFont>
      <p:font typeface="Roboto Slab"/>
      <p:regular r:id="rId41"/>
      <p:bold r:id="rId42"/>
    </p:embeddedFont>
    <p:embeddedFont>
      <p:font typeface="Roboto"/>
      <p:regular r:id="rId43"/>
      <p:bold r:id="rId44"/>
      <p:italic r:id="rId45"/>
      <p:boldItalic r:id="rId46"/>
    </p:embeddedFont>
    <p:embeddedFont>
      <p:font typeface="Proxima Nova"/>
      <p:regular r:id="rId47"/>
      <p:bold r:id="rId48"/>
      <p:italic r:id="rId49"/>
      <p:boldItalic r:id="rId50"/>
    </p:embeddedFont>
    <p:embeddedFont>
      <p:font typeface="Poppins"/>
      <p:regular r:id="rId51"/>
      <p:bold r:id="rId52"/>
      <p:italic r:id="rId53"/>
      <p:boldItalic r:id="rId54"/>
    </p:embeddedFont>
    <p:embeddedFont>
      <p:font typeface="Varela Round"/>
      <p:regular r:id="rId55"/>
    </p:embeddedFont>
    <p:embeddedFont>
      <p:font typeface="Proxima Nova Extrabold"/>
      <p:bold r:id="rId56"/>
    </p:embeddedFont>
    <p:embeddedFont>
      <p:font typeface="Roboto Light"/>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DB53EE-91C8-4E1F-A037-AFCE2E54B87E}">
  <a:tblStyle styleId="{C2DB53EE-91C8-4E1F-A037-AFCE2E54B87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45BD097-9C20-47AD-853B-368945867A13}"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SlabLight-bold.fntdata"/><Relationship Id="rId42" Type="http://schemas.openxmlformats.org/officeDocument/2006/relationships/font" Target="fonts/RobotoSlab-bold.fntdata"/><Relationship Id="rId41" Type="http://schemas.openxmlformats.org/officeDocument/2006/relationships/font" Target="fonts/RobotoSlab-regular.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font" Target="fonts/RobotoSlabLight-regular.fntdata"/><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Light-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oppins-regular.fntdata"/><Relationship Id="rId50" Type="http://schemas.openxmlformats.org/officeDocument/2006/relationships/font" Target="fonts/ProximaNova-boldItalic.fntdata"/><Relationship Id="rId53" Type="http://schemas.openxmlformats.org/officeDocument/2006/relationships/font" Target="fonts/Poppins-italic.fntdata"/><Relationship Id="rId52" Type="http://schemas.openxmlformats.org/officeDocument/2006/relationships/font" Target="fonts/Poppins-bold.fntdata"/><Relationship Id="rId11" Type="http://schemas.openxmlformats.org/officeDocument/2006/relationships/slide" Target="slides/slide4.xml"/><Relationship Id="rId55" Type="http://schemas.openxmlformats.org/officeDocument/2006/relationships/font" Target="fonts/VarelaRound-regular.fntdata"/><Relationship Id="rId10" Type="http://schemas.openxmlformats.org/officeDocument/2006/relationships/slide" Target="slides/slide3.xml"/><Relationship Id="rId54" Type="http://schemas.openxmlformats.org/officeDocument/2006/relationships/font" Target="fonts/Poppins-boldItalic.fntdata"/><Relationship Id="rId13" Type="http://schemas.openxmlformats.org/officeDocument/2006/relationships/slide" Target="slides/slide6.xml"/><Relationship Id="rId57" Type="http://schemas.openxmlformats.org/officeDocument/2006/relationships/font" Target="fonts/RobotoLight-regular.fntdata"/><Relationship Id="rId12" Type="http://schemas.openxmlformats.org/officeDocument/2006/relationships/slide" Target="slides/slide5.xml"/><Relationship Id="rId56" Type="http://schemas.openxmlformats.org/officeDocument/2006/relationships/font" Target="fonts/ProximaNovaExtrabold-bold.fntdata"/><Relationship Id="rId15" Type="http://schemas.openxmlformats.org/officeDocument/2006/relationships/slide" Target="slides/slide8.xml"/><Relationship Id="rId59" Type="http://schemas.openxmlformats.org/officeDocument/2006/relationships/font" Target="fonts/RobotoLight-italic.fntdata"/><Relationship Id="rId14" Type="http://schemas.openxmlformats.org/officeDocument/2006/relationships/slide" Target="slides/slide7.xml"/><Relationship Id="rId58" Type="http://schemas.openxmlformats.org/officeDocument/2006/relationships/font" Target="fonts/RobotoLight-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618588231#gid=1618588231"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975750220#gid=1975750220"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307378891#gid=1307378891"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92554350#gid=92554350"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065132173#gid=106513217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428278599#gid=1428278599"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SLIDES_API98788714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SLIDES_API98788714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41615818f2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41615818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1615818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1615818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161581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161581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1615818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1615818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1615818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1615818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1615818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41615818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1615818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1615818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1615818f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1615818f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1615818f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1615818f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41615818f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41615818f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41615818f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41615818f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1615818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41615818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https://docs.google.com/spreadsheets/d/1CNChHS8-gO7lqbSYQlH-LxSfJwzyimmYhFJGy6CzZ-g/edit?gid=1618588231#gid=1618588231</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https://docs.google.com/spreadsheets/d/1CNChHS8-gO7lqbSYQlH-LxSfJwzyimmYhFJGy6CzZ-g/edit?gid=1975750220#gid=1975750220</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https://docs.google.com/spreadsheets/d/1CNChHS8-gO7lqbSYQlH-LxSfJwzyimmYhFJGy6CzZ-g/edit?gid=1307378891#gid=1307378891</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https://docs.google.com/spreadsheets/d/1CNChHS8-gO7lqbSYQlH-LxSfJwzyimmYhFJGy6CzZ-g/edit?gid=92554350#gid=92554350</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4339c09e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4339c09e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https://docs.google.com/spreadsheets/d/1CNChHS8-gO7lqbSYQlH-LxSfJwzyimmYhFJGy6CzZ-g/edit?gid=1065132173#gid=1065132173</a:t>
            </a:r>
            <a:r>
              <a:rPr lang="en"/>
              <a:t> </a:t>
            </a:r>
            <a:endParaRPr/>
          </a:p>
          <a:p>
            <a:pPr indent="0" lvl="0" marL="0" rtl="0" algn="l">
              <a:spcBef>
                <a:spcPts val="0"/>
              </a:spcBef>
              <a:spcAft>
                <a:spcPts val="0"/>
              </a:spcAft>
              <a:buNone/>
            </a:pPr>
            <a:r>
              <a:rPr lang="en"/>
              <a:t>Link to Top 5 Pages by Revenue Table: https://docs.google.com/spreadsheets/d/1CNChHS8-gO7lqbSYQlH-LxSfJwzyimmYhFJGy6CzZ-g/edit?gid=1611787336#gid=1611787336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https://docs.google.com/spreadsheets/d/1CNChHS8-gO7lqbSYQlH-LxSfJwzyimmYhFJGy6CzZ-g/edit?gid=1428278599#gid=1428278599</a:t>
            </a:r>
            <a:r>
              <a:rPr lang="en"/>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41615818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41615818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 name="Google Shape;17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8" name="Google Shape;178;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2" name="Google Shape;182;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3" name="Google Shape;18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4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4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4" name="Shape 194"/>
        <p:cNvGrpSpPr/>
        <p:nvPr/>
      </p:nvGrpSpPr>
      <p:grpSpPr>
        <a:xfrm>
          <a:off x="0" y="0"/>
          <a:ext cx="0" cy="0"/>
          <a:chOff x="0" y="0"/>
          <a:chExt cx="0" cy="0"/>
        </a:xfrm>
      </p:grpSpPr>
      <p:sp>
        <p:nvSpPr>
          <p:cNvPr id="195" name="Google Shape;19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8" name="Google Shape;198;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0" name="Shape 200"/>
        <p:cNvGrpSpPr/>
        <p:nvPr/>
      </p:nvGrpSpPr>
      <p:grpSpPr>
        <a:xfrm>
          <a:off x="0" y="0"/>
          <a:ext cx="0" cy="0"/>
          <a:chOff x="0" y="0"/>
          <a:chExt cx="0" cy="0"/>
        </a:xfrm>
      </p:grpSpPr>
      <p:sp>
        <p:nvSpPr>
          <p:cNvPr id="201" name="Google Shape;20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02" name="Google Shape;20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3" name="Shape 203"/>
        <p:cNvGrpSpPr/>
        <p:nvPr/>
      </p:nvGrpSpPr>
      <p:grpSpPr>
        <a:xfrm>
          <a:off x="0" y="0"/>
          <a:ext cx="0" cy="0"/>
          <a:chOff x="0" y="0"/>
          <a:chExt cx="0" cy="0"/>
        </a:xfrm>
      </p:grpSpPr>
      <p:sp>
        <p:nvSpPr>
          <p:cNvPr id="204" name="Google Shape;204;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06" name="Google Shape;20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 name="Shape 207"/>
        <p:cNvGrpSpPr/>
        <p:nvPr/>
      </p:nvGrpSpPr>
      <p:grpSpPr>
        <a:xfrm>
          <a:off x="0" y="0"/>
          <a:ext cx="0" cy="0"/>
          <a:chOff x="0" y="0"/>
          <a:chExt cx="0" cy="0"/>
        </a:xfrm>
      </p:grpSpPr>
      <p:sp>
        <p:nvSpPr>
          <p:cNvPr id="208" name="Google Shape;20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209" name="Shape 209"/>
        <p:cNvGrpSpPr/>
        <p:nvPr/>
      </p:nvGrpSpPr>
      <p:grpSpPr>
        <a:xfrm>
          <a:off x="0" y="0"/>
          <a:ext cx="0" cy="0"/>
          <a:chOff x="0" y="0"/>
          <a:chExt cx="0" cy="0"/>
        </a:xfrm>
      </p:grpSpPr>
      <p:sp>
        <p:nvSpPr>
          <p:cNvPr id="210" name="Google Shape;210;p47"/>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7"/>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7"/>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7"/>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7"/>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7"/>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7"/>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7"/>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7"/>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7"/>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7"/>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7"/>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7"/>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7"/>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7"/>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7"/>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7"/>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7"/>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7"/>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2" name="Google Shape;232;p47"/>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rgbClr val="434343"/>
              </a:buClr>
              <a:buSzPts val="4800"/>
              <a:buNone/>
              <a:defRPr sz="4800">
                <a:solidFill>
                  <a:srgbClr val="434343"/>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233" name="Shape 233"/>
        <p:cNvGrpSpPr/>
        <p:nvPr/>
      </p:nvGrpSpPr>
      <p:grpSpPr>
        <a:xfrm>
          <a:off x="0" y="0"/>
          <a:ext cx="0" cy="0"/>
          <a:chOff x="0" y="0"/>
          <a:chExt cx="0" cy="0"/>
        </a:xfrm>
      </p:grpSpPr>
      <p:sp>
        <p:nvSpPr>
          <p:cNvPr id="234" name="Google Shape;234;p48"/>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5" name="Google Shape;235;p48"/>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8"/>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8"/>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8"/>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8"/>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8"/>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8"/>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8"/>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8"/>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8"/>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8"/>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8"/>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8"/>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8"/>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8"/>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8"/>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8"/>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8"/>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8"/>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7" name="Google Shape;257;p48"/>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800"/>
              <a:buNone/>
              <a:defRPr sz="1800">
                <a:solidFill>
                  <a:srgbClr val="434343"/>
                </a:solidFill>
              </a:defRPr>
            </a:lvl1pPr>
            <a:lvl2pPr lvl="1" algn="ctr">
              <a:spcBef>
                <a:spcPts val="1600"/>
              </a:spcBef>
              <a:spcAft>
                <a:spcPts val="0"/>
              </a:spcAft>
              <a:buClr>
                <a:srgbClr val="434343"/>
              </a:buClr>
              <a:buSzPts val="1800"/>
              <a:buNone/>
              <a:defRPr sz="1800">
                <a:solidFill>
                  <a:srgbClr val="434343"/>
                </a:solidFill>
              </a:defRPr>
            </a:lvl2pPr>
            <a:lvl3pPr lvl="2" algn="ctr">
              <a:spcBef>
                <a:spcPts val="1600"/>
              </a:spcBef>
              <a:spcAft>
                <a:spcPts val="0"/>
              </a:spcAft>
              <a:buClr>
                <a:srgbClr val="434343"/>
              </a:buClr>
              <a:buSzPts val="1800"/>
              <a:buNone/>
              <a:defRPr sz="1800">
                <a:solidFill>
                  <a:srgbClr val="434343"/>
                </a:solidFill>
              </a:defRPr>
            </a:lvl3pPr>
            <a:lvl4pPr lvl="3" algn="ctr">
              <a:spcBef>
                <a:spcPts val="1600"/>
              </a:spcBef>
              <a:spcAft>
                <a:spcPts val="0"/>
              </a:spcAft>
              <a:buClr>
                <a:srgbClr val="434343"/>
              </a:buClr>
              <a:buSzPts val="1400"/>
              <a:buNone/>
              <a:defRPr>
                <a:solidFill>
                  <a:srgbClr val="434343"/>
                </a:solidFill>
              </a:defRPr>
            </a:lvl4pPr>
            <a:lvl5pPr lvl="4" algn="ctr">
              <a:spcBef>
                <a:spcPts val="1600"/>
              </a:spcBef>
              <a:spcAft>
                <a:spcPts val="0"/>
              </a:spcAft>
              <a:buClr>
                <a:srgbClr val="434343"/>
              </a:buClr>
              <a:buSzPts val="1400"/>
              <a:buNone/>
              <a:defRPr>
                <a:solidFill>
                  <a:srgbClr val="434343"/>
                </a:solidFill>
              </a:defRPr>
            </a:lvl5pPr>
            <a:lvl6pPr lvl="5" algn="ctr">
              <a:spcBef>
                <a:spcPts val="1600"/>
              </a:spcBef>
              <a:spcAft>
                <a:spcPts val="0"/>
              </a:spcAft>
              <a:buClr>
                <a:srgbClr val="434343"/>
              </a:buClr>
              <a:buSzPts val="1400"/>
              <a:buNone/>
              <a:defRPr>
                <a:solidFill>
                  <a:srgbClr val="434343"/>
                </a:solidFill>
              </a:defRPr>
            </a:lvl6pPr>
            <a:lvl7pPr lvl="6" algn="ctr">
              <a:spcBef>
                <a:spcPts val="1600"/>
              </a:spcBef>
              <a:spcAft>
                <a:spcPts val="0"/>
              </a:spcAft>
              <a:buClr>
                <a:srgbClr val="434343"/>
              </a:buClr>
              <a:buSzPts val="1400"/>
              <a:buNone/>
              <a:defRPr>
                <a:solidFill>
                  <a:srgbClr val="434343"/>
                </a:solidFill>
              </a:defRPr>
            </a:lvl7pPr>
            <a:lvl8pPr lvl="7" algn="ctr">
              <a:spcBef>
                <a:spcPts val="1600"/>
              </a:spcBef>
              <a:spcAft>
                <a:spcPts val="0"/>
              </a:spcAft>
              <a:buClr>
                <a:srgbClr val="434343"/>
              </a:buClr>
              <a:buSzPts val="1400"/>
              <a:buNone/>
              <a:defRPr>
                <a:solidFill>
                  <a:srgbClr val="434343"/>
                </a:solidFill>
              </a:defRPr>
            </a:lvl8pPr>
            <a:lvl9pPr lvl="8" algn="ctr">
              <a:spcBef>
                <a:spcPts val="1600"/>
              </a:spcBef>
              <a:spcAft>
                <a:spcPts val="1600"/>
              </a:spcAft>
              <a:buClr>
                <a:srgbClr val="434343"/>
              </a:buClr>
              <a:buSzPts val="1400"/>
              <a:buNone/>
              <a:defRPr>
                <a:solidFill>
                  <a:srgbClr val="434343"/>
                </a:solidFill>
              </a:defRPr>
            </a:lvl9pPr>
          </a:lstStyle>
          <a:p/>
        </p:txBody>
      </p:sp>
      <p:sp>
        <p:nvSpPr>
          <p:cNvPr id="258" name="Google Shape;258;p48"/>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60" name="Shape 260"/>
        <p:cNvGrpSpPr/>
        <p:nvPr/>
      </p:nvGrpSpPr>
      <p:grpSpPr>
        <a:xfrm>
          <a:off x="0" y="0"/>
          <a:ext cx="0" cy="0"/>
          <a:chOff x="0" y="0"/>
          <a:chExt cx="0" cy="0"/>
        </a:xfrm>
      </p:grpSpPr>
      <p:sp>
        <p:nvSpPr>
          <p:cNvPr id="261" name="Google Shape;261;p49"/>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algn="ctr">
              <a:spcBef>
                <a:spcPts val="0"/>
              </a:spcBef>
              <a:spcAft>
                <a:spcPts val="0"/>
              </a:spcAft>
              <a:buSzPts val="2400"/>
              <a:buChar char="●"/>
              <a:defRPr i="1" sz="2400"/>
            </a:lvl1pPr>
            <a:lvl2pPr indent="-317500" lvl="1" marL="914400" algn="ctr">
              <a:spcBef>
                <a:spcPts val="1600"/>
              </a:spcBef>
              <a:spcAft>
                <a:spcPts val="0"/>
              </a:spcAft>
              <a:buSzPts val="1400"/>
              <a:buChar char="○"/>
              <a:defRPr i="1"/>
            </a:lvl2pPr>
            <a:lvl3pPr indent="-317500" lvl="2" marL="1371600" algn="ctr">
              <a:spcBef>
                <a:spcPts val="1600"/>
              </a:spcBef>
              <a:spcAft>
                <a:spcPts val="0"/>
              </a:spcAft>
              <a:buSzPts val="1400"/>
              <a:buChar char="■"/>
              <a:defRPr i="1"/>
            </a:lvl3pPr>
            <a:lvl4pPr indent="-381000" lvl="3" marL="1828800" algn="ctr">
              <a:spcBef>
                <a:spcPts val="1600"/>
              </a:spcBef>
              <a:spcAft>
                <a:spcPts val="0"/>
              </a:spcAft>
              <a:buSzPts val="2400"/>
              <a:buChar char="●"/>
              <a:defRPr i="1" sz="2400"/>
            </a:lvl4pPr>
            <a:lvl5pPr indent="-381000" lvl="4" marL="2286000" algn="ctr">
              <a:spcBef>
                <a:spcPts val="1600"/>
              </a:spcBef>
              <a:spcAft>
                <a:spcPts val="0"/>
              </a:spcAft>
              <a:buSzPts val="2400"/>
              <a:buChar char="○"/>
              <a:defRPr i="1" sz="2400"/>
            </a:lvl5pPr>
            <a:lvl6pPr indent="-381000" lvl="5" marL="2743200" algn="ctr">
              <a:spcBef>
                <a:spcPts val="1600"/>
              </a:spcBef>
              <a:spcAft>
                <a:spcPts val="0"/>
              </a:spcAft>
              <a:buSzPts val="2400"/>
              <a:buChar char="■"/>
              <a:defRPr i="1" sz="2400"/>
            </a:lvl6pPr>
            <a:lvl7pPr indent="-381000" lvl="6" marL="3200400" algn="ctr">
              <a:spcBef>
                <a:spcPts val="1600"/>
              </a:spcBef>
              <a:spcAft>
                <a:spcPts val="0"/>
              </a:spcAft>
              <a:buSzPts val="2400"/>
              <a:buChar char="●"/>
              <a:defRPr i="1" sz="2400"/>
            </a:lvl7pPr>
            <a:lvl8pPr indent="-381000" lvl="7" marL="3657600" algn="ctr">
              <a:spcBef>
                <a:spcPts val="1600"/>
              </a:spcBef>
              <a:spcAft>
                <a:spcPts val="0"/>
              </a:spcAft>
              <a:buSzPts val="2400"/>
              <a:buChar char="○"/>
              <a:defRPr i="1" sz="2400"/>
            </a:lvl8pPr>
            <a:lvl9pPr indent="-381000" lvl="8" marL="4114800" algn="ctr">
              <a:spcBef>
                <a:spcPts val="1600"/>
              </a:spcBef>
              <a:spcAft>
                <a:spcPts val="1600"/>
              </a:spcAft>
              <a:buSzPts val="2400"/>
              <a:buChar char="■"/>
              <a:defRPr i="1" sz="2400"/>
            </a:lvl9pPr>
          </a:lstStyle>
          <a:p/>
        </p:txBody>
      </p:sp>
      <p:sp>
        <p:nvSpPr>
          <p:cNvPr id="262" name="Google Shape;262;p49"/>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63" name="Google Shape;263;p49"/>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9"/>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9"/>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9"/>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9"/>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9"/>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9"/>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9"/>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9"/>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9"/>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9"/>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9"/>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9"/>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9"/>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9"/>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85" name="Shape 285"/>
        <p:cNvGrpSpPr/>
        <p:nvPr/>
      </p:nvGrpSpPr>
      <p:grpSpPr>
        <a:xfrm>
          <a:off x="0" y="0"/>
          <a:ext cx="0" cy="0"/>
          <a:chOff x="0" y="0"/>
          <a:chExt cx="0" cy="0"/>
        </a:xfrm>
      </p:grpSpPr>
      <p:sp>
        <p:nvSpPr>
          <p:cNvPr id="286" name="Google Shape;286;p50"/>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7" name="Google Shape;287;p50"/>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0"/>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0"/>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0"/>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2" name="Google Shape;302;p50"/>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3" name="Google Shape;303;p50"/>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4" name="Google Shape;304;p5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305" name="Shape 305"/>
        <p:cNvGrpSpPr/>
        <p:nvPr/>
      </p:nvGrpSpPr>
      <p:grpSpPr>
        <a:xfrm>
          <a:off x="0" y="0"/>
          <a:ext cx="0" cy="0"/>
          <a:chOff x="0" y="0"/>
          <a:chExt cx="0" cy="0"/>
        </a:xfrm>
      </p:grpSpPr>
      <p:sp>
        <p:nvSpPr>
          <p:cNvPr id="306" name="Google Shape;306;p51"/>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 name="Google Shape;307;p51"/>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1.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theme" Target="../theme/theme4.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6" name="Google Shape;166;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67" name="Google Shape;16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6.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hyperlink" Target="https://modernadventure.com/" TargetMode="External"/><Relationship Id="rId9" Type="http://schemas.openxmlformats.org/officeDocument/2006/relationships/image" Target="../media/image21.png"/><Relationship Id="rId5" Type="http://schemas.openxmlformats.org/officeDocument/2006/relationships/hyperlink" Target="https://modernadventure.com/our-trips/" TargetMode="External"/><Relationship Id="rId6" Type="http://schemas.openxmlformats.org/officeDocument/2006/relationships/hyperlink" Target="https://modernadventure.com/our-trips/oaxaca-with-erik-anderson/" TargetMode="External"/><Relationship Id="rId7" Type="http://schemas.openxmlformats.org/officeDocument/2006/relationships/hyperlink" Target="https://modernadventure.com/our-trips/oaxaca-with-heath-ceramics/" TargetMode="External"/><Relationship Id="rId8" Type="http://schemas.openxmlformats.org/officeDocument/2006/relationships/hyperlink" Target="https://modernadventure.com/our-trips/oaxaca-with-fany-gerso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12.png"/><Relationship Id="rId6"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61" name="Google Shape;361;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62" name="Google Shape;362;p5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63" name="Google Shape;363;p56"/>
          <p:cNvGraphicFramePr/>
          <p:nvPr/>
        </p:nvGraphicFramePr>
        <p:xfrm>
          <a:off x="4205638" y="929363"/>
          <a:ext cx="3000000" cy="3000000"/>
        </p:xfrm>
        <a:graphic>
          <a:graphicData uri="http://schemas.openxmlformats.org/drawingml/2006/table">
            <a:tbl>
              <a:tblPr>
                <a:noFill/>
                <a:tableStyleId>{C2DB53EE-91C8-4E1F-A037-AFCE2E54B87E}</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7" name="Shape 367"/>
        <p:cNvGrpSpPr/>
        <p:nvPr/>
      </p:nvGrpSpPr>
      <p:grpSpPr>
        <a:xfrm>
          <a:off x="0" y="0"/>
          <a:ext cx="0" cy="0"/>
          <a:chOff x="0" y="0"/>
          <a:chExt cx="0" cy="0"/>
        </a:xfrm>
      </p:grpSpPr>
      <p:pic>
        <p:nvPicPr>
          <p:cNvPr id="368" name="Google Shape;368;p57"/>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69" name="Google Shape;369;p57"/>
          <p:cNvSpPr txBox="1"/>
          <p:nvPr/>
        </p:nvSpPr>
        <p:spPr>
          <a:xfrm>
            <a:off x="384550" y="1195525"/>
            <a:ext cx="85848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[ACTION TO TAKE - DELETE THIS SLDIE WHEN COMPLETE]</a:t>
            </a:r>
            <a:endParaRPr b="1" sz="2400">
              <a:solidFill>
                <a:schemeClr val="lt1"/>
              </a:solidFill>
              <a:latin typeface="Proxima Nova"/>
              <a:ea typeface="Proxima Nova"/>
              <a:cs typeface="Proxima Nova"/>
              <a:sym typeface="Proxima Nova"/>
            </a:endParaRPr>
          </a:p>
        </p:txBody>
      </p:sp>
      <p:sp>
        <p:nvSpPr>
          <p:cNvPr id="370" name="Google Shape;370;p57"/>
          <p:cNvSpPr txBox="1"/>
          <p:nvPr/>
        </p:nvSpPr>
        <p:spPr>
          <a:xfrm>
            <a:off x="384550" y="1650925"/>
            <a:ext cx="7140000" cy="27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From the following set of slides (7-14), keep the slide that applies to your client’s Target Industry (what you selected in the “Getting Started” tab of the WQA, and delete all of the other “What comes out of the “WQA” - Site Sections” slides.</a:t>
            </a:r>
            <a:endParaRPr sz="2400">
              <a:solidFill>
                <a:schemeClr val="lt1"/>
              </a:solidFill>
              <a:latin typeface="Proxima Nova"/>
              <a:ea typeface="Proxima Nova"/>
              <a:cs typeface="Proxima Nova"/>
              <a:sym typeface="Proxima Nova"/>
            </a:endParaRPr>
          </a:p>
        </p:txBody>
      </p:sp>
      <p:pic>
        <p:nvPicPr>
          <p:cNvPr id="371" name="Google Shape;371;p57"/>
          <p:cNvPicPr preferRelativeResize="0"/>
          <p:nvPr/>
        </p:nvPicPr>
        <p:blipFill>
          <a:blip r:embed="rId4">
            <a:alphaModFix/>
          </a:blip>
          <a:stretch>
            <a:fillRect/>
          </a:stretch>
        </p:blipFill>
        <p:spPr>
          <a:xfrm>
            <a:off x="7029450" y="4278199"/>
            <a:ext cx="1712674" cy="403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375" name="Shape 375"/>
        <p:cNvGrpSpPr/>
        <p:nvPr/>
      </p:nvGrpSpPr>
      <p:grpSpPr>
        <a:xfrm>
          <a:off x="0" y="0"/>
          <a:ext cx="0" cy="0"/>
          <a:chOff x="0" y="0"/>
          <a:chExt cx="0" cy="0"/>
        </a:xfrm>
      </p:grpSpPr>
      <p:pic>
        <p:nvPicPr>
          <p:cNvPr id="376" name="Google Shape;376;p5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77" name="Google Shape;377;p5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79" name="Google Shape;379;p5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80" name="Google Shape;380;p58"/>
          <p:cNvGraphicFramePr/>
          <p:nvPr/>
        </p:nvGraphicFramePr>
        <p:xfrm>
          <a:off x="4264750" y="829363"/>
          <a:ext cx="3000000" cy="3000000"/>
        </p:xfrm>
        <a:graphic>
          <a:graphicData uri="http://schemas.openxmlformats.org/drawingml/2006/table">
            <a:tbl>
              <a:tblPr>
                <a:noFill/>
                <a:tableStyleId>{D45BD097-9C20-47AD-853B-368945867A13}</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81" name="Google Shape;381;p5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pic>
        <p:nvPicPr>
          <p:cNvPr id="386" name="Google Shape;386;p5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87" name="Google Shape;387;p5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89" name="Google Shape;389;p5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90" name="Google Shape;390;p5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91" name="Google Shape;391;p5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92" name="Google Shape;392;p59"/>
          <p:cNvGraphicFramePr/>
          <p:nvPr/>
        </p:nvGraphicFramePr>
        <p:xfrm>
          <a:off x="4205638" y="929363"/>
          <a:ext cx="3000000" cy="3000000"/>
        </p:xfrm>
        <a:graphic>
          <a:graphicData uri="http://schemas.openxmlformats.org/drawingml/2006/table">
            <a:tbl>
              <a:tblPr>
                <a:noFill/>
                <a:tableStyleId>{C2DB53EE-91C8-4E1F-A037-AFCE2E54B87E}</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98" name="Google Shape;398;p6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00" name="Google Shape;400;p6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01" name="Google Shape;401;p6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02" name="Google Shape;402;p6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OTA (Online Travel Agencies)</a:t>
            </a:r>
            <a:endParaRPr sz="1600">
              <a:solidFill>
                <a:srgbClr val="E21A6B"/>
              </a:solidFill>
              <a:latin typeface="Proxima Nova"/>
              <a:ea typeface="Proxima Nova"/>
              <a:cs typeface="Proxima Nova"/>
              <a:sym typeface="Proxima Nova"/>
            </a:endParaRPr>
          </a:p>
        </p:txBody>
      </p:sp>
      <p:graphicFrame>
        <p:nvGraphicFramePr>
          <p:cNvPr id="403" name="Google Shape;403;p60"/>
          <p:cNvGraphicFramePr/>
          <p:nvPr/>
        </p:nvGraphicFramePr>
        <p:xfrm>
          <a:off x="4205650" y="1315125"/>
          <a:ext cx="3000000" cy="3000000"/>
        </p:xfrm>
        <a:graphic>
          <a:graphicData uri="http://schemas.openxmlformats.org/drawingml/2006/table">
            <a:tbl>
              <a:tblPr>
                <a:noFill/>
                <a:tableStyleId>{C2DB53EE-91C8-4E1F-A037-AFCE2E54B87E}</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07" name="Shape 407"/>
        <p:cNvGrpSpPr/>
        <p:nvPr/>
      </p:nvGrpSpPr>
      <p:grpSpPr>
        <a:xfrm>
          <a:off x="0" y="0"/>
          <a:ext cx="0" cy="0"/>
          <a:chOff x="0" y="0"/>
          <a:chExt cx="0" cy="0"/>
        </a:xfrm>
      </p:grpSpPr>
      <p:pic>
        <p:nvPicPr>
          <p:cNvPr id="408" name="Google Shape;408;p6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09" name="Google Shape;409;p6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11" name="Google Shape;411;p6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12" name="Google Shape;412;p6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13" name="Google Shape;413;p61"/>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Management Companies (TMC)</a:t>
            </a:r>
            <a:endParaRPr sz="1600">
              <a:solidFill>
                <a:srgbClr val="E21A6B"/>
              </a:solidFill>
              <a:latin typeface="Proxima Nova"/>
              <a:ea typeface="Proxima Nova"/>
              <a:cs typeface="Proxima Nova"/>
              <a:sym typeface="Proxima Nova"/>
            </a:endParaRPr>
          </a:p>
        </p:txBody>
      </p:sp>
      <p:graphicFrame>
        <p:nvGraphicFramePr>
          <p:cNvPr id="414" name="Google Shape;414;p61"/>
          <p:cNvGraphicFramePr/>
          <p:nvPr/>
        </p:nvGraphicFramePr>
        <p:xfrm>
          <a:off x="4196575" y="1200825"/>
          <a:ext cx="3000000" cy="3000000"/>
        </p:xfrm>
        <a:graphic>
          <a:graphicData uri="http://schemas.openxmlformats.org/drawingml/2006/table">
            <a:tbl>
              <a:tblPr>
                <a:noFill/>
                <a:tableStyleId>{C2DB53EE-91C8-4E1F-A037-AFCE2E54B87E}</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18" name="Shape 418"/>
        <p:cNvGrpSpPr/>
        <p:nvPr/>
      </p:nvGrpSpPr>
      <p:grpSpPr>
        <a:xfrm>
          <a:off x="0" y="0"/>
          <a:ext cx="0" cy="0"/>
          <a:chOff x="0" y="0"/>
          <a:chExt cx="0" cy="0"/>
        </a:xfrm>
      </p:grpSpPr>
      <p:pic>
        <p:nvPicPr>
          <p:cNvPr id="419" name="Google Shape;419;p6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20" name="Google Shape;420;p6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22" name="Google Shape;422;p6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23" name="Google Shape;423;p6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24" name="Google Shape;424;p6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DMO (Destination Marketing Organizations)</a:t>
            </a:r>
            <a:endParaRPr sz="1600">
              <a:solidFill>
                <a:srgbClr val="E21A6B"/>
              </a:solidFill>
              <a:latin typeface="Proxima Nova"/>
              <a:ea typeface="Proxima Nova"/>
              <a:cs typeface="Proxima Nova"/>
              <a:sym typeface="Proxima Nova"/>
            </a:endParaRPr>
          </a:p>
        </p:txBody>
      </p:sp>
      <p:graphicFrame>
        <p:nvGraphicFramePr>
          <p:cNvPr id="425" name="Google Shape;425;p62"/>
          <p:cNvGraphicFramePr/>
          <p:nvPr/>
        </p:nvGraphicFramePr>
        <p:xfrm>
          <a:off x="4214750" y="836225"/>
          <a:ext cx="3000000" cy="3000000"/>
        </p:xfrm>
        <a:graphic>
          <a:graphicData uri="http://schemas.openxmlformats.org/drawingml/2006/table">
            <a:tbl>
              <a:tblPr>
                <a:noFill/>
                <a:tableStyleId>{C2DB53EE-91C8-4E1F-A037-AFCE2E54B87E}</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29" name="Shape 429"/>
        <p:cNvGrpSpPr/>
        <p:nvPr/>
      </p:nvGrpSpPr>
      <p:grpSpPr>
        <a:xfrm>
          <a:off x="0" y="0"/>
          <a:ext cx="0" cy="0"/>
          <a:chOff x="0" y="0"/>
          <a:chExt cx="0" cy="0"/>
        </a:xfrm>
      </p:grpSpPr>
      <p:pic>
        <p:nvPicPr>
          <p:cNvPr id="430" name="Google Shape;430;p6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31" name="Google Shape;431;p6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33" name="Google Shape;433;p6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34" name="Google Shape;434;p6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35" name="Google Shape;435;p6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Hotels, Resorts &amp; Casinos</a:t>
            </a:r>
            <a:endParaRPr sz="1600">
              <a:solidFill>
                <a:srgbClr val="E21A6B"/>
              </a:solidFill>
              <a:latin typeface="Proxima Nova"/>
              <a:ea typeface="Proxima Nova"/>
              <a:cs typeface="Proxima Nova"/>
              <a:sym typeface="Proxima Nova"/>
            </a:endParaRPr>
          </a:p>
        </p:txBody>
      </p:sp>
      <p:graphicFrame>
        <p:nvGraphicFramePr>
          <p:cNvPr id="436" name="Google Shape;436;p63"/>
          <p:cNvGraphicFramePr/>
          <p:nvPr/>
        </p:nvGraphicFramePr>
        <p:xfrm>
          <a:off x="4121350" y="1036250"/>
          <a:ext cx="3000000" cy="3000000"/>
        </p:xfrm>
        <a:graphic>
          <a:graphicData uri="http://schemas.openxmlformats.org/drawingml/2006/table">
            <a:tbl>
              <a:tblPr>
                <a:noFill/>
                <a:tableStyleId>{C2DB53EE-91C8-4E1F-A037-AFCE2E54B87E}</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0" name="Shape 440"/>
        <p:cNvGrpSpPr/>
        <p:nvPr/>
      </p:nvGrpSpPr>
      <p:grpSpPr>
        <a:xfrm>
          <a:off x="0" y="0"/>
          <a:ext cx="0" cy="0"/>
          <a:chOff x="0" y="0"/>
          <a:chExt cx="0" cy="0"/>
        </a:xfrm>
      </p:grpSpPr>
      <p:pic>
        <p:nvPicPr>
          <p:cNvPr id="441" name="Google Shape;441;p6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42" name="Google Shape;442;p6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44" name="Google Shape;444;p64"/>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45" name="Google Shape;445;p6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46" name="Google Shape;446;p64"/>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Vacation Rentals</a:t>
            </a:r>
            <a:endParaRPr sz="1600">
              <a:solidFill>
                <a:srgbClr val="E21A6B"/>
              </a:solidFill>
              <a:latin typeface="Proxima Nova"/>
              <a:ea typeface="Proxima Nova"/>
              <a:cs typeface="Proxima Nova"/>
              <a:sym typeface="Proxima Nova"/>
            </a:endParaRPr>
          </a:p>
        </p:txBody>
      </p:sp>
      <p:graphicFrame>
        <p:nvGraphicFramePr>
          <p:cNvPr id="447" name="Google Shape;447;p64"/>
          <p:cNvGraphicFramePr/>
          <p:nvPr/>
        </p:nvGraphicFramePr>
        <p:xfrm>
          <a:off x="4084975" y="943650"/>
          <a:ext cx="3000000" cy="3000000"/>
        </p:xfrm>
        <a:graphic>
          <a:graphicData uri="http://schemas.openxmlformats.org/drawingml/2006/table">
            <a:tbl>
              <a:tblPr>
                <a:noFill/>
                <a:tableStyleId>{C2DB53EE-91C8-4E1F-A037-AFCE2E54B87E}</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1" name="Shape 451"/>
        <p:cNvGrpSpPr/>
        <p:nvPr/>
      </p:nvGrpSpPr>
      <p:grpSpPr>
        <a:xfrm>
          <a:off x="0" y="0"/>
          <a:ext cx="0" cy="0"/>
          <a:chOff x="0" y="0"/>
          <a:chExt cx="0" cy="0"/>
        </a:xfrm>
      </p:grpSpPr>
      <p:pic>
        <p:nvPicPr>
          <p:cNvPr id="452" name="Google Shape;452;p65"/>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53" name="Google Shape;453;p65"/>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5"/>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55" name="Google Shape;455;p65"/>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56" name="Google Shape;456;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57" name="Google Shape;457;p65"/>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Multi-Day Tours</a:t>
            </a:r>
            <a:endParaRPr sz="1600">
              <a:solidFill>
                <a:srgbClr val="E21A6B"/>
              </a:solidFill>
              <a:latin typeface="Proxima Nova"/>
              <a:ea typeface="Proxima Nova"/>
              <a:cs typeface="Proxima Nova"/>
              <a:sym typeface="Proxima Nova"/>
            </a:endParaRPr>
          </a:p>
        </p:txBody>
      </p:sp>
      <p:graphicFrame>
        <p:nvGraphicFramePr>
          <p:cNvPr id="458" name="Google Shape;458;p65"/>
          <p:cNvGraphicFramePr/>
          <p:nvPr/>
        </p:nvGraphicFramePr>
        <p:xfrm>
          <a:off x="4084975" y="842963"/>
          <a:ext cx="3000000" cy="3000000"/>
        </p:xfrm>
        <a:graphic>
          <a:graphicData uri="http://schemas.openxmlformats.org/drawingml/2006/table">
            <a:tbl>
              <a:tblPr>
                <a:noFill/>
                <a:tableStyleId>{C2DB53EE-91C8-4E1F-A037-AFCE2E54B87E}</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62" name="Shape 462"/>
        <p:cNvGrpSpPr/>
        <p:nvPr/>
      </p:nvGrpSpPr>
      <p:grpSpPr>
        <a:xfrm>
          <a:off x="0" y="0"/>
          <a:ext cx="0" cy="0"/>
          <a:chOff x="0" y="0"/>
          <a:chExt cx="0" cy="0"/>
        </a:xfrm>
      </p:grpSpPr>
      <p:pic>
        <p:nvPicPr>
          <p:cNvPr id="463" name="Google Shape;463;p6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64" name="Google Shape;464;p6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66" name="Google Shape;466;p6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67" name="Google Shape;467;p6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68" name="Google Shape;468;p6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Charter Company</a:t>
            </a:r>
            <a:endParaRPr sz="1600">
              <a:solidFill>
                <a:srgbClr val="E21A6B"/>
              </a:solidFill>
              <a:latin typeface="Proxima Nova"/>
              <a:ea typeface="Proxima Nova"/>
              <a:cs typeface="Proxima Nova"/>
              <a:sym typeface="Proxima Nova"/>
            </a:endParaRPr>
          </a:p>
        </p:txBody>
      </p:sp>
      <p:graphicFrame>
        <p:nvGraphicFramePr>
          <p:cNvPr id="469" name="Google Shape;469;p66"/>
          <p:cNvGraphicFramePr/>
          <p:nvPr/>
        </p:nvGraphicFramePr>
        <p:xfrm>
          <a:off x="4084975" y="644025"/>
          <a:ext cx="3000000" cy="3000000"/>
        </p:xfrm>
        <a:graphic>
          <a:graphicData uri="http://schemas.openxmlformats.org/drawingml/2006/table">
            <a:tbl>
              <a:tblPr>
                <a:noFill/>
                <a:tableStyleId>{C2DB53EE-91C8-4E1F-A037-AFCE2E54B87E}</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73" name="Shape 473"/>
        <p:cNvGrpSpPr/>
        <p:nvPr/>
      </p:nvGrpSpPr>
      <p:grpSpPr>
        <a:xfrm>
          <a:off x="0" y="0"/>
          <a:ext cx="0" cy="0"/>
          <a:chOff x="0" y="0"/>
          <a:chExt cx="0" cy="0"/>
        </a:xfrm>
      </p:grpSpPr>
      <p:pic>
        <p:nvPicPr>
          <p:cNvPr id="474" name="Google Shape;474;p6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75" name="Google Shape;475;p6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77" name="Google Shape;477;p6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78" name="Google Shape;478;p6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79" name="Google Shape;479;p67"/>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Media Publishers</a:t>
            </a:r>
            <a:endParaRPr sz="1600">
              <a:solidFill>
                <a:srgbClr val="E21A6B"/>
              </a:solidFill>
              <a:latin typeface="Proxima Nova"/>
              <a:ea typeface="Proxima Nova"/>
              <a:cs typeface="Proxima Nova"/>
              <a:sym typeface="Proxima Nova"/>
            </a:endParaRPr>
          </a:p>
        </p:txBody>
      </p:sp>
      <p:graphicFrame>
        <p:nvGraphicFramePr>
          <p:cNvPr id="480" name="Google Shape;480;p67"/>
          <p:cNvGraphicFramePr/>
          <p:nvPr/>
        </p:nvGraphicFramePr>
        <p:xfrm>
          <a:off x="4081475" y="772200"/>
          <a:ext cx="3000000" cy="3000000"/>
        </p:xfrm>
        <a:graphic>
          <a:graphicData uri="http://schemas.openxmlformats.org/drawingml/2006/table">
            <a:tbl>
              <a:tblPr>
                <a:noFill/>
                <a:tableStyleId>{C2DB53EE-91C8-4E1F-A037-AFCE2E54B87E}</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84" name="Shape 484"/>
        <p:cNvGrpSpPr/>
        <p:nvPr/>
      </p:nvGrpSpPr>
      <p:grpSpPr>
        <a:xfrm>
          <a:off x="0" y="0"/>
          <a:ext cx="0" cy="0"/>
          <a:chOff x="0" y="0"/>
          <a:chExt cx="0" cy="0"/>
        </a:xfrm>
      </p:grpSpPr>
      <p:pic>
        <p:nvPicPr>
          <p:cNvPr id="485" name="Google Shape;485;p6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86" name="Google Shape;486;p6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88" name="Google Shape;488;p6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89" name="Google Shape;489;p6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90" name="Google Shape;490;p6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Ancillaries</a:t>
            </a:r>
            <a:endParaRPr sz="1600">
              <a:solidFill>
                <a:srgbClr val="E21A6B"/>
              </a:solidFill>
              <a:latin typeface="Proxima Nova"/>
              <a:ea typeface="Proxima Nova"/>
              <a:cs typeface="Proxima Nova"/>
              <a:sym typeface="Proxima Nova"/>
            </a:endParaRPr>
          </a:p>
        </p:txBody>
      </p:sp>
      <p:graphicFrame>
        <p:nvGraphicFramePr>
          <p:cNvPr id="491" name="Google Shape;491;p68"/>
          <p:cNvGraphicFramePr/>
          <p:nvPr/>
        </p:nvGraphicFramePr>
        <p:xfrm>
          <a:off x="4081475" y="752825"/>
          <a:ext cx="3000000" cy="3000000"/>
        </p:xfrm>
        <a:graphic>
          <a:graphicData uri="http://schemas.openxmlformats.org/drawingml/2006/table">
            <a:tbl>
              <a:tblPr>
                <a:noFill/>
                <a:tableStyleId>{C2DB53EE-91C8-4E1F-A037-AFCE2E54B87E}</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95" name="Shape 495"/>
        <p:cNvGrpSpPr/>
        <p:nvPr/>
      </p:nvGrpSpPr>
      <p:grpSpPr>
        <a:xfrm>
          <a:off x="0" y="0"/>
          <a:ext cx="0" cy="0"/>
          <a:chOff x="0" y="0"/>
          <a:chExt cx="0" cy="0"/>
        </a:xfrm>
      </p:grpSpPr>
      <p:pic>
        <p:nvPicPr>
          <p:cNvPr id="496" name="Google Shape;496;p6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97" name="Google Shape;497;p6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99" name="Google Shape;499;p6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00" name="Google Shape;500;p6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01" name="Google Shape;501;p6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Ground Transportation</a:t>
            </a:r>
            <a:endParaRPr sz="1600">
              <a:solidFill>
                <a:srgbClr val="E21A6B"/>
              </a:solidFill>
              <a:latin typeface="Proxima Nova"/>
              <a:ea typeface="Proxima Nova"/>
              <a:cs typeface="Proxima Nova"/>
              <a:sym typeface="Proxima Nova"/>
            </a:endParaRPr>
          </a:p>
        </p:txBody>
      </p:sp>
      <p:graphicFrame>
        <p:nvGraphicFramePr>
          <p:cNvPr id="502" name="Google Shape;502;p69"/>
          <p:cNvGraphicFramePr/>
          <p:nvPr/>
        </p:nvGraphicFramePr>
        <p:xfrm>
          <a:off x="4157675" y="881063"/>
          <a:ext cx="3000000" cy="3000000"/>
        </p:xfrm>
        <a:graphic>
          <a:graphicData uri="http://schemas.openxmlformats.org/drawingml/2006/table">
            <a:tbl>
              <a:tblPr>
                <a:noFill/>
                <a:tableStyleId>{C2DB53EE-91C8-4E1F-A037-AFCE2E54B87E}</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06" name="Shape 506"/>
        <p:cNvGrpSpPr/>
        <p:nvPr/>
      </p:nvGrpSpPr>
      <p:grpSpPr>
        <a:xfrm>
          <a:off x="0" y="0"/>
          <a:ext cx="0" cy="0"/>
          <a:chOff x="0" y="0"/>
          <a:chExt cx="0" cy="0"/>
        </a:xfrm>
      </p:grpSpPr>
      <p:pic>
        <p:nvPicPr>
          <p:cNvPr id="507" name="Google Shape;507;p7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08" name="Google Shape;508;p7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10" name="Google Shape;510;p7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11" name="Google Shape;511;p7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12" name="Google Shape;512;p7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Ecom (Travel Gear, Clothing &amp; Products)</a:t>
            </a:r>
            <a:endParaRPr sz="1600">
              <a:solidFill>
                <a:srgbClr val="E21A6B"/>
              </a:solidFill>
              <a:latin typeface="Proxima Nova"/>
              <a:ea typeface="Proxima Nova"/>
              <a:cs typeface="Proxima Nova"/>
              <a:sym typeface="Proxima Nova"/>
            </a:endParaRPr>
          </a:p>
        </p:txBody>
      </p:sp>
      <p:graphicFrame>
        <p:nvGraphicFramePr>
          <p:cNvPr id="513" name="Google Shape;513;p70"/>
          <p:cNvGraphicFramePr/>
          <p:nvPr/>
        </p:nvGraphicFramePr>
        <p:xfrm>
          <a:off x="4157675" y="819825"/>
          <a:ext cx="3000000" cy="3000000"/>
        </p:xfrm>
        <a:graphic>
          <a:graphicData uri="http://schemas.openxmlformats.org/drawingml/2006/table">
            <a:tbl>
              <a:tblPr>
                <a:noFill/>
                <a:tableStyleId>{C2DB53EE-91C8-4E1F-A037-AFCE2E54B87E}</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17" name="Shape 517"/>
        <p:cNvGrpSpPr/>
        <p:nvPr/>
      </p:nvGrpSpPr>
      <p:grpSpPr>
        <a:xfrm>
          <a:off x="0" y="0"/>
          <a:ext cx="0" cy="0"/>
          <a:chOff x="0" y="0"/>
          <a:chExt cx="0" cy="0"/>
        </a:xfrm>
      </p:grpSpPr>
      <p:pic>
        <p:nvPicPr>
          <p:cNvPr id="518" name="Google Shape;518;p7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19" name="Google Shape;519;p7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521" name="Google Shape;521;p71"/>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522" name="Google Shape;522;p7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523" name="Google Shape;523;p71"/>
          <p:cNvGraphicFramePr/>
          <p:nvPr/>
        </p:nvGraphicFramePr>
        <p:xfrm>
          <a:off x="4119000" y="143575"/>
          <a:ext cx="3000000" cy="3000000"/>
        </p:xfrm>
        <a:graphic>
          <a:graphicData uri="http://schemas.openxmlformats.org/drawingml/2006/table">
            <a:tbl>
              <a:tblPr>
                <a:noFill/>
                <a:tableStyleId>{D45BD097-9C20-47AD-853B-368945867A13}</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27" name="Shape 527"/>
        <p:cNvGrpSpPr/>
        <p:nvPr/>
      </p:nvGrpSpPr>
      <p:grpSpPr>
        <a:xfrm>
          <a:off x="0" y="0"/>
          <a:ext cx="0" cy="0"/>
          <a:chOff x="0" y="0"/>
          <a:chExt cx="0" cy="0"/>
        </a:xfrm>
      </p:grpSpPr>
      <p:sp>
        <p:nvSpPr>
          <p:cNvPr id="528" name="Google Shape;528;p7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29" name="Google Shape;529;p7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30" name="Google Shape;530;p72"/>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the structure of the clients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focusing in areas/producing too much content in categories that don’t produce bookings?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too heavy in pages that shouldn’t be indexed?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Or are they structuring their site well, and their appears to be a healthy number of Lead Gen/Product pages, in addition to Resources and Blog Posts?</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31" name="Google Shape;531;p7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32" name="Google Shape;532;p72"/>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pic>
        <p:nvPicPr>
          <p:cNvPr id="533" name="Google Shape;533;p72" title="Chart"/>
          <p:cNvPicPr preferRelativeResize="0"/>
          <p:nvPr/>
        </p:nvPicPr>
        <p:blipFill>
          <a:blip r:embed="rId4">
            <a:alphaModFix/>
          </a:blip>
          <a:stretch>
            <a:fillRect/>
          </a:stretch>
        </p:blipFill>
        <p:spPr>
          <a:xfrm>
            <a:off x="279625" y="1124513"/>
            <a:ext cx="5319024" cy="32889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37" name="Shape 537"/>
        <p:cNvGrpSpPr/>
        <p:nvPr/>
      </p:nvGrpSpPr>
      <p:grpSpPr>
        <a:xfrm>
          <a:off x="0" y="0"/>
          <a:ext cx="0" cy="0"/>
          <a:chOff x="0" y="0"/>
          <a:chExt cx="0" cy="0"/>
        </a:xfrm>
      </p:grpSpPr>
      <p:sp>
        <p:nvSpPr>
          <p:cNvPr id="538" name="Google Shape;538;p7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39" name="Google Shape;539;p7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40" name="Google Shape;540;p73"/>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accessibility of their site crawl:</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t>
            </a:r>
            <a:r>
              <a:rPr lang="en" sz="1100">
                <a:solidFill>
                  <a:schemeClr val="dk1"/>
                </a:solidFill>
                <a:latin typeface="Proxima Nova"/>
                <a:ea typeface="Proxima Nova"/>
                <a:cs typeface="Proxima Nova"/>
                <a:sym typeface="Proxima Nova"/>
              </a:rPr>
              <a:t>only</a:t>
            </a:r>
            <a:r>
              <a:rPr lang="en" sz="1100">
                <a:solidFill>
                  <a:schemeClr val="dk1"/>
                </a:solidFill>
                <a:latin typeface="Proxima Nova"/>
                <a:ea typeface="Proxima Nova"/>
                <a:cs typeface="Proxima Nova"/>
                <a:sym typeface="Proxima Nova"/>
              </a:rPr>
              <a:t> 200 Status pages (rare but possible), this slide may be useless, and you may not need to have a chart/highlight this on its own slide. Consider mentioning this in another slide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301s - call this out, and provide context on why this is an issue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404s, explain the significance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 large number of Forbidden responses or Time Out Status, explain this issue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41" name="Google Shape;541;p7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42" name="Google Shape;542;p73"/>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Heading</a:t>
            </a:r>
            <a:endParaRPr/>
          </a:p>
        </p:txBody>
      </p:sp>
      <p:pic>
        <p:nvPicPr>
          <p:cNvPr id="543" name="Google Shape;543;p73" title="Chart"/>
          <p:cNvPicPr preferRelativeResize="0"/>
          <p:nvPr/>
        </p:nvPicPr>
        <p:blipFill>
          <a:blip r:embed="rId4">
            <a:alphaModFix/>
          </a:blip>
          <a:stretch>
            <a:fillRect/>
          </a:stretch>
        </p:blipFill>
        <p:spPr>
          <a:xfrm>
            <a:off x="307825" y="1030650"/>
            <a:ext cx="4815951" cy="3082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47" name="Shape 547"/>
        <p:cNvGrpSpPr/>
        <p:nvPr/>
      </p:nvGrpSpPr>
      <p:grpSpPr>
        <a:xfrm>
          <a:off x="0" y="0"/>
          <a:ext cx="0" cy="0"/>
          <a:chOff x="0" y="0"/>
          <a:chExt cx="0" cy="0"/>
        </a:xfrm>
      </p:grpSpPr>
      <p:sp>
        <p:nvSpPr>
          <p:cNvPr id="548" name="Google Shape;548;p74"/>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49" name="Google Shape;549;p74"/>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50" name="Google Shape;550;p74"/>
          <p:cNvSpPr txBox="1"/>
          <p:nvPr/>
        </p:nvSpPr>
        <p:spPr>
          <a:xfrm>
            <a:off x="6020200" y="1986425"/>
            <a:ext cx="2811300" cy="24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Provide insights into the </a:t>
            </a:r>
            <a:r>
              <a:rPr lang="en" sz="1100">
                <a:solidFill>
                  <a:schemeClr val="dk1"/>
                </a:solidFill>
                <a:latin typeface="Proxima Nova"/>
                <a:ea typeface="Proxima Nova"/>
                <a:cs typeface="Proxima Nova"/>
                <a:sym typeface="Proxima Nova"/>
              </a:rPr>
              <a:t>distribution</a:t>
            </a:r>
            <a:r>
              <a:rPr lang="en" sz="1100">
                <a:solidFill>
                  <a:schemeClr val="dk1"/>
                </a:solidFill>
                <a:latin typeface="Proxima Nova"/>
                <a:ea typeface="Proxima Nova"/>
                <a:cs typeface="Proxima Nova"/>
                <a:sym typeface="Proxima Nova"/>
              </a:rPr>
              <a:t> of backlinks across various sections of the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how Link Authority gaps could be strong causes of underperformance.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if there is l</a:t>
            </a:r>
            <a:r>
              <a:rPr lang="en" sz="1100" u="sng">
                <a:solidFill>
                  <a:schemeClr val="dk1"/>
                </a:solidFill>
                <a:latin typeface="Proxima Nova"/>
                <a:ea typeface="Proxima Nova"/>
                <a:cs typeface="Proxima Nova"/>
                <a:sym typeface="Proxima Nova"/>
              </a:rPr>
              <a:t>arge link gap for areas of the site that drive bookings</a:t>
            </a:r>
            <a:r>
              <a:rPr lang="en" sz="1100">
                <a:solidFill>
                  <a:schemeClr val="dk1"/>
                </a:solidFill>
                <a:latin typeface="Proxima Nova"/>
                <a:ea typeface="Proxima Nova"/>
                <a:cs typeface="Proxima Nova"/>
                <a:sym typeface="Proxima Nova"/>
              </a:rPr>
              <a:t>, if applicable.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If possible/applicable, reference Link Gap findings from the Sales Proposal to identify notable gaps (Ex. if target term needs as many backlinks as an entire section of the client’s site currently has.</a:t>
            </a:r>
            <a:endParaRPr sz="1100">
              <a:solidFill>
                <a:schemeClr val="dk1"/>
              </a:solidFill>
              <a:latin typeface="Proxima Nova"/>
              <a:ea typeface="Proxima Nova"/>
              <a:cs typeface="Proxima Nova"/>
              <a:sym typeface="Proxima Nova"/>
            </a:endParaRPr>
          </a:p>
        </p:txBody>
      </p:sp>
      <p:sp>
        <p:nvSpPr>
          <p:cNvPr id="551" name="Google Shape;551;p74"/>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552" name="Google Shape;552;p74"/>
          <p:cNvSpPr txBox="1"/>
          <p:nvPr/>
        </p:nvSpPr>
        <p:spPr>
          <a:xfrm>
            <a:off x="6020200" y="11245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pic>
        <p:nvPicPr>
          <p:cNvPr id="553" name="Google Shape;553;p74" title="Chart"/>
          <p:cNvPicPr preferRelativeResize="0"/>
          <p:nvPr/>
        </p:nvPicPr>
        <p:blipFill>
          <a:blip r:embed="rId4">
            <a:alphaModFix/>
          </a:blip>
          <a:stretch>
            <a:fillRect/>
          </a:stretch>
        </p:blipFill>
        <p:spPr>
          <a:xfrm>
            <a:off x="515900" y="1159025"/>
            <a:ext cx="4720626" cy="30212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57" name="Shape 557"/>
        <p:cNvGrpSpPr/>
        <p:nvPr/>
      </p:nvGrpSpPr>
      <p:grpSpPr>
        <a:xfrm>
          <a:off x="0" y="0"/>
          <a:ext cx="0" cy="0"/>
          <a:chOff x="0" y="0"/>
          <a:chExt cx="0" cy="0"/>
        </a:xfrm>
      </p:grpSpPr>
      <p:sp>
        <p:nvSpPr>
          <p:cNvPr id="558" name="Google Shape;558;p75"/>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59" name="Google Shape;559;p75"/>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60" name="Google Shape;560;p75"/>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organic traffic by site section.</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section is bringing in the most traffic? Is this branded or non-branded?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Does performance by site section correlate with the number of pages in each </a:t>
            </a:r>
            <a:r>
              <a:rPr lang="en" sz="1100">
                <a:solidFill>
                  <a:schemeClr val="dk1"/>
                </a:solidFill>
                <a:latin typeface="Proxima Nova"/>
                <a:ea typeface="Proxima Nova"/>
                <a:cs typeface="Proxima Nova"/>
                <a:sym typeface="Proxima Nova"/>
              </a:rPr>
              <a:t>section</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61" name="Google Shape;561;p75"/>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562" name="Google Shape;562;p75"/>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563" name="Google Shape;563;p75"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EEEEE"/>
        </a:solidFill>
      </p:bgPr>
    </p:bg>
    <p:spTree>
      <p:nvGrpSpPr>
        <p:cNvPr id="567" name="Shape 567"/>
        <p:cNvGrpSpPr/>
        <p:nvPr/>
      </p:nvGrpSpPr>
      <p:grpSpPr>
        <a:xfrm>
          <a:off x="0" y="0"/>
          <a:ext cx="0" cy="0"/>
          <a:chOff x="0" y="0"/>
          <a:chExt cx="0" cy="0"/>
        </a:xfrm>
      </p:grpSpPr>
      <p:sp>
        <p:nvSpPr>
          <p:cNvPr id="568" name="Google Shape;568;p76"/>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69" name="Google Shape;569;p76"/>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70" name="Google Shape;570;p76"/>
          <p:cNvSpPr txBox="1"/>
          <p:nvPr/>
        </p:nvSpPr>
        <p:spPr>
          <a:xfrm>
            <a:off x="6020200" y="2426350"/>
            <a:ext cx="2811300" cy="19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Number of URLs in the XML Sitemap vs Number of Indexable URLs that are not. </a:t>
            </a:r>
            <a:endParaRPr sz="1100">
              <a:solidFill>
                <a:schemeClr val="dk1"/>
              </a:solidFill>
              <a:latin typeface="Proxima Nova"/>
              <a:ea typeface="Proxima Nova"/>
              <a:cs typeface="Proxima Nova"/>
              <a:sym typeface="Proxima Nova"/>
            </a:endParaRPr>
          </a:p>
        </p:txBody>
      </p:sp>
      <p:sp>
        <p:nvSpPr>
          <p:cNvPr id="571" name="Google Shape;571;p76"/>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72" name="Google Shape;572;p76"/>
          <p:cNvSpPr txBox="1"/>
          <p:nvPr/>
        </p:nvSpPr>
        <p:spPr>
          <a:xfrm>
            <a:off x="6020200" y="1124525"/>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Indexable URLs vs URLs in the XML Sitemap</a:t>
            </a:r>
            <a:endParaRPr/>
          </a:p>
        </p:txBody>
      </p:sp>
      <p:pic>
        <p:nvPicPr>
          <p:cNvPr id="573" name="Google Shape;573;p76"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77" name="Shape 577"/>
        <p:cNvGrpSpPr/>
        <p:nvPr/>
      </p:nvGrpSpPr>
      <p:grpSpPr>
        <a:xfrm>
          <a:off x="0" y="0"/>
          <a:ext cx="0" cy="0"/>
          <a:chOff x="0" y="0"/>
          <a:chExt cx="0" cy="0"/>
        </a:xfrm>
      </p:grpSpPr>
      <p:sp>
        <p:nvSpPr>
          <p:cNvPr id="578" name="Google Shape;578;p77"/>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79" name="Google Shape;579;p77"/>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80" name="Google Shape;580;p77"/>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a:t>
            </a:r>
            <a:r>
              <a:rPr lang="en" sz="1100">
                <a:solidFill>
                  <a:schemeClr val="dk1"/>
                </a:solidFill>
                <a:latin typeface="Proxima Nova"/>
                <a:ea typeface="Proxima Nova"/>
                <a:cs typeface="Proxima Nova"/>
                <a:sym typeface="Proxima Nova"/>
              </a:rPr>
              <a:t>hat</a:t>
            </a:r>
            <a:r>
              <a:rPr lang="en" sz="1100">
                <a:solidFill>
                  <a:schemeClr val="dk1"/>
                </a:solidFill>
                <a:latin typeface="Proxima Nova"/>
                <a:ea typeface="Proxima Nova"/>
                <a:cs typeface="Proxima Nova"/>
                <a:sym typeface="Proxima Nova"/>
              </a:rPr>
              <a:t> sections of the site are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revenue generation split up between several page types, or is there a select few responsible for generating revenue from organic?</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any of their blogs at this time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For the top 5 pages generating revenue, is there a page generating a significant amount in comparison to the entire site?</a:t>
            </a:r>
            <a:endParaRPr sz="1100">
              <a:solidFill>
                <a:schemeClr val="dk1"/>
              </a:solidFill>
              <a:latin typeface="Proxima Nova"/>
              <a:ea typeface="Proxima Nova"/>
              <a:cs typeface="Proxima Nova"/>
              <a:sym typeface="Proxima Nova"/>
            </a:endParaRPr>
          </a:p>
        </p:txBody>
      </p:sp>
      <p:sp>
        <p:nvSpPr>
          <p:cNvPr id="581" name="Google Shape;581;p77"/>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82" name="Google Shape;582;p77"/>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Revenue Heading</a:t>
            </a:r>
            <a:endParaRPr/>
          </a:p>
        </p:txBody>
      </p:sp>
      <p:graphicFrame>
        <p:nvGraphicFramePr>
          <p:cNvPr id="583" name="Google Shape;583;p77"/>
          <p:cNvGraphicFramePr/>
          <p:nvPr/>
        </p:nvGraphicFramePr>
        <p:xfrm>
          <a:off x="170575" y="3115775"/>
          <a:ext cx="3000000" cy="3000000"/>
        </p:xfrm>
        <a:graphic>
          <a:graphicData uri="http://schemas.openxmlformats.org/drawingml/2006/table">
            <a:tbl>
              <a:tblPr>
                <a:noFill/>
                <a:tableStyleId>{C2DB53EE-91C8-4E1F-A037-AFCE2E54B87E}</a:tableStyleId>
              </a:tblPr>
              <a:tblGrid>
                <a:gridCol w="3932025"/>
                <a:gridCol w="1268075"/>
              </a:tblGrid>
              <a:tr h="340050">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4"/>
                        </a:rPr>
                        <a:t>https://modernadventure.com/</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$43,900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5"/>
                        </a:rPr>
                        <a:t>https://modernadventure.com/our-trips/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6"/>
                        </a:rPr>
                        <a:t>https://modernadventure.com/our-trips/oaxaca-with-erik-anderson/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7"/>
                        </a:rPr>
                        <a:t>https://modernadventure.com/our-trips/oaxaca-with-heath-ceramics/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8"/>
                        </a:rPr>
                        <a:t>https://modernadventure.com/our-trips/oaxaca-with-fany-gerson/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pic>
        <p:nvPicPr>
          <p:cNvPr id="584" name="Google Shape;584;p77" title="Chart"/>
          <p:cNvPicPr preferRelativeResize="0"/>
          <p:nvPr/>
        </p:nvPicPr>
        <p:blipFill>
          <a:blip r:embed="rId9">
            <a:alphaModFix/>
          </a:blip>
          <a:stretch>
            <a:fillRect/>
          </a:stretch>
        </p:blipFill>
        <p:spPr>
          <a:xfrm>
            <a:off x="170575" y="664700"/>
            <a:ext cx="5273841" cy="223258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88" name="Shape 588"/>
        <p:cNvGrpSpPr/>
        <p:nvPr/>
      </p:nvGrpSpPr>
      <p:grpSpPr>
        <a:xfrm>
          <a:off x="0" y="0"/>
          <a:ext cx="0" cy="0"/>
          <a:chOff x="0" y="0"/>
          <a:chExt cx="0" cy="0"/>
        </a:xfrm>
      </p:grpSpPr>
      <p:sp>
        <p:nvSpPr>
          <p:cNvPr id="589" name="Google Shape;589;p78"/>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90" name="Google Shape;590;p7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91" name="Google Shape;591;p78"/>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Of the sections of the site driving revenue from organic, how many pages are actually driving revenue? What percentage?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it a select few pages that are actually ranking and driving revenue, or is it well mixed?</a:t>
            </a:r>
            <a:endParaRPr sz="1100">
              <a:solidFill>
                <a:schemeClr val="dk1"/>
              </a:solidFill>
              <a:latin typeface="Proxima Nova"/>
              <a:ea typeface="Proxima Nova"/>
              <a:cs typeface="Proxima Nova"/>
              <a:sym typeface="Proxima Nova"/>
            </a:endParaRPr>
          </a:p>
        </p:txBody>
      </p:sp>
      <p:sp>
        <p:nvSpPr>
          <p:cNvPr id="592" name="Google Shape;592;p7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93" name="Google Shape;593;p78"/>
          <p:cNvSpPr txBox="1"/>
          <p:nvPr/>
        </p:nvSpPr>
        <p:spPr>
          <a:xfrm>
            <a:off x="6020200" y="11245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Pages Driving Revenue</a:t>
            </a:r>
            <a:endParaRPr sz="1300"/>
          </a:p>
        </p:txBody>
      </p:sp>
      <p:pic>
        <p:nvPicPr>
          <p:cNvPr id="594" name="Google Shape;594;p78" title="Chart"/>
          <p:cNvPicPr preferRelativeResize="0"/>
          <p:nvPr/>
        </p:nvPicPr>
        <p:blipFill>
          <a:blip r:embed="rId4">
            <a:alphaModFix/>
          </a:blip>
          <a:stretch>
            <a:fillRect/>
          </a:stretch>
        </p:blipFill>
        <p:spPr>
          <a:xfrm>
            <a:off x="170565" y="690600"/>
            <a:ext cx="5273862" cy="2232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598" name="Shape 598"/>
        <p:cNvGrpSpPr/>
        <p:nvPr/>
      </p:nvGrpSpPr>
      <p:grpSpPr>
        <a:xfrm>
          <a:off x="0" y="0"/>
          <a:ext cx="0" cy="0"/>
          <a:chOff x="0" y="0"/>
          <a:chExt cx="0" cy="0"/>
        </a:xfrm>
      </p:grpSpPr>
      <p:sp>
        <p:nvSpPr>
          <p:cNvPr id="599" name="Google Shape;599;p7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9"/>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01" name="Google Shape;601;p79"/>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Next slide will correlate site sections to phases of the Traveler Intent Journey, to help identify where the client’s site is meeting content goals, and where there are large gaps in the customer journey.</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602" name="Google Shape;602;p7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03" name="Google Shape;603;p7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07" name="Shape 607"/>
        <p:cNvGrpSpPr/>
        <p:nvPr/>
      </p:nvGrpSpPr>
      <p:grpSpPr>
        <a:xfrm>
          <a:off x="0" y="0"/>
          <a:ext cx="0" cy="0"/>
          <a:chOff x="0" y="0"/>
          <a:chExt cx="0" cy="0"/>
        </a:xfrm>
      </p:grpSpPr>
      <p:sp>
        <p:nvSpPr>
          <p:cNvPr id="608" name="Google Shape;608;p80"/>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80"/>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10" name="Google Shape;610;p80"/>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 301 URLs and XX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611" name="Google Shape;611;p80"/>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612" name="Google Shape;612;p80"/>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16" name="Shape 616"/>
        <p:cNvGrpSpPr/>
        <p:nvPr/>
      </p:nvGrpSpPr>
      <p:grpSpPr>
        <a:xfrm>
          <a:off x="0" y="0"/>
          <a:ext cx="0" cy="0"/>
          <a:chOff x="0" y="0"/>
          <a:chExt cx="0" cy="0"/>
        </a:xfrm>
      </p:grpSpPr>
      <p:sp>
        <p:nvSpPr>
          <p:cNvPr id="617" name="Google Shape;617;p81"/>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81"/>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619" name="Google Shape;619;p81"/>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Analysis</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[Replace or remove this section as needed]</a:t>
            </a:r>
            <a:endParaRPr b="1" sz="1200">
              <a:solidFill>
                <a:schemeClr val="dk1"/>
              </a:solidFill>
              <a:latin typeface="Proxima Nova"/>
              <a:ea typeface="Proxima Nova"/>
              <a:cs typeface="Proxima Nova"/>
              <a:sym typeface="Proxima Nova"/>
            </a:endParaRPr>
          </a:p>
        </p:txBody>
      </p:sp>
      <p:pic>
        <p:nvPicPr>
          <p:cNvPr id="620" name="Google Shape;620;p81"/>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21" name="Google Shape;621;p81"/>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25" name="Shape 625"/>
        <p:cNvGrpSpPr/>
        <p:nvPr/>
      </p:nvGrpSpPr>
      <p:grpSpPr>
        <a:xfrm>
          <a:off x="0" y="0"/>
          <a:ext cx="0" cy="0"/>
          <a:chOff x="0" y="0"/>
          <a:chExt cx="0" cy="0"/>
        </a:xfrm>
      </p:grpSpPr>
      <p:sp>
        <p:nvSpPr>
          <p:cNvPr id="626" name="Google Shape;626;p82"/>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627" name="Google Shape;627;p82"/>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628" name="Google Shape;628;p82"/>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629" name="Google Shape;629;p82"/>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