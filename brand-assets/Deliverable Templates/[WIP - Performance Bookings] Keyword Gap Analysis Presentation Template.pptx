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roxima Nova"/>
      <p:regular r:id="rId19"/>
      <p:bold r:id="rId20"/>
      <p:italic r:id="rId21"/>
      <p:boldItalic r:id="rId22"/>
    </p:embeddedFont>
    <p:embeddedFont>
      <p:font typeface="Proxima Nova Extrabold"/>
      <p:bold r:id="rId23"/>
    </p:embeddedFont>
    <p:embeddedFont>
      <p:font typeface="Proxima Nova Semibold"/>
      <p:regular r:id="rId24"/>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6EC356-DA7B-4D5C-BF21-7878F331DA22}">
  <a:tblStyle styleId="{276EC356-DA7B-4D5C-BF21-7878F331DA2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roximaNova-bold.fntdata"/><Relationship Id="rId22" Type="http://schemas.openxmlformats.org/officeDocument/2006/relationships/font" Target="fonts/ProximaNova-boldItalic.fntdata"/><Relationship Id="rId21" Type="http://schemas.openxmlformats.org/officeDocument/2006/relationships/font" Target="fonts/ProximaNova-italic.fntdata"/><Relationship Id="rId24" Type="http://schemas.openxmlformats.org/officeDocument/2006/relationships/font" Target="fonts/ProximaNovaSemibold-regular.fntdata"/><Relationship Id="rId23" Type="http://schemas.openxmlformats.org/officeDocument/2006/relationships/font" Target="fonts/ProximaNovaExtra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Semibold-boldItalic.fntdata"/><Relationship Id="rId25" Type="http://schemas.openxmlformats.org/officeDocument/2006/relationships/font" Target="fonts/ProximaNovaSemi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roximaNova-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gYArCMciBryBr-b9YoBx0xNqtkRTTgNtLUGWGxMN2_0/edit?gid=1845782846#gid=1845782846"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f9ad671c9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f9ad671c9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3aea3b34d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3aea3b34d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8f9ad671c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8f9ad671c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3aea3b34d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3aea3b34d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3a59da7b9e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3a59da7b9e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3aea3b34d8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3aea3b34d8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3a59da7b9e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3a59da7b9e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does not require edits - this step is used during hte presentation to segway to the Google Sheets deliverable, and walk the client through how to use 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8f9ad671c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8f9ad671c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4e0f2b434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4e0f2b434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Include Link to KW Spreadsheet “Visualization” Chart Here: </a:t>
            </a:r>
            <a:r>
              <a:rPr lang="en" u="sng">
                <a:solidFill>
                  <a:schemeClr val="hlink"/>
                </a:solidFill>
                <a:hlinkClick r:id="rId2"/>
              </a:rPr>
              <a:t>https://docs.google.com/spreadsheets/d/1gYArCMciBryBr-b9YoBx0xNqtkRTTgNtLUGWGxMN2_0/edit?gid=1845782846#gid=1845782846</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4e0f2b43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4e0f2b43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ed22b947e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ed22b947e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1bbeb3f7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1bbeb3f7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3a59da7b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3a59da7b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731950"/>
            <a:ext cx="8520600" cy="72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4420">
                <a:solidFill>
                  <a:schemeClr val="lt1"/>
                </a:solidFill>
                <a:latin typeface="Proxima Nova"/>
                <a:ea typeface="Proxima Nova"/>
                <a:cs typeface="Proxima Nova"/>
                <a:sym typeface="Proxima Nova"/>
              </a:rPr>
              <a:t>Keyword Gap Analysis</a:t>
            </a:r>
            <a:endParaRPr b="1" sz="4420">
              <a:solidFill>
                <a:schemeClr val="lt1"/>
              </a:solidFill>
              <a:latin typeface="Proxima Nova"/>
              <a:ea typeface="Proxima Nova"/>
              <a:cs typeface="Proxima Nova"/>
              <a:sym typeface="Proxima Nova"/>
            </a:endParaRPr>
          </a:p>
        </p:txBody>
      </p:sp>
      <p:sp>
        <p:nvSpPr>
          <p:cNvPr id="55" name="Google Shape;55;p13"/>
          <p:cNvSpPr txBox="1"/>
          <p:nvPr>
            <p:ph idx="1" type="subTitle"/>
          </p:nvPr>
        </p:nvSpPr>
        <p:spPr>
          <a:xfrm>
            <a:off x="311700" y="3553075"/>
            <a:ext cx="5407500" cy="450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1018"/>
              <a:buNone/>
            </a:pPr>
            <a:r>
              <a:rPr lang="en" sz="2028">
                <a:solidFill>
                  <a:schemeClr val="lt1"/>
                </a:solidFill>
                <a:latin typeface="Proxima Nova"/>
                <a:ea typeface="Proxima Nova"/>
                <a:cs typeface="Proxima Nova"/>
                <a:sym typeface="Proxima Nova"/>
              </a:rPr>
              <a:t>Interactive Competitive Intelligence</a:t>
            </a:r>
            <a:endParaRPr sz="2028">
              <a:solidFill>
                <a:schemeClr val="lt1"/>
              </a:solidFill>
              <a:latin typeface="Proxima Nova"/>
              <a:ea typeface="Proxima Nova"/>
              <a:cs typeface="Proxima Nova"/>
              <a:sym typeface="Proxima Nova"/>
            </a:endParaRPr>
          </a:p>
        </p:txBody>
      </p:sp>
      <p:pic>
        <p:nvPicPr>
          <p:cNvPr id="56" name="Google Shape;56;p13"/>
          <p:cNvPicPr preferRelativeResize="0"/>
          <p:nvPr/>
        </p:nvPicPr>
        <p:blipFill>
          <a:blip r:embed="rId3">
            <a:alphaModFix/>
          </a:blip>
          <a:stretch>
            <a:fillRect/>
          </a:stretch>
        </p:blipFill>
        <p:spPr>
          <a:xfrm>
            <a:off x="402174" y="713560"/>
            <a:ext cx="1598936" cy="376532"/>
          </a:xfrm>
          <a:prstGeom prst="rect">
            <a:avLst/>
          </a:prstGeom>
          <a:noFill/>
          <a:ln>
            <a:noFill/>
          </a:ln>
        </p:spPr>
      </p:pic>
      <p:pic>
        <p:nvPicPr>
          <p:cNvPr id="57" name="Google Shape;57;p13"/>
          <p:cNvPicPr preferRelativeResize="0"/>
          <p:nvPr/>
        </p:nvPicPr>
        <p:blipFill>
          <a:blip r:embed="rId4">
            <a:alphaModFix/>
          </a:blip>
          <a:stretch>
            <a:fillRect/>
          </a:stretch>
        </p:blipFill>
        <p:spPr>
          <a:xfrm>
            <a:off x="2554961" y="645775"/>
            <a:ext cx="512113" cy="512100"/>
          </a:xfrm>
          <a:prstGeom prst="rect">
            <a:avLst/>
          </a:prstGeom>
          <a:noFill/>
          <a:ln>
            <a:noFill/>
          </a:ln>
        </p:spPr>
      </p:pic>
      <p:sp>
        <p:nvSpPr>
          <p:cNvPr id="58" name="Google Shape;58;p13"/>
          <p:cNvSpPr txBox="1"/>
          <p:nvPr>
            <p:ph idx="1" type="subTitle"/>
          </p:nvPr>
        </p:nvSpPr>
        <p:spPr>
          <a:xfrm>
            <a:off x="2068440" y="713548"/>
            <a:ext cx="419100" cy="3765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sz="2300">
                <a:solidFill>
                  <a:schemeClr val="lt1"/>
                </a:solidFill>
                <a:latin typeface="Proxima Nova Semibold"/>
                <a:ea typeface="Proxima Nova Semibold"/>
                <a:cs typeface="Proxima Nova Semibold"/>
                <a:sym typeface="Proxima Nova Semibold"/>
              </a:rPr>
              <a:t>x</a:t>
            </a:r>
            <a:endParaRPr sz="2300">
              <a:solidFill>
                <a:schemeClr val="lt1"/>
              </a:solidFill>
              <a:latin typeface="Proxima Nova Semibold"/>
              <a:ea typeface="Proxima Nova Semibold"/>
              <a:cs typeface="Proxima Nova Semibold"/>
              <a:sym typeface="Proxima Nova Semibold"/>
            </a:endParaRPr>
          </a:p>
        </p:txBody>
      </p:sp>
      <p:pic>
        <p:nvPicPr>
          <p:cNvPr id="59" name="Google Shape;59;p13"/>
          <p:cNvPicPr preferRelativeResize="0"/>
          <p:nvPr/>
        </p:nvPicPr>
        <p:blipFill rotWithShape="1">
          <a:blip r:embed="rId5">
            <a:alphaModFix/>
          </a:blip>
          <a:srcRect b="0" l="21581" r="0" t="21210"/>
          <a:stretch/>
        </p:blipFill>
        <p:spPr>
          <a:xfrm flipH="1" rot="7">
            <a:off x="7397650" y="-85322"/>
            <a:ext cx="2879850" cy="528974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 name="Shape 63"/>
        <p:cNvGrpSpPr/>
        <p:nvPr/>
      </p:nvGrpSpPr>
      <p:grpSpPr>
        <a:xfrm>
          <a:off x="0" y="0"/>
          <a:ext cx="0" cy="0"/>
          <a:chOff x="0" y="0"/>
          <a:chExt cx="0" cy="0"/>
        </a:xfrm>
      </p:grpSpPr>
      <p:sp>
        <p:nvSpPr>
          <p:cNvPr id="64" name="Google Shape;64;p14"/>
          <p:cNvSpPr txBox="1"/>
          <p:nvPr>
            <p:ph type="title"/>
          </p:nvPr>
        </p:nvSpPr>
        <p:spPr>
          <a:xfrm>
            <a:off x="311700" y="636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The Concept</a:t>
            </a:r>
            <a:endParaRPr b="1">
              <a:solidFill>
                <a:srgbClr val="E21A6B"/>
              </a:solidFill>
              <a:latin typeface="Proxima Nova"/>
              <a:ea typeface="Proxima Nova"/>
              <a:cs typeface="Proxima Nova"/>
              <a:sym typeface="Proxima Nova"/>
            </a:endParaRPr>
          </a:p>
        </p:txBody>
      </p:sp>
      <p:sp>
        <p:nvSpPr>
          <p:cNvPr id="65" name="Google Shape;65;p14"/>
          <p:cNvSpPr txBox="1"/>
          <p:nvPr>
            <p:ph idx="1" type="body"/>
          </p:nvPr>
        </p:nvSpPr>
        <p:spPr>
          <a:xfrm>
            <a:off x="311700" y="1283500"/>
            <a:ext cx="4260300" cy="244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In most markets, there are organizations who have “been there, and done that.” While sometimes, that can be considered a disadvantage, we see it differently. </a:t>
            </a:r>
            <a:endParaRPr sz="1200">
              <a:solidFill>
                <a:schemeClr val="lt1"/>
              </a:solidFill>
              <a:latin typeface="Proxima Nova"/>
              <a:ea typeface="Proxima Nova"/>
              <a:cs typeface="Proxima Nova"/>
              <a:sym typeface="Proxima Nova"/>
            </a:endParaRPr>
          </a:p>
          <a:p>
            <a:pPr indent="0" lvl="0" marL="0" rtl="0" algn="l">
              <a:spcBef>
                <a:spcPts val="1200"/>
              </a:spcBef>
              <a:spcAft>
                <a:spcPts val="0"/>
              </a:spcAft>
              <a:buNone/>
            </a:pPr>
            <a:r>
              <a:rPr lang="en" sz="1200">
                <a:solidFill>
                  <a:schemeClr val="lt1"/>
                </a:solidFill>
                <a:latin typeface="Proxima Nova"/>
                <a:ea typeface="Proxima Nova"/>
                <a:cs typeface="Proxima Nova"/>
                <a:sym typeface="Proxima Nova"/>
              </a:rPr>
              <a:t>The Keyword Gap Analysis works to uncover what is working for a strategically-selected set of industry search competitors, and the final deliverable allows us to uncover keyword opportunities we otherwise would have missed. </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rPr lang="en" sz="1200">
                <a:solidFill>
                  <a:schemeClr val="lt1"/>
                </a:solidFill>
                <a:latin typeface="Proxima Nova"/>
                <a:ea typeface="Proxima Nova"/>
                <a:cs typeface="Proxima Nova"/>
                <a:sym typeface="Proxima Nova"/>
              </a:rPr>
              <a:t>These keywords will drive strategy for new content for your website - from resource pages to product and service pages. </a:t>
            </a:r>
            <a:endParaRPr sz="1200">
              <a:solidFill>
                <a:schemeClr val="lt1"/>
              </a:solidFill>
              <a:latin typeface="Proxima Nova"/>
              <a:ea typeface="Proxima Nova"/>
              <a:cs typeface="Proxima Nova"/>
              <a:sym typeface="Proxima Nova"/>
            </a:endParaRPr>
          </a:p>
        </p:txBody>
      </p:sp>
      <p:pic>
        <p:nvPicPr>
          <p:cNvPr id="66" name="Google Shape;66;p14"/>
          <p:cNvPicPr preferRelativeResize="0"/>
          <p:nvPr/>
        </p:nvPicPr>
        <p:blipFill>
          <a:blip r:embed="rId3">
            <a:alphaModFix/>
          </a:blip>
          <a:stretch>
            <a:fillRect/>
          </a:stretch>
        </p:blipFill>
        <p:spPr>
          <a:xfrm>
            <a:off x="5064150" y="1653800"/>
            <a:ext cx="3951244" cy="2867274"/>
          </a:xfrm>
          <a:prstGeom prst="rect">
            <a:avLst/>
          </a:prstGeom>
          <a:noFill/>
          <a:ln>
            <a:noFill/>
          </a:ln>
        </p:spPr>
      </p:pic>
      <p:pic>
        <p:nvPicPr>
          <p:cNvPr id="67" name="Google Shape;67;p1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5"/>
          <p:cNvSpPr/>
          <p:nvPr/>
        </p:nvSpPr>
        <p:spPr>
          <a:xfrm rot="5400000">
            <a:off x="3864900" y="-135725"/>
            <a:ext cx="1392900" cy="91653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txBox="1"/>
          <p:nvPr>
            <p:ph type="title"/>
          </p:nvPr>
        </p:nvSpPr>
        <p:spPr>
          <a:xfrm>
            <a:off x="311700" y="636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b="1" lang="en" sz="2518">
                <a:solidFill>
                  <a:srgbClr val="E21A6B"/>
                </a:solidFill>
                <a:latin typeface="Proxima Nova"/>
                <a:ea typeface="Proxima Nova"/>
                <a:cs typeface="Proxima Nova"/>
                <a:sym typeface="Proxima Nova"/>
              </a:rPr>
              <a:t>Your Competition</a:t>
            </a:r>
            <a:endParaRPr b="1" sz="2518">
              <a:solidFill>
                <a:srgbClr val="E21A6B"/>
              </a:solidFill>
              <a:latin typeface="Proxima Nova"/>
              <a:ea typeface="Proxima Nova"/>
              <a:cs typeface="Proxima Nova"/>
              <a:sym typeface="Proxima Nova"/>
            </a:endParaRPr>
          </a:p>
        </p:txBody>
      </p:sp>
      <p:sp>
        <p:nvSpPr>
          <p:cNvPr id="74" name="Google Shape;74;p15"/>
          <p:cNvSpPr txBox="1"/>
          <p:nvPr>
            <p:ph idx="1" type="body"/>
          </p:nvPr>
        </p:nvSpPr>
        <p:spPr>
          <a:xfrm>
            <a:off x="311700" y="1174075"/>
            <a:ext cx="8520600" cy="322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lang="en" sz="1238">
                <a:solidFill>
                  <a:schemeClr val="lt1"/>
                </a:solidFill>
                <a:latin typeface="Proxima Nova"/>
                <a:ea typeface="Proxima Nova"/>
                <a:cs typeface="Proxima Nova"/>
                <a:sym typeface="Proxima Nova"/>
              </a:rPr>
              <a:t>We agreed on a select set of competitors. At a high-level, here are their metrics:</a:t>
            </a:r>
            <a:endParaRPr sz="1238">
              <a:solidFill>
                <a:schemeClr val="lt1"/>
              </a:solidFill>
              <a:latin typeface="Proxima Nova"/>
              <a:ea typeface="Proxima Nova"/>
              <a:cs typeface="Proxima Nova"/>
              <a:sym typeface="Proxima Nova"/>
            </a:endParaRPr>
          </a:p>
        </p:txBody>
      </p:sp>
      <p:sp>
        <p:nvSpPr>
          <p:cNvPr id="75" name="Google Shape;75;p15"/>
          <p:cNvSpPr/>
          <p:nvPr/>
        </p:nvSpPr>
        <p:spPr>
          <a:xfrm>
            <a:off x="575913"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You</a:t>
            </a:r>
            <a:endParaRPr>
              <a:latin typeface="Proxima Nova"/>
              <a:ea typeface="Proxima Nova"/>
              <a:cs typeface="Proxima Nova"/>
              <a:sym typeface="Proxima Nova"/>
            </a:endParaRPr>
          </a:p>
        </p:txBody>
      </p:sp>
      <p:sp>
        <p:nvSpPr>
          <p:cNvPr id="76" name="Google Shape;76;p15"/>
          <p:cNvSpPr/>
          <p:nvPr/>
        </p:nvSpPr>
        <p:spPr>
          <a:xfrm>
            <a:off x="1938788"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1</a:t>
            </a:r>
            <a:endParaRPr>
              <a:latin typeface="Proxima Nova"/>
              <a:ea typeface="Proxima Nova"/>
              <a:cs typeface="Proxima Nova"/>
              <a:sym typeface="Proxima Nova"/>
            </a:endParaRPr>
          </a:p>
        </p:txBody>
      </p:sp>
      <p:sp>
        <p:nvSpPr>
          <p:cNvPr id="77" name="Google Shape;77;p15"/>
          <p:cNvSpPr/>
          <p:nvPr/>
        </p:nvSpPr>
        <p:spPr>
          <a:xfrm>
            <a:off x="3301663"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2</a:t>
            </a:r>
            <a:endParaRPr>
              <a:latin typeface="Proxima Nova"/>
              <a:ea typeface="Proxima Nova"/>
              <a:cs typeface="Proxima Nova"/>
              <a:sym typeface="Proxima Nova"/>
            </a:endParaRPr>
          </a:p>
        </p:txBody>
      </p:sp>
      <p:sp>
        <p:nvSpPr>
          <p:cNvPr id="78" name="Google Shape;78;p15"/>
          <p:cNvSpPr/>
          <p:nvPr/>
        </p:nvSpPr>
        <p:spPr>
          <a:xfrm>
            <a:off x="4664538"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3</a:t>
            </a:r>
            <a:endParaRPr>
              <a:latin typeface="Proxima Nova"/>
              <a:ea typeface="Proxima Nova"/>
              <a:cs typeface="Proxima Nova"/>
              <a:sym typeface="Proxima Nova"/>
            </a:endParaRPr>
          </a:p>
        </p:txBody>
      </p:sp>
      <p:sp>
        <p:nvSpPr>
          <p:cNvPr id="79" name="Google Shape;79;p15"/>
          <p:cNvSpPr/>
          <p:nvPr/>
        </p:nvSpPr>
        <p:spPr>
          <a:xfrm>
            <a:off x="6027413"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4</a:t>
            </a:r>
            <a:endParaRPr>
              <a:latin typeface="Proxima Nova"/>
              <a:ea typeface="Proxima Nova"/>
              <a:cs typeface="Proxima Nova"/>
              <a:sym typeface="Proxima Nova"/>
            </a:endParaRPr>
          </a:p>
        </p:txBody>
      </p:sp>
      <p:sp>
        <p:nvSpPr>
          <p:cNvPr id="80" name="Google Shape;80;p15"/>
          <p:cNvSpPr/>
          <p:nvPr/>
        </p:nvSpPr>
        <p:spPr>
          <a:xfrm>
            <a:off x="7390288" y="1859925"/>
            <a:ext cx="1177800" cy="2679300"/>
          </a:xfrm>
          <a:prstGeom prst="rect">
            <a:avLst/>
          </a:prstGeom>
          <a:solidFill>
            <a:schemeClr val="lt1"/>
          </a:solidFill>
          <a:ln cap="flat" cmpd="sng" w="9525">
            <a:solidFill>
              <a:srgbClr val="E21A6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Comp 5</a:t>
            </a:r>
            <a:endParaRPr>
              <a:latin typeface="Proxima Nova"/>
              <a:ea typeface="Proxima Nova"/>
              <a:cs typeface="Proxima Nova"/>
              <a:sym typeface="Proxima Nova"/>
            </a:endParaRPr>
          </a:p>
        </p:txBody>
      </p:sp>
      <p:sp>
        <p:nvSpPr>
          <p:cNvPr id="81" name="Google Shape;81;p15"/>
          <p:cNvSpPr/>
          <p:nvPr/>
        </p:nvSpPr>
        <p:spPr>
          <a:xfrm>
            <a:off x="698588"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2" name="Google Shape;82;p15"/>
          <p:cNvSpPr/>
          <p:nvPr/>
        </p:nvSpPr>
        <p:spPr>
          <a:xfrm>
            <a:off x="2077838"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3" name="Google Shape;83;p15"/>
          <p:cNvSpPr/>
          <p:nvPr/>
        </p:nvSpPr>
        <p:spPr>
          <a:xfrm>
            <a:off x="3440713"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4" name="Google Shape;84;p15"/>
          <p:cNvSpPr/>
          <p:nvPr/>
        </p:nvSpPr>
        <p:spPr>
          <a:xfrm>
            <a:off x="4795400"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5" name="Google Shape;85;p15"/>
          <p:cNvSpPr/>
          <p:nvPr/>
        </p:nvSpPr>
        <p:spPr>
          <a:xfrm>
            <a:off x="6174650"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6" name="Google Shape;86;p15"/>
          <p:cNvSpPr/>
          <p:nvPr/>
        </p:nvSpPr>
        <p:spPr>
          <a:xfrm>
            <a:off x="7537525" y="2265000"/>
            <a:ext cx="899700" cy="613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Logo</a:t>
            </a:r>
            <a:endParaRPr>
              <a:latin typeface="Proxima Nova"/>
              <a:ea typeface="Proxima Nova"/>
              <a:cs typeface="Proxima Nova"/>
              <a:sym typeface="Proxima Nova"/>
            </a:endParaRPr>
          </a:p>
        </p:txBody>
      </p:sp>
      <p:sp>
        <p:nvSpPr>
          <p:cNvPr id="87" name="Google Shape;87;p15"/>
          <p:cNvSpPr/>
          <p:nvPr/>
        </p:nvSpPr>
        <p:spPr>
          <a:xfrm>
            <a:off x="698588"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Proxima Nova"/>
                <a:ea typeface="Proxima Nova"/>
                <a:cs typeface="Proxima Nova"/>
                <a:sym typeface="Proxima Nova"/>
              </a:rPr>
              <a:t>1.5k Visitors/mo</a:t>
            </a:r>
            <a:endParaRPr sz="700">
              <a:latin typeface="Proxima Nova"/>
              <a:ea typeface="Proxima Nova"/>
              <a:cs typeface="Proxima Nova"/>
              <a:sym typeface="Proxima Nova"/>
            </a:endParaRPr>
          </a:p>
        </p:txBody>
      </p:sp>
      <p:sp>
        <p:nvSpPr>
          <p:cNvPr id="88" name="Google Shape;88;p15"/>
          <p:cNvSpPr/>
          <p:nvPr/>
        </p:nvSpPr>
        <p:spPr>
          <a:xfrm>
            <a:off x="2077840"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89" name="Google Shape;89;p15"/>
          <p:cNvSpPr/>
          <p:nvPr/>
        </p:nvSpPr>
        <p:spPr>
          <a:xfrm>
            <a:off x="3440717"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90" name="Google Shape;90;p15"/>
          <p:cNvSpPr/>
          <p:nvPr/>
        </p:nvSpPr>
        <p:spPr>
          <a:xfrm>
            <a:off x="4795407"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91" name="Google Shape;91;p15"/>
          <p:cNvSpPr/>
          <p:nvPr/>
        </p:nvSpPr>
        <p:spPr>
          <a:xfrm>
            <a:off x="6174659"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92" name="Google Shape;92;p15"/>
          <p:cNvSpPr/>
          <p:nvPr/>
        </p:nvSpPr>
        <p:spPr>
          <a:xfrm>
            <a:off x="7537536" y="29981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1.5k Visitors/mo</a:t>
            </a:r>
            <a:endParaRPr sz="1000">
              <a:solidFill>
                <a:schemeClr val="dk1"/>
              </a:solidFill>
              <a:latin typeface="Proxima Nova"/>
              <a:ea typeface="Proxima Nova"/>
              <a:cs typeface="Proxima Nova"/>
              <a:sym typeface="Proxima Nova"/>
            </a:endParaRPr>
          </a:p>
        </p:txBody>
      </p:sp>
      <p:sp>
        <p:nvSpPr>
          <p:cNvPr id="93" name="Google Shape;93;p15"/>
          <p:cNvSpPr/>
          <p:nvPr/>
        </p:nvSpPr>
        <p:spPr>
          <a:xfrm>
            <a:off x="698588"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latin typeface="Proxima Nova"/>
              <a:ea typeface="Proxima Nova"/>
              <a:cs typeface="Proxima Nova"/>
              <a:sym typeface="Proxima Nova"/>
            </a:endParaRPr>
          </a:p>
        </p:txBody>
      </p:sp>
      <p:sp>
        <p:nvSpPr>
          <p:cNvPr id="94" name="Google Shape;94;p15"/>
          <p:cNvSpPr/>
          <p:nvPr/>
        </p:nvSpPr>
        <p:spPr>
          <a:xfrm>
            <a:off x="2077840"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5" name="Google Shape;95;p15"/>
          <p:cNvSpPr/>
          <p:nvPr/>
        </p:nvSpPr>
        <p:spPr>
          <a:xfrm>
            <a:off x="3440717"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6" name="Google Shape;96;p15"/>
          <p:cNvSpPr/>
          <p:nvPr/>
        </p:nvSpPr>
        <p:spPr>
          <a:xfrm>
            <a:off x="4795407"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7" name="Google Shape;97;p15"/>
          <p:cNvSpPr/>
          <p:nvPr/>
        </p:nvSpPr>
        <p:spPr>
          <a:xfrm>
            <a:off x="6174659"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8" name="Google Shape;98;p15"/>
          <p:cNvSpPr/>
          <p:nvPr/>
        </p:nvSpPr>
        <p:spPr>
          <a:xfrm>
            <a:off x="7537536" y="34402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Proxima Nova"/>
                <a:ea typeface="Proxima Nova"/>
                <a:cs typeface="Proxima Nova"/>
                <a:sym typeface="Proxima Nova"/>
              </a:rPr>
              <a:t>2.8k Keywords</a:t>
            </a:r>
            <a:endParaRPr sz="1000">
              <a:solidFill>
                <a:schemeClr val="dk1"/>
              </a:solidFill>
              <a:latin typeface="Proxima Nova"/>
              <a:ea typeface="Proxima Nova"/>
              <a:cs typeface="Proxima Nova"/>
              <a:sym typeface="Proxima Nova"/>
            </a:endParaRPr>
          </a:p>
        </p:txBody>
      </p:sp>
      <p:sp>
        <p:nvSpPr>
          <p:cNvPr id="99" name="Google Shape;99;p15"/>
          <p:cNvSpPr/>
          <p:nvPr/>
        </p:nvSpPr>
        <p:spPr>
          <a:xfrm>
            <a:off x="698588"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300 Top-3 Keywords</a:t>
            </a:r>
            <a:endParaRPr sz="600">
              <a:latin typeface="Proxima Nova"/>
              <a:ea typeface="Proxima Nova"/>
              <a:cs typeface="Proxima Nova"/>
              <a:sym typeface="Proxima Nova"/>
            </a:endParaRPr>
          </a:p>
        </p:txBody>
      </p:sp>
      <p:sp>
        <p:nvSpPr>
          <p:cNvPr id="100" name="Google Shape;100;p15"/>
          <p:cNvSpPr/>
          <p:nvPr/>
        </p:nvSpPr>
        <p:spPr>
          <a:xfrm>
            <a:off x="2077840"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6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600">
              <a:solidFill>
                <a:schemeClr val="dk1"/>
              </a:solidFill>
              <a:latin typeface="Proxima Nova"/>
              <a:ea typeface="Proxima Nova"/>
              <a:cs typeface="Proxima Nova"/>
              <a:sym typeface="Proxima Nova"/>
            </a:endParaRPr>
          </a:p>
        </p:txBody>
      </p:sp>
      <p:sp>
        <p:nvSpPr>
          <p:cNvPr id="101" name="Google Shape;101;p15"/>
          <p:cNvSpPr/>
          <p:nvPr/>
        </p:nvSpPr>
        <p:spPr>
          <a:xfrm>
            <a:off x="3440717"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1000">
              <a:solidFill>
                <a:schemeClr val="dk1"/>
              </a:solidFill>
              <a:latin typeface="Proxima Nova"/>
              <a:ea typeface="Proxima Nova"/>
              <a:cs typeface="Proxima Nova"/>
              <a:sym typeface="Proxima Nova"/>
            </a:endParaRPr>
          </a:p>
        </p:txBody>
      </p:sp>
      <p:sp>
        <p:nvSpPr>
          <p:cNvPr id="102" name="Google Shape;102;p15"/>
          <p:cNvSpPr/>
          <p:nvPr/>
        </p:nvSpPr>
        <p:spPr>
          <a:xfrm>
            <a:off x="4795407"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1000">
              <a:solidFill>
                <a:schemeClr val="dk1"/>
              </a:solidFill>
              <a:latin typeface="Proxima Nova"/>
              <a:ea typeface="Proxima Nova"/>
              <a:cs typeface="Proxima Nova"/>
              <a:sym typeface="Proxima Nova"/>
            </a:endParaRPr>
          </a:p>
        </p:txBody>
      </p:sp>
      <p:sp>
        <p:nvSpPr>
          <p:cNvPr id="103" name="Google Shape;103;p15"/>
          <p:cNvSpPr/>
          <p:nvPr/>
        </p:nvSpPr>
        <p:spPr>
          <a:xfrm>
            <a:off x="6174659"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1000">
              <a:solidFill>
                <a:schemeClr val="dk1"/>
              </a:solidFill>
              <a:latin typeface="Proxima Nova"/>
              <a:ea typeface="Proxima Nova"/>
              <a:cs typeface="Proxima Nova"/>
              <a:sym typeface="Proxima Nova"/>
            </a:endParaRPr>
          </a:p>
        </p:txBody>
      </p:sp>
      <p:sp>
        <p:nvSpPr>
          <p:cNvPr id="104" name="Google Shape;104;p15"/>
          <p:cNvSpPr/>
          <p:nvPr/>
        </p:nvSpPr>
        <p:spPr>
          <a:xfrm>
            <a:off x="7537536" y="3882300"/>
            <a:ext cx="899700" cy="322500"/>
          </a:xfrm>
          <a:prstGeom prst="rect">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Proxima Nova"/>
                <a:ea typeface="Proxima Nova"/>
                <a:cs typeface="Proxima Nova"/>
                <a:sym typeface="Proxima Nova"/>
              </a:rPr>
              <a:t>300 Top-3 Keywords</a:t>
            </a:r>
            <a:endParaRPr sz="1000">
              <a:solidFill>
                <a:schemeClr val="dk1"/>
              </a:solidFill>
              <a:latin typeface="Proxima Nova"/>
              <a:ea typeface="Proxima Nova"/>
              <a:cs typeface="Proxima Nova"/>
              <a:sym typeface="Proxima Nova"/>
            </a:endParaRPr>
          </a:p>
        </p:txBody>
      </p:sp>
      <p:pic>
        <p:nvPicPr>
          <p:cNvPr id="105" name="Google Shape;105;p15"/>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106" name="Google Shape;106;p1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10" name="Shape 110"/>
        <p:cNvGrpSpPr/>
        <p:nvPr/>
      </p:nvGrpSpPr>
      <p:grpSpPr>
        <a:xfrm>
          <a:off x="0" y="0"/>
          <a:ext cx="0" cy="0"/>
          <a:chOff x="0" y="0"/>
          <a:chExt cx="0" cy="0"/>
        </a:xfrm>
      </p:grpSpPr>
      <p:pic>
        <p:nvPicPr>
          <p:cNvPr id="111" name="Google Shape;111;p16"/>
          <p:cNvPicPr preferRelativeResize="0"/>
          <p:nvPr/>
        </p:nvPicPr>
        <p:blipFill rotWithShape="1">
          <a:blip r:embed="rId3">
            <a:alphaModFix/>
          </a:blip>
          <a:srcRect b="0" l="21581" r="0" t="21210"/>
          <a:stretch/>
        </p:blipFill>
        <p:spPr>
          <a:xfrm flipH="1" rot="8763944">
            <a:off x="-257753" y="3306967"/>
            <a:ext cx="3515956" cy="5976892"/>
          </a:xfrm>
          <a:prstGeom prst="rect">
            <a:avLst/>
          </a:prstGeom>
          <a:noFill/>
          <a:ln>
            <a:noFill/>
          </a:ln>
        </p:spPr>
      </p:pic>
      <p:sp>
        <p:nvSpPr>
          <p:cNvPr id="112" name="Google Shape;112;p16"/>
          <p:cNvSpPr/>
          <p:nvPr/>
        </p:nvSpPr>
        <p:spPr>
          <a:xfrm>
            <a:off x="6429375" y="-42850"/>
            <a:ext cx="2714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txBox="1"/>
          <p:nvPr>
            <p:ph type="title"/>
          </p:nvPr>
        </p:nvSpPr>
        <p:spPr>
          <a:xfrm>
            <a:off x="279550" y="1093775"/>
            <a:ext cx="4156800" cy="91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022">
                <a:solidFill>
                  <a:schemeClr val="lt1"/>
                </a:solidFill>
                <a:latin typeface="Proxima Nova"/>
                <a:ea typeface="Proxima Nova"/>
                <a:cs typeface="Proxima Nova"/>
                <a:sym typeface="Proxima Nova"/>
              </a:rPr>
              <a:t>The Process</a:t>
            </a:r>
            <a:br>
              <a:rPr b="1" lang="en">
                <a:solidFill>
                  <a:schemeClr val="lt1"/>
                </a:solidFill>
                <a:latin typeface="Proxima Nova"/>
                <a:ea typeface="Proxima Nova"/>
                <a:cs typeface="Proxima Nova"/>
                <a:sym typeface="Proxima Nova"/>
              </a:rPr>
            </a:br>
            <a:r>
              <a:rPr b="1" lang="en" sz="2244">
                <a:solidFill>
                  <a:schemeClr val="lt1"/>
                </a:solidFill>
                <a:latin typeface="Proxima Nova"/>
                <a:ea typeface="Proxima Nova"/>
                <a:cs typeface="Proxima Nova"/>
                <a:sym typeface="Proxima Nova"/>
              </a:rPr>
              <a:t>Step 1: Gathering The Data</a:t>
            </a:r>
            <a:endParaRPr b="1" sz="2244">
              <a:solidFill>
                <a:schemeClr val="lt1"/>
              </a:solidFill>
              <a:latin typeface="Proxima Nova"/>
              <a:ea typeface="Proxima Nova"/>
              <a:cs typeface="Proxima Nova"/>
              <a:sym typeface="Proxima Nova"/>
            </a:endParaRPr>
          </a:p>
        </p:txBody>
      </p:sp>
      <p:sp>
        <p:nvSpPr>
          <p:cNvPr id="114" name="Google Shape;114;p16"/>
          <p:cNvSpPr txBox="1"/>
          <p:nvPr>
            <p:ph idx="1" type="body"/>
          </p:nvPr>
        </p:nvSpPr>
        <p:spPr>
          <a:xfrm>
            <a:off x="279550" y="2126300"/>
            <a:ext cx="3941400" cy="263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We start by scraping a list of keywords your competitors are ranking for. </a:t>
            </a:r>
            <a:endParaRPr sz="1200">
              <a:solidFill>
                <a:schemeClr val="lt1"/>
              </a:solidFill>
              <a:latin typeface="Proxima Nova"/>
              <a:ea typeface="Proxima Nova"/>
              <a:cs typeface="Proxima Nova"/>
              <a:sym typeface="Proxima Nova"/>
            </a:endParaRPr>
          </a:p>
          <a:p>
            <a:pPr indent="0" lvl="0" marL="0" rtl="0" algn="l">
              <a:spcBef>
                <a:spcPts val="1200"/>
              </a:spcBef>
              <a:spcAft>
                <a:spcPts val="0"/>
              </a:spcAft>
              <a:buNone/>
            </a:pPr>
            <a:r>
              <a:rPr lang="en" sz="1200">
                <a:solidFill>
                  <a:schemeClr val="lt1"/>
                </a:solidFill>
                <a:latin typeface="Proxima Nova"/>
                <a:ea typeface="Proxima Nova"/>
                <a:cs typeface="Proxima Nova"/>
                <a:sym typeface="Proxima Nova"/>
              </a:rPr>
              <a:t>We take your competitor rankings and blend that with your rankings to create a </a:t>
            </a:r>
            <a:r>
              <a:rPr lang="en" sz="1200">
                <a:solidFill>
                  <a:schemeClr val="lt1"/>
                </a:solidFill>
                <a:latin typeface="Proxima Nova"/>
                <a:ea typeface="Proxima Nova"/>
                <a:cs typeface="Proxima Nova"/>
                <a:sym typeface="Proxima Nova"/>
              </a:rPr>
              <a:t>comparative</a:t>
            </a:r>
            <a:r>
              <a:rPr lang="en" sz="1200">
                <a:solidFill>
                  <a:schemeClr val="lt1"/>
                </a:solidFill>
                <a:latin typeface="Proxima Nova"/>
                <a:ea typeface="Proxima Nova"/>
                <a:cs typeface="Proxima Nova"/>
                <a:sym typeface="Proxima Nova"/>
              </a:rPr>
              <a:t> report. </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rPr lang="en" sz="1200">
                <a:solidFill>
                  <a:schemeClr val="lt1"/>
                </a:solidFill>
                <a:latin typeface="Proxima Nova"/>
                <a:ea typeface="Proxima Nova"/>
                <a:cs typeface="Proxima Nova"/>
                <a:sym typeface="Proxima Nova"/>
              </a:rPr>
              <a:t>We use this data to sort keywords for which you’re not currently ranking well.</a:t>
            </a:r>
            <a:endParaRPr sz="1200">
              <a:solidFill>
                <a:schemeClr val="lt1"/>
              </a:solidFill>
              <a:latin typeface="Proxima Nova"/>
              <a:ea typeface="Proxima Nova"/>
              <a:cs typeface="Proxima Nova"/>
              <a:sym typeface="Proxima Nova"/>
            </a:endParaRPr>
          </a:p>
        </p:txBody>
      </p:sp>
      <p:pic>
        <p:nvPicPr>
          <p:cNvPr id="115" name="Google Shape;115;p16"/>
          <p:cNvPicPr preferRelativeResize="0"/>
          <p:nvPr/>
        </p:nvPicPr>
        <p:blipFill>
          <a:blip r:embed="rId4">
            <a:alphaModFix/>
          </a:blip>
          <a:stretch>
            <a:fillRect/>
          </a:stretch>
        </p:blipFill>
        <p:spPr>
          <a:xfrm>
            <a:off x="4572000" y="1111350"/>
            <a:ext cx="4267198" cy="3498655"/>
          </a:xfrm>
          <a:prstGeom prst="rect">
            <a:avLst/>
          </a:prstGeom>
          <a:noFill/>
          <a:ln cap="flat" cmpd="sng" w="76200">
            <a:solidFill>
              <a:schemeClr val="dk1"/>
            </a:solidFill>
            <a:prstDash val="solid"/>
            <a:round/>
            <a:headEnd len="sm" w="sm" type="none"/>
            <a:tailEnd len="sm" w="sm" type="none"/>
          </a:ln>
        </p:spPr>
      </p:pic>
      <p:pic>
        <p:nvPicPr>
          <p:cNvPr id="116" name="Google Shape;116;p16"/>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20" name="Shape 120"/>
        <p:cNvGrpSpPr/>
        <p:nvPr/>
      </p:nvGrpSpPr>
      <p:grpSpPr>
        <a:xfrm>
          <a:off x="0" y="0"/>
          <a:ext cx="0" cy="0"/>
          <a:chOff x="0" y="0"/>
          <a:chExt cx="0" cy="0"/>
        </a:xfrm>
      </p:grpSpPr>
      <p:sp>
        <p:nvSpPr>
          <p:cNvPr id="121" name="Google Shape;121;p17"/>
          <p:cNvSpPr/>
          <p:nvPr/>
        </p:nvSpPr>
        <p:spPr>
          <a:xfrm>
            <a:off x="6429375" y="-42850"/>
            <a:ext cx="2714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txBox="1"/>
          <p:nvPr>
            <p:ph type="title"/>
          </p:nvPr>
        </p:nvSpPr>
        <p:spPr>
          <a:xfrm>
            <a:off x="279550" y="1093775"/>
            <a:ext cx="4938900" cy="91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022">
                <a:solidFill>
                  <a:schemeClr val="lt1"/>
                </a:solidFill>
                <a:latin typeface="Proxima Nova"/>
                <a:ea typeface="Proxima Nova"/>
                <a:cs typeface="Proxima Nova"/>
                <a:sym typeface="Proxima Nova"/>
              </a:rPr>
              <a:t>The Process</a:t>
            </a:r>
            <a:br>
              <a:rPr b="1" lang="en">
                <a:solidFill>
                  <a:schemeClr val="lt1"/>
                </a:solidFill>
                <a:latin typeface="Proxima Nova"/>
                <a:ea typeface="Proxima Nova"/>
                <a:cs typeface="Proxima Nova"/>
                <a:sym typeface="Proxima Nova"/>
              </a:rPr>
            </a:br>
            <a:r>
              <a:rPr b="1" lang="en" sz="2222">
                <a:solidFill>
                  <a:schemeClr val="lt1"/>
                </a:solidFill>
                <a:latin typeface="Proxima Nova"/>
                <a:ea typeface="Proxima Nova"/>
                <a:cs typeface="Proxima Nova"/>
                <a:sym typeface="Proxima Nova"/>
              </a:rPr>
              <a:t>Step 2: </a:t>
            </a:r>
            <a:r>
              <a:rPr b="1" lang="en" sz="2222">
                <a:solidFill>
                  <a:schemeClr val="lt1"/>
                </a:solidFill>
                <a:latin typeface="Proxima Nova"/>
                <a:ea typeface="Proxima Nova"/>
                <a:cs typeface="Proxima Nova"/>
                <a:sym typeface="Proxima Nova"/>
              </a:rPr>
              <a:t>Cleanup &amp; Analysis</a:t>
            </a:r>
            <a:endParaRPr b="1" sz="2222">
              <a:solidFill>
                <a:schemeClr val="lt1"/>
              </a:solidFill>
              <a:latin typeface="Proxima Nova"/>
              <a:ea typeface="Proxima Nova"/>
              <a:cs typeface="Proxima Nova"/>
              <a:sym typeface="Proxima Nova"/>
            </a:endParaRPr>
          </a:p>
        </p:txBody>
      </p:sp>
      <p:sp>
        <p:nvSpPr>
          <p:cNvPr id="123" name="Google Shape;123;p17"/>
          <p:cNvSpPr txBox="1"/>
          <p:nvPr>
            <p:ph idx="1" type="body"/>
          </p:nvPr>
        </p:nvSpPr>
        <p:spPr>
          <a:xfrm>
            <a:off x="279550" y="2126300"/>
            <a:ext cx="3941400" cy="263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Proxima Nova"/>
                <a:ea typeface="Proxima Nova"/>
                <a:cs typeface="Proxima Nova"/>
                <a:sym typeface="Proxima Nova"/>
              </a:rPr>
              <a:t>After we have the data available, we manually check each keyword and discard those which are not relevant. </a:t>
            </a:r>
            <a:endParaRPr sz="1200">
              <a:solidFill>
                <a:schemeClr val="lt1"/>
              </a:solidFill>
              <a:latin typeface="Proxima Nova"/>
              <a:ea typeface="Proxima Nova"/>
              <a:cs typeface="Proxima Nova"/>
              <a:sym typeface="Proxima Nova"/>
            </a:endParaRPr>
          </a:p>
          <a:p>
            <a:pPr indent="0" lvl="0" marL="0" rtl="0" algn="l">
              <a:spcBef>
                <a:spcPts val="1200"/>
              </a:spcBef>
              <a:spcAft>
                <a:spcPts val="0"/>
              </a:spcAft>
              <a:buClr>
                <a:schemeClr val="dk1"/>
              </a:buClr>
              <a:buSzPts val="1100"/>
              <a:buFont typeface="Arial"/>
              <a:buNone/>
            </a:pPr>
            <a:r>
              <a:rPr lang="en" sz="1200">
                <a:solidFill>
                  <a:schemeClr val="lt1"/>
                </a:solidFill>
                <a:latin typeface="Proxima Nova"/>
                <a:ea typeface="Proxima Nova"/>
                <a:cs typeface="Proxima Nova"/>
                <a:sym typeface="Proxima Nova"/>
              </a:rPr>
              <a:t>We then go through the refined keyword list to perform an analysis on how your keyword rankings currently stack up against your competitors, and identify where there are opportunities.</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t/>
            </a:r>
            <a:endParaRPr sz="1200">
              <a:solidFill>
                <a:schemeClr val="lt1"/>
              </a:solidFill>
              <a:latin typeface="Proxima Nova"/>
              <a:ea typeface="Proxima Nova"/>
              <a:cs typeface="Proxima Nova"/>
              <a:sym typeface="Proxima Nova"/>
            </a:endParaRPr>
          </a:p>
        </p:txBody>
      </p:sp>
      <p:pic>
        <p:nvPicPr>
          <p:cNvPr id="124" name="Google Shape;124;p17"/>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125" name="Google Shape;125;p17"/>
          <p:cNvPicPr preferRelativeResize="0"/>
          <p:nvPr/>
        </p:nvPicPr>
        <p:blipFill rotWithShape="1">
          <a:blip r:embed="rId4">
            <a:alphaModFix/>
          </a:blip>
          <a:srcRect b="9996" l="0" r="0" t="3760"/>
          <a:stretch/>
        </p:blipFill>
        <p:spPr>
          <a:xfrm>
            <a:off x="4572000" y="1111350"/>
            <a:ext cx="4267197" cy="3498656"/>
          </a:xfrm>
          <a:prstGeom prst="rect">
            <a:avLst/>
          </a:prstGeom>
          <a:noFill/>
          <a:ln cap="flat" cmpd="sng" w="76200">
            <a:solidFill>
              <a:schemeClr val="dk1"/>
            </a:solidFill>
            <a:prstDash val="solid"/>
            <a:round/>
            <a:headEnd len="sm" w="sm" type="none"/>
            <a:tailEnd len="sm" w="sm" type="none"/>
          </a:ln>
        </p:spPr>
      </p:pic>
      <p:pic>
        <p:nvPicPr>
          <p:cNvPr id="126" name="Google Shape;126;p17"/>
          <p:cNvPicPr preferRelativeResize="0"/>
          <p:nvPr/>
        </p:nvPicPr>
        <p:blipFill rotWithShape="1">
          <a:blip r:embed="rId5">
            <a:alphaModFix/>
          </a:blip>
          <a:srcRect b="0" l="21581" r="0" t="21210"/>
          <a:stretch/>
        </p:blipFill>
        <p:spPr>
          <a:xfrm flipH="1" rot="8763944">
            <a:off x="-257753" y="3306967"/>
            <a:ext cx="3515956" cy="597689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18"/>
          <p:cNvSpPr/>
          <p:nvPr/>
        </p:nvSpPr>
        <p:spPr>
          <a:xfrm rot="4823503">
            <a:off x="3917162" y="-343454"/>
            <a:ext cx="2284446" cy="10499308"/>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8"/>
          <p:cNvPicPr preferRelativeResize="0"/>
          <p:nvPr/>
        </p:nvPicPr>
        <p:blipFill>
          <a:blip r:embed="rId3">
            <a:alphaModFix/>
          </a:blip>
          <a:stretch>
            <a:fillRect/>
          </a:stretch>
        </p:blipFill>
        <p:spPr>
          <a:xfrm rot="2910547">
            <a:off x="6869994" y="2316794"/>
            <a:ext cx="2209960" cy="4446787"/>
          </a:xfrm>
          <a:prstGeom prst="rect">
            <a:avLst/>
          </a:prstGeom>
          <a:noFill/>
          <a:ln>
            <a:noFill/>
          </a:ln>
        </p:spPr>
      </p:pic>
      <p:sp>
        <p:nvSpPr>
          <p:cNvPr id="133" name="Google Shape;133;p18"/>
          <p:cNvSpPr txBox="1"/>
          <p:nvPr>
            <p:ph type="title"/>
          </p:nvPr>
        </p:nvSpPr>
        <p:spPr>
          <a:xfrm>
            <a:off x="593850" y="2239500"/>
            <a:ext cx="4056600" cy="6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a:solidFill>
                  <a:srgbClr val="E21A6B"/>
                </a:solidFill>
                <a:latin typeface="Proxima Nova"/>
                <a:ea typeface="Proxima Nova"/>
                <a:cs typeface="Proxima Nova"/>
                <a:sym typeface="Proxima Nova"/>
              </a:rPr>
              <a:t>What We Learned</a:t>
            </a:r>
            <a:endParaRPr b="1" sz="3420">
              <a:solidFill>
                <a:srgbClr val="E21A6B"/>
              </a:solidFill>
              <a:latin typeface="Proxima Nova"/>
              <a:ea typeface="Proxima Nova"/>
              <a:cs typeface="Proxima Nova"/>
              <a:sym typeface="Proxima Nova"/>
            </a:endParaRPr>
          </a:p>
        </p:txBody>
      </p:sp>
      <p:pic>
        <p:nvPicPr>
          <p:cNvPr id="134" name="Google Shape;134;p1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pic>
        <p:nvPicPr>
          <p:cNvPr id="135" name="Google Shape;135;p18"/>
          <p:cNvPicPr preferRelativeResize="0"/>
          <p:nvPr/>
        </p:nvPicPr>
        <p:blipFill>
          <a:blip r:embed="rId5">
            <a:alphaModFix/>
          </a:blip>
          <a:stretch>
            <a:fillRect/>
          </a:stretch>
        </p:blipFill>
        <p:spPr>
          <a:xfrm>
            <a:off x="4802850" y="1683657"/>
            <a:ext cx="4341149" cy="3013543"/>
          </a:xfrm>
          <a:prstGeom prst="rect">
            <a:avLst/>
          </a:prstGeom>
          <a:noFill/>
          <a:ln>
            <a:noFill/>
          </a:ln>
        </p:spPr>
      </p:pic>
      <p:sp>
        <p:nvSpPr>
          <p:cNvPr id="136" name="Google Shape;136;p18"/>
          <p:cNvSpPr/>
          <p:nvPr/>
        </p:nvSpPr>
        <p:spPr>
          <a:xfrm rot="4823503">
            <a:off x="2229752" y="-4392734"/>
            <a:ext cx="2284446" cy="7511117"/>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 name="Shape 140"/>
        <p:cNvGrpSpPr/>
        <p:nvPr/>
      </p:nvGrpSpPr>
      <p:grpSpPr>
        <a:xfrm>
          <a:off x="0" y="0"/>
          <a:ext cx="0" cy="0"/>
          <a:chOff x="0" y="0"/>
          <a:chExt cx="0" cy="0"/>
        </a:xfrm>
      </p:grpSpPr>
      <p:sp>
        <p:nvSpPr>
          <p:cNvPr id="141" name="Google Shape;141;p19"/>
          <p:cNvSpPr/>
          <p:nvPr/>
        </p:nvSpPr>
        <p:spPr>
          <a:xfrm rot="4823503">
            <a:off x="3917162" y="-343454"/>
            <a:ext cx="2284446" cy="10499308"/>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2" name="Google Shape;142;p19"/>
          <p:cNvPicPr preferRelativeResize="0"/>
          <p:nvPr/>
        </p:nvPicPr>
        <p:blipFill>
          <a:blip r:embed="rId3">
            <a:alphaModFix/>
          </a:blip>
          <a:stretch>
            <a:fillRect/>
          </a:stretch>
        </p:blipFill>
        <p:spPr>
          <a:xfrm rot="2910547">
            <a:off x="6869994" y="2316794"/>
            <a:ext cx="2209960" cy="4446787"/>
          </a:xfrm>
          <a:prstGeom prst="rect">
            <a:avLst/>
          </a:prstGeom>
          <a:noFill/>
          <a:ln>
            <a:noFill/>
          </a:ln>
        </p:spPr>
      </p:pic>
      <p:sp>
        <p:nvSpPr>
          <p:cNvPr id="143" name="Google Shape;143;p19"/>
          <p:cNvSpPr txBox="1"/>
          <p:nvPr>
            <p:ph type="title"/>
          </p:nvPr>
        </p:nvSpPr>
        <p:spPr>
          <a:xfrm>
            <a:off x="593850" y="2239500"/>
            <a:ext cx="4056600" cy="6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a:solidFill>
                  <a:srgbClr val="E21A6B"/>
                </a:solidFill>
                <a:latin typeface="Proxima Nova"/>
                <a:ea typeface="Proxima Nova"/>
                <a:cs typeface="Proxima Nova"/>
                <a:sym typeface="Proxima Nova"/>
              </a:rPr>
              <a:t>How To Use Gap Analysis</a:t>
            </a:r>
            <a:endParaRPr b="1" sz="3420">
              <a:solidFill>
                <a:srgbClr val="E21A6B"/>
              </a:solidFill>
              <a:latin typeface="Proxima Nova"/>
              <a:ea typeface="Proxima Nova"/>
              <a:cs typeface="Proxima Nova"/>
              <a:sym typeface="Proxima Nova"/>
            </a:endParaRPr>
          </a:p>
        </p:txBody>
      </p:sp>
      <p:pic>
        <p:nvPicPr>
          <p:cNvPr id="144" name="Google Shape;144;p1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pic>
        <p:nvPicPr>
          <p:cNvPr id="145" name="Google Shape;145;p19"/>
          <p:cNvPicPr preferRelativeResize="0"/>
          <p:nvPr/>
        </p:nvPicPr>
        <p:blipFill>
          <a:blip r:embed="rId5">
            <a:alphaModFix/>
          </a:blip>
          <a:stretch>
            <a:fillRect/>
          </a:stretch>
        </p:blipFill>
        <p:spPr>
          <a:xfrm>
            <a:off x="4802850" y="1683657"/>
            <a:ext cx="4341149" cy="3013543"/>
          </a:xfrm>
          <a:prstGeom prst="rect">
            <a:avLst/>
          </a:prstGeom>
          <a:noFill/>
          <a:ln>
            <a:noFill/>
          </a:ln>
        </p:spPr>
      </p:pic>
      <p:sp>
        <p:nvSpPr>
          <p:cNvPr id="146" name="Google Shape;146;p19"/>
          <p:cNvSpPr/>
          <p:nvPr/>
        </p:nvSpPr>
        <p:spPr>
          <a:xfrm rot="4823503">
            <a:off x="2229752" y="-4392734"/>
            <a:ext cx="2284446" cy="7511117"/>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150" name="Shape 150"/>
        <p:cNvGrpSpPr/>
        <p:nvPr/>
      </p:nvGrpSpPr>
      <p:grpSpPr>
        <a:xfrm>
          <a:off x="0" y="0"/>
          <a:ext cx="0" cy="0"/>
          <a:chOff x="0" y="0"/>
          <a:chExt cx="0" cy="0"/>
        </a:xfrm>
      </p:grpSpPr>
      <p:pic>
        <p:nvPicPr>
          <p:cNvPr id="151" name="Google Shape;151;p20"/>
          <p:cNvPicPr preferRelativeResize="0"/>
          <p:nvPr/>
        </p:nvPicPr>
        <p:blipFill rotWithShape="1">
          <a:blip r:embed="rId3">
            <a:alphaModFix/>
          </a:blip>
          <a:srcRect b="0" l="0" r="0" t="0"/>
          <a:stretch/>
        </p:blipFill>
        <p:spPr>
          <a:xfrm>
            <a:off x="8548875" y="4806050"/>
            <a:ext cx="465000" cy="393814"/>
          </a:xfrm>
          <a:prstGeom prst="rect">
            <a:avLst/>
          </a:prstGeom>
          <a:noFill/>
          <a:ln>
            <a:noFill/>
          </a:ln>
        </p:spPr>
      </p:pic>
      <p:sp>
        <p:nvSpPr>
          <p:cNvPr id="152" name="Google Shape;152;p20"/>
          <p:cNvSpPr/>
          <p:nvPr/>
        </p:nvSpPr>
        <p:spPr>
          <a:xfrm>
            <a:off x="152400" y="152400"/>
            <a:ext cx="35325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rgbClr val="FFFFFF"/>
                </a:solidFill>
                <a:latin typeface="Proxima Nova Extrabold"/>
                <a:ea typeface="Proxima Nova Extrabold"/>
                <a:cs typeface="Proxima Nova Extrabold"/>
                <a:sym typeface="Proxima Nova Extrabold"/>
              </a:rPr>
              <a:t>Organic Opportunity Analysis</a:t>
            </a:r>
            <a:endParaRPr sz="1200">
              <a:solidFill>
                <a:srgbClr val="FFFFFF"/>
              </a:solidFill>
              <a:latin typeface="Proxima Nova Extrabold"/>
              <a:ea typeface="Proxima Nova Extrabold"/>
              <a:cs typeface="Proxima Nova Extrabold"/>
              <a:sym typeface="Proxima Nova Extrabold"/>
            </a:endParaRPr>
          </a:p>
        </p:txBody>
      </p:sp>
      <p:sp>
        <p:nvSpPr>
          <p:cNvPr id="153" name="Google Shape;153;p20"/>
          <p:cNvSpPr txBox="1"/>
          <p:nvPr/>
        </p:nvSpPr>
        <p:spPr>
          <a:xfrm>
            <a:off x="444575" y="1387175"/>
            <a:ext cx="5848800" cy="3762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Proxima Nova"/>
              <a:buChar char="●"/>
            </a:pPr>
            <a:r>
              <a:rPr lang="en" sz="1200">
                <a:latin typeface="Proxima Nova"/>
                <a:ea typeface="Proxima Nova"/>
                <a:cs typeface="Proxima Nova"/>
                <a:sym typeface="Proxima Nova"/>
              </a:rPr>
              <a:t>$700 Average Order Value</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2.2% Organic Conversion Rate (Based on Organic Purchase CVR, excluding Article pages)</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US Market</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Existing Ranking Keywords in #6 or lower, excluding Blog pages (with exception of KWs listed in Slide Note).</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Keyword Gaps with three large competitors: withlocals.com, getyourguide.com, toursbylocals.com</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Targeting #2-3 (on average) in Google</a:t>
            </a:r>
            <a:endParaRPr sz="1200">
              <a:latin typeface="Proxima Nova"/>
              <a:ea typeface="Proxima Nova"/>
              <a:cs typeface="Proxima Nova"/>
              <a:sym typeface="Proxima Nova"/>
            </a:endParaRPr>
          </a:p>
          <a:p>
            <a:pPr indent="0" lvl="0" marL="0" rtl="0" algn="l">
              <a:spcBef>
                <a:spcPts val="1000"/>
              </a:spcBef>
              <a:spcAft>
                <a:spcPts val="0"/>
              </a:spcAft>
              <a:buNone/>
            </a:pPr>
            <a:r>
              <a:t/>
            </a:r>
            <a:endParaRPr sz="1200">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latin typeface="Proxima Nova"/>
                <a:ea typeface="Proxima Nova"/>
                <a:cs typeface="Proxima Nova"/>
                <a:sym typeface="Proxima Nova"/>
              </a:rPr>
              <a:t>The analyzed keyword list is focused on </a:t>
            </a:r>
            <a:r>
              <a:rPr b="1" lang="en" sz="1200">
                <a:latin typeface="Proxima Nova"/>
                <a:ea typeface="Proxima Nova"/>
                <a:cs typeface="Proxima Nova"/>
                <a:sym typeface="Proxima Nova"/>
              </a:rPr>
              <a:t>known organic opportunities for lower funnel/high intent landing pages and keywords</a:t>
            </a:r>
            <a:r>
              <a:rPr lang="en" sz="1200">
                <a:latin typeface="Proxima Nova"/>
                <a:ea typeface="Proxima Nova"/>
                <a:cs typeface="Proxima Nova"/>
                <a:sym typeface="Proxima Nova"/>
              </a:rPr>
              <a:t>. There is substantial organic ROI opportunity due to the </a:t>
            </a:r>
            <a:r>
              <a:rPr b="1" lang="en" sz="1200">
                <a:latin typeface="Proxima Nova"/>
                <a:ea typeface="Proxima Nova"/>
                <a:cs typeface="Proxima Nova"/>
                <a:sym typeface="Proxima Nova"/>
              </a:rPr>
              <a:t>number of destinations worldwide trips are offered.</a:t>
            </a:r>
            <a:endParaRPr sz="1200">
              <a:latin typeface="Proxima Nova"/>
              <a:ea typeface="Proxima Nova"/>
              <a:cs typeface="Proxima Nova"/>
              <a:sym typeface="Proxima Nova"/>
            </a:endParaRPr>
          </a:p>
        </p:txBody>
      </p:sp>
      <p:sp>
        <p:nvSpPr>
          <p:cNvPr id="154" name="Google Shape;154;p20"/>
          <p:cNvSpPr txBox="1"/>
          <p:nvPr/>
        </p:nvSpPr>
        <p:spPr>
          <a:xfrm>
            <a:off x="444575" y="855300"/>
            <a:ext cx="8569200" cy="3939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US Market Organic Opportunity Analysis Assumptions</a:t>
            </a:r>
            <a:endParaRPr b="1">
              <a:solidFill>
                <a:srgbClr val="E21A6B"/>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158" name="Shape 158"/>
        <p:cNvGrpSpPr/>
        <p:nvPr/>
      </p:nvGrpSpPr>
      <p:grpSpPr>
        <a:xfrm>
          <a:off x="0" y="0"/>
          <a:ext cx="0" cy="0"/>
          <a:chOff x="0" y="0"/>
          <a:chExt cx="0" cy="0"/>
        </a:xfrm>
      </p:grpSpPr>
      <p:pic>
        <p:nvPicPr>
          <p:cNvPr id="159" name="Google Shape;159;p21"/>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160" name="Google Shape;160;p21"/>
          <p:cNvSpPr/>
          <p:nvPr/>
        </p:nvSpPr>
        <p:spPr>
          <a:xfrm>
            <a:off x="0" y="0"/>
            <a:ext cx="35325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rgbClr val="FFFFFF"/>
                </a:solidFill>
                <a:latin typeface="Proxima Nova Extrabold"/>
                <a:ea typeface="Proxima Nova Extrabold"/>
                <a:cs typeface="Proxima Nova Extrabold"/>
                <a:sym typeface="Proxima Nova Extrabold"/>
              </a:rPr>
              <a:t>Organic Opportunity Analysis</a:t>
            </a:r>
            <a:endParaRPr sz="1200">
              <a:solidFill>
                <a:srgbClr val="FFFFFF"/>
              </a:solidFill>
              <a:latin typeface="Proxima Nova Extrabold"/>
              <a:ea typeface="Proxima Nova Extrabold"/>
              <a:cs typeface="Proxima Nova Extrabold"/>
              <a:sym typeface="Proxima Nova Extrabold"/>
            </a:endParaRPr>
          </a:p>
        </p:txBody>
      </p:sp>
      <p:sp>
        <p:nvSpPr>
          <p:cNvPr id="161" name="Google Shape;161;p21"/>
          <p:cNvSpPr txBox="1"/>
          <p:nvPr/>
        </p:nvSpPr>
        <p:spPr>
          <a:xfrm>
            <a:off x="6590800" y="1225950"/>
            <a:ext cx="2371800" cy="3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200">
                <a:latin typeface="Proxima Nova"/>
                <a:ea typeface="Proxima Nova"/>
                <a:cs typeface="Proxima Nova"/>
                <a:sym typeface="Proxima Nova"/>
              </a:rPr>
              <a:t>Opportunity Analysis Scenario Insights</a:t>
            </a:r>
            <a:endParaRPr b="1" sz="1200">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b="1"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lang="en" sz="1200">
                <a:latin typeface="Proxima Nova"/>
                <a:ea typeface="Proxima Nova"/>
                <a:cs typeface="Proxima Nova"/>
                <a:sym typeface="Proxima Nova"/>
              </a:rPr>
              <a:t>$40,433/mo. Incremental Revenue Starting End of Campaign Y1</a:t>
            </a:r>
            <a:endParaRPr sz="1200">
              <a:latin typeface="Proxima Nova"/>
              <a:ea typeface="Proxima Nova"/>
              <a:cs typeface="Proxima Nova"/>
              <a:sym typeface="Proxima Nova"/>
            </a:endParaRPr>
          </a:p>
          <a:p>
            <a:pPr indent="-304800" lvl="0" marL="457200" rtl="0" algn="l">
              <a:spcBef>
                <a:spcPts val="1000"/>
              </a:spcBef>
              <a:spcAft>
                <a:spcPts val="1000"/>
              </a:spcAft>
              <a:buSzPts val="1200"/>
              <a:buFont typeface="Proxima Nova"/>
              <a:buChar char="●"/>
            </a:pPr>
            <a:r>
              <a:rPr lang="en" sz="1200">
                <a:latin typeface="Proxima Nova"/>
                <a:ea typeface="Proxima Nova"/>
                <a:cs typeface="Proxima Nova"/>
                <a:sym typeface="Proxima Nova"/>
              </a:rPr>
              <a:t>Positive Total ROI Starting in Q4 of First Year</a:t>
            </a:r>
            <a:endParaRPr sz="1200">
              <a:latin typeface="Proxima Nova"/>
              <a:ea typeface="Proxima Nova"/>
              <a:cs typeface="Proxima Nova"/>
              <a:sym typeface="Proxima Nova"/>
            </a:endParaRPr>
          </a:p>
        </p:txBody>
      </p:sp>
      <p:sp>
        <p:nvSpPr>
          <p:cNvPr id="162" name="Google Shape;162;p21"/>
          <p:cNvSpPr txBox="1"/>
          <p:nvPr/>
        </p:nvSpPr>
        <p:spPr>
          <a:xfrm>
            <a:off x="292175" y="702900"/>
            <a:ext cx="8569200" cy="3939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$1,685,545 / mo. Target Organic Revenue Opportunity in US Market</a:t>
            </a:r>
            <a:endParaRPr b="1">
              <a:solidFill>
                <a:srgbClr val="E21A6B"/>
              </a:solidFill>
              <a:latin typeface="Proxima Nova"/>
              <a:ea typeface="Proxima Nova"/>
              <a:cs typeface="Proxima Nova"/>
              <a:sym typeface="Proxima Nova"/>
            </a:endParaRPr>
          </a:p>
        </p:txBody>
      </p:sp>
      <p:pic>
        <p:nvPicPr>
          <p:cNvPr id="163" name="Google Shape;163;p21" title="Chart"/>
          <p:cNvPicPr preferRelativeResize="0"/>
          <p:nvPr/>
        </p:nvPicPr>
        <p:blipFill>
          <a:blip r:embed="rId4">
            <a:alphaModFix/>
          </a:blip>
          <a:stretch>
            <a:fillRect/>
          </a:stretch>
        </p:blipFill>
        <p:spPr>
          <a:xfrm>
            <a:off x="152400" y="1249200"/>
            <a:ext cx="6035264" cy="3738751"/>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67" name="Shape 167"/>
        <p:cNvGrpSpPr/>
        <p:nvPr/>
      </p:nvGrpSpPr>
      <p:grpSpPr>
        <a:xfrm>
          <a:off x="0" y="0"/>
          <a:ext cx="0" cy="0"/>
          <a:chOff x="0" y="0"/>
          <a:chExt cx="0" cy="0"/>
        </a:xfrm>
      </p:grpSpPr>
      <p:sp>
        <p:nvSpPr>
          <p:cNvPr id="168" name="Google Shape;168;p22"/>
          <p:cNvSpPr/>
          <p:nvPr/>
        </p:nvSpPr>
        <p:spPr>
          <a:xfrm>
            <a:off x="6429375" y="-42850"/>
            <a:ext cx="2714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2"/>
          <p:cNvSpPr txBox="1"/>
          <p:nvPr>
            <p:ph type="title"/>
          </p:nvPr>
        </p:nvSpPr>
        <p:spPr>
          <a:xfrm>
            <a:off x="279550" y="1093775"/>
            <a:ext cx="4938900" cy="91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222">
                <a:solidFill>
                  <a:schemeClr val="lt1"/>
                </a:solidFill>
                <a:latin typeface="Proxima Nova"/>
                <a:ea typeface="Proxima Nova"/>
                <a:cs typeface="Proxima Nova"/>
                <a:sym typeface="Proxima Nova"/>
              </a:rPr>
              <a:t>Main Takeways</a:t>
            </a:r>
            <a:endParaRPr b="1" sz="2222">
              <a:solidFill>
                <a:schemeClr val="lt1"/>
              </a:solidFill>
              <a:latin typeface="Proxima Nova"/>
              <a:ea typeface="Proxima Nova"/>
              <a:cs typeface="Proxima Nova"/>
              <a:sym typeface="Proxima Nova"/>
            </a:endParaRPr>
          </a:p>
        </p:txBody>
      </p:sp>
      <p:sp>
        <p:nvSpPr>
          <p:cNvPr id="170" name="Google Shape;170;p22"/>
          <p:cNvSpPr txBox="1"/>
          <p:nvPr>
            <p:ph idx="1" type="body"/>
          </p:nvPr>
        </p:nvSpPr>
        <p:spPr>
          <a:xfrm>
            <a:off x="279550" y="1756100"/>
            <a:ext cx="3941400" cy="3006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In this slide, please record some of your main takeaways from the KW Gap Analysis.</a:t>
            </a:r>
            <a:endParaRPr sz="1200">
              <a:solidFill>
                <a:schemeClr val="lt1"/>
              </a:solidFill>
              <a:latin typeface="Proxima Nova"/>
              <a:ea typeface="Proxima Nova"/>
              <a:cs typeface="Proxima Nova"/>
              <a:sym typeface="Proxima Nova"/>
            </a:endParaRPr>
          </a:p>
          <a:p>
            <a:pPr indent="0" lvl="0" marL="0" rtl="0" algn="l">
              <a:spcBef>
                <a:spcPts val="1200"/>
              </a:spcBef>
              <a:spcAft>
                <a:spcPts val="0"/>
              </a:spcAft>
              <a:buNone/>
            </a:pPr>
            <a:r>
              <a:rPr lang="en" sz="1200">
                <a:solidFill>
                  <a:schemeClr val="lt1"/>
                </a:solidFill>
                <a:latin typeface="Proxima Nova"/>
                <a:ea typeface="Proxima Nova"/>
                <a:cs typeface="Proxima Nova"/>
                <a:sym typeface="Proxima Nova"/>
              </a:rPr>
              <a:t>This can include anything from</a:t>
            </a:r>
            <a:endParaRPr sz="1200">
              <a:solidFill>
                <a:schemeClr val="lt1"/>
              </a:solidFill>
              <a:latin typeface="Proxima Nova"/>
              <a:ea typeface="Proxima Nova"/>
              <a:cs typeface="Proxima Nova"/>
              <a:sym typeface="Proxima Nova"/>
            </a:endParaRPr>
          </a:p>
          <a:p>
            <a:pPr indent="-304800" lvl="0" marL="457200" rtl="0" algn="l">
              <a:spcBef>
                <a:spcPts val="120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What keywords competitors rank in the top 10 positions for, that your client does not</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Keywords that are valuable for future content</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Keywords that the client does rank well for</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Keywords that you do not see as opportunities, and should be avoided</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Overall verticals/themes you see potential for creating content</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rPr lang="en" sz="1200">
                <a:solidFill>
                  <a:schemeClr val="lt1"/>
                </a:solidFill>
                <a:latin typeface="Proxima Nova"/>
                <a:ea typeface="Proxima Nova"/>
                <a:cs typeface="Proxima Nova"/>
                <a:sym typeface="Proxima Nova"/>
              </a:rPr>
              <a:t>Please duplicate this slide as needed to create a presentation for your main takeaways.</a:t>
            </a:r>
            <a:endParaRPr sz="1200">
              <a:solidFill>
                <a:schemeClr val="lt1"/>
              </a:solidFill>
              <a:latin typeface="Proxima Nova"/>
              <a:ea typeface="Proxima Nova"/>
              <a:cs typeface="Proxima Nova"/>
              <a:sym typeface="Proxima Nova"/>
            </a:endParaRPr>
          </a:p>
        </p:txBody>
      </p:sp>
      <p:pic>
        <p:nvPicPr>
          <p:cNvPr id="171" name="Google Shape;171;p22"/>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172" name="Google Shape;172;p22"/>
          <p:cNvPicPr preferRelativeResize="0"/>
          <p:nvPr/>
        </p:nvPicPr>
        <p:blipFill rotWithShape="1">
          <a:blip r:embed="rId4">
            <a:alphaModFix/>
          </a:blip>
          <a:srcRect b="0" l="21581" r="0" t="21210"/>
          <a:stretch/>
        </p:blipFill>
        <p:spPr>
          <a:xfrm flipH="1" rot="8763944">
            <a:off x="-257753" y="3306967"/>
            <a:ext cx="3515956" cy="597689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76" name="Shape 176"/>
        <p:cNvGrpSpPr/>
        <p:nvPr/>
      </p:nvGrpSpPr>
      <p:grpSpPr>
        <a:xfrm>
          <a:off x="0" y="0"/>
          <a:ext cx="0" cy="0"/>
          <a:chOff x="0" y="0"/>
          <a:chExt cx="0" cy="0"/>
        </a:xfrm>
      </p:grpSpPr>
      <p:sp>
        <p:nvSpPr>
          <p:cNvPr id="177" name="Google Shape;177;p23"/>
          <p:cNvSpPr/>
          <p:nvPr/>
        </p:nvSpPr>
        <p:spPr>
          <a:xfrm>
            <a:off x="6429375" y="-42850"/>
            <a:ext cx="2714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3"/>
          <p:cNvSpPr txBox="1"/>
          <p:nvPr>
            <p:ph type="title"/>
          </p:nvPr>
        </p:nvSpPr>
        <p:spPr>
          <a:xfrm>
            <a:off x="279550" y="284900"/>
            <a:ext cx="4938900" cy="55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22">
                <a:solidFill>
                  <a:schemeClr val="lt1"/>
                </a:solidFill>
                <a:latin typeface="Proxima Nova"/>
                <a:ea typeface="Proxima Nova"/>
                <a:cs typeface="Proxima Nova"/>
                <a:sym typeface="Proxima Nova"/>
              </a:rPr>
              <a:t>Keyword Gaps and Opportunities</a:t>
            </a:r>
            <a:endParaRPr b="1" sz="2222">
              <a:solidFill>
                <a:schemeClr val="lt1"/>
              </a:solidFill>
              <a:latin typeface="Proxima Nova"/>
              <a:ea typeface="Proxima Nova"/>
              <a:cs typeface="Proxima Nova"/>
              <a:sym typeface="Proxima Nova"/>
            </a:endParaRPr>
          </a:p>
        </p:txBody>
      </p:sp>
      <p:pic>
        <p:nvPicPr>
          <p:cNvPr id="179" name="Google Shape;179;p23"/>
          <p:cNvPicPr preferRelativeResize="0"/>
          <p:nvPr/>
        </p:nvPicPr>
        <p:blipFill rotWithShape="1">
          <a:blip r:embed="rId3">
            <a:alphaModFix/>
          </a:blip>
          <a:srcRect b="0" l="21581" r="0" t="21210"/>
          <a:stretch/>
        </p:blipFill>
        <p:spPr>
          <a:xfrm flipH="1" rot="8763944">
            <a:off x="-257753" y="3306967"/>
            <a:ext cx="3515956" cy="5976892"/>
          </a:xfrm>
          <a:prstGeom prst="rect">
            <a:avLst/>
          </a:prstGeom>
          <a:noFill/>
          <a:ln>
            <a:noFill/>
          </a:ln>
        </p:spPr>
      </p:pic>
      <p:pic>
        <p:nvPicPr>
          <p:cNvPr id="180" name="Google Shape;180;p2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181" name="Google Shape;181;p23"/>
          <p:cNvSpPr txBox="1"/>
          <p:nvPr>
            <p:ph idx="1" type="body"/>
          </p:nvPr>
        </p:nvSpPr>
        <p:spPr>
          <a:xfrm>
            <a:off x="279550" y="726825"/>
            <a:ext cx="5760900" cy="10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The following table contains keywords [Client] currently ranks at the bottom or just outside of the first page of search results. If any of the following terms are valuable, our SEO efforts will be put towards optimizing content &amp; building authority for these low-hanging fruit to get them to the page 1:</a:t>
            </a:r>
            <a:endParaRPr sz="1200">
              <a:solidFill>
                <a:schemeClr val="lt1"/>
              </a:solidFill>
              <a:latin typeface="Proxima Nova"/>
              <a:ea typeface="Proxima Nova"/>
              <a:cs typeface="Proxima Nova"/>
              <a:sym typeface="Proxima Nova"/>
            </a:endParaRPr>
          </a:p>
          <a:p>
            <a:pPr indent="0" lvl="0" marL="0" rtl="0" algn="l">
              <a:spcBef>
                <a:spcPts val="1200"/>
              </a:spcBef>
              <a:spcAft>
                <a:spcPts val="1200"/>
              </a:spcAft>
              <a:buNone/>
            </a:pPr>
            <a:r>
              <a:t/>
            </a:r>
            <a:endParaRPr sz="1200">
              <a:solidFill>
                <a:schemeClr val="lt1"/>
              </a:solidFill>
              <a:latin typeface="Proxima Nova"/>
              <a:ea typeface="Proxima Nova"/>
              <a:cs typeface="Proxima Nova"/>
              <a:sym typeface="Proxima Nova"/>
            </a:endParaRPr>
          </a:p>
        </p:txBody>
      </p:sp>
      <p:graphicFrame>
        <p:nvGraphicFramePr>
          <p:cNvPr id="182" name="Google Shape;182;p23"/>
          <p:cNvGraphicFramePr/>
          <p:nvPr/>
        </p:nvGraphicFramePr>
        <p:xfrm>
          <a:off x="398575" y="1862500"/>
          <a:ext cx="3000000" cy="3000000"/>
        </p:xfrm>
        <a:graphic>
          <a:graphicData uri="http://schemas.openxmlformats.org/drawingml/2006/table">
            <a:tbl>
              <a:tblPr>
                <a:noFill/>
                <a:tableStyleId>{276EC356-DA7B-4D5C-BF21-7878F331DA22}</a:tableStyleId>
              </a:tblPr>
              <a:tblGrid>
                <a:gridCol w="2961525"/>
                <a:gridCol w="1390050"/>
                <a:gridCol w="1376600"/>
                <a:gridCol w="1510825"/>
              </a:tblGrid>
              <a:tr h="381000">
                <a:tc>
                  <a:txBody>
                    <a:bodyPr/>
                    <a:lstStyle/>
                    <a:p>
                      <a:pPr indent="0" lvl="0" marL="0" rtl="0" algn="l">
                        <a:spcBef>
                          <a:spcPts val="0"/>
                        </a:spcBef>
                        <a:spcAft>
                          <a:spcPts val="0"/>
                        </a:spcAft>
                        <a:buNone/>
                      </a:pPr>
                      <a:r>
                        <a:rPr b="1" lang="en" sz="1200">
                          <a:latin typeface="Proxima Nova"/>
                          <a:ea typeface="Proxima Nova"/>
                          <a:cs typeface="Proxima Nova"/>
                          <a:sym typeface="Proxima Nova"/>
                        </a:rPr>
                        <a:t>Keyword</a:t>
                      </a:r>
                      <a:endParaRPr b="1" sz="1200">
                        <a:latin typeface="Proxima Nova"/>
                        <a:ea typeface="Proxima Nova"/>
                        <a:cs typeface="Proxima Nova"/>
                        <a:sym typeface="Proxima Nova"/>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200">
                          <a:latin typeface="Proxima Nova"/>
                          <a:ea typeface="Proxima Nova"/>
                          <a:cs typeface="Proxima Nova"/>
                          <a:sym typeface="Proxima Nova"/>
                        </a:rPr>
                        <a:t>KD</a:t>
                      </a:r>
                      <a:endParaRPr b="1" sz="1200">
                        <a:latin typeface="Proxima Nova"/>
                        <a:ea typeface="Proxima Nova"/>
                        <a:cs typeface="Proxima Nova"/>
                        <a:sym typeface="Proxima Nova"/>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200">
                          <a:latin typeface="Proxima Nova"/>
                          <a:ea typeface="Proxima Nova"/>
                          <a:cs typeface="Proxima Nova"/>
                          <a:sym typeface="Proxima Nova"/>
                        </a:rPr>
                        <a:t>Volume</a:t>
                      </a:r>
                      <a:endParaRPr b="1" sz="1200">
                        <a:latin typeface="Proxima Nova"/>
                        <a:ea typeface="Proxima Nova"/>
                        <a:cs typeface="Proxima Nova"/>
                        <a:sym typeface="Proxima Nova"/>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200">
                          <a:latin typeface="Proxima Nova"/>
                          <a:ea typeface="Proxima Nova"/>
                          <a:cs typeface="Proxima Nova"/>
                          <a:sym typeface="Proxima Nova"/>
                        </a:rPr>
                        <a:t>Current Position</a:t>
                      </a:r>
                      <a:endParaRPr b="1" sz="1200">
                        <a:latin typeface="Proxima Nova"/>
                        <a:ea typeface="Proxima Nova"/>
                        <a:cs typeface="Proxima Nova"/>
                        <a:sym typeface="Proxima Nova"/>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sz="1000">
                        <a:latin typeface="Proxima Nova"/>
                        <a:ea typeface="Proxima Nova"/>
                        <a:cs typeface="Proxima Nova"/>
                        <a:sym typeface="Proxima Nova"/>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r h="381000">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a:p>
                  </a:txBody>
                  <a:tcPr marT="91425" marB="91425" marR="91425" marL="91425">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86" name="Shape 186"/>
        <p:cNvGrpSpPr/>
        <p:nvPr/>
      </p:nvGrpSpPr>
      <p:grpSpPr>
        <a:xfrm>
          <a:off x="0" y="0"/>
          <a:ext cx="0" cy="0"/>
          <a:chOff x="0" y="0"/>
          <a:chExt cx="0" cy="0"/>
        </a:xfrm>
      </p:grpSpPr>
      <p:sp>
        <p:nvSpPr>
          <p:cNvPr id="187" name="Google Shape;187;p24"/>
          <p:cNvSpPr/>
          <p:nvPr/>
        </p:nvSpPr>
        <p:spPr>
          <a:xfrm>
            <a:off x="5494000" y="-42850"/>
            <a:ext cx="36498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4"/>
          <p:cNvSpPr txBox="1"/>
          <p:nvPr>
            <p:ph type="title"/>
          </p:nvPr>
        </p:nvSpPr>
        <p:spPr>
          <a:xfrm>
            <a:off x="279550" y="602500"/>
            <a:ext cx="5737500" cy="6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820">
                <a:solidFill>
                  <a:schemeClr val="lt1"/>
                </a:solidFill>
                <a:latin typeface="Proxima Nova"/>
                <a:ea typeface="Proxima Nova"/>
                <a:cs typeface="Proxima Nova"/>
                <a:sym typeface="Proxima Nova"/>
              </a:rPr>
              <a:t>Main Takeaways: </a:t>
            </a:r>
            <a:endParaRPr b="1" sz="1820">
              <a:solidFill>
                <a:schemeClr val="lt1"/>
              </a:solidFill>
              <a:latin typeface="Proxima Nova"/>
              <a:ea typeface="Proxima Nova"/>
              <a:cs typeface="Proxima Nova"/>
              <a:sym typeface="Proxima Nova"/>
            </a:endParaRPr>
          </a:p>
        </p:txBody>
      </p:sp>
      <p:sp>
        <p:nvSpPr>
          <p:cNvPr id="189" name="Google Shape;189;p24"/>
          <p:cNvSpPr txBox="1"/>
          <p:nvPr>
            <p:ph idx="1" type="body"/>
          </p:nvPr>
        </p:nvSpPr>
        <p:spPr>
          <a:xfrm>
            <a:off x="5728900" y="1125475"/>
            <a:ext cx="3180000" cy="375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text</a:t>
            </a:r>
            <a:endParaRPr sz="1200">
              <a:solidFill>
                <a:schemeClr val="dk1"/>
              </a:solidFill>
              <a:latin typeface="Proxima Nova"/>
              <a:ea typeface="Proxima Nova"/>
              <a:cs typeface="Proxima Nova"/>
              <a:sym typeface="Proxima Nova"/>
            </a:endParaRPr>
          </a:p>
          <a:p>
            <a:pPr indent="0" lvl="0" marL="457200" rtl="0" algn="l">
              <a:spcBef>
                <a:spcPts val="1000"/>
              </a:spcBef>
              <a:spcAft>
                <a:spcPts val="1200"/>
              </a:spcAft>
              <a:buNone/>
            </a:pPr>
            <a:r>
              <a:t/>
            </a:r>
            <a:endParaRPr sz="1200">
              <a:solidFill>
                <a:schemeClr val="dk1"/>
              </a:solidFill>
              <a:latin typeface="Proxima Nova"/>
              <a:ea typeface="Proxima Nova"/>
              <a:cs typeface="Proxima Nova"/>
              <a:sym typeface="Proxima Nova"/>
            </a:endParaRPr>
          </a:p>
        </p:txBody>
      </p:sp>
      <p:pic>
        <p:nvPicPr>
          <p:cNvPr id="190" name="Google Shape;190;p24"/>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191" name="Google Shape;191;p24" title="Chart"/>
          <p:cNvPicPr preferRelativeResize="0"/>
          <p:nvPr/>
        </p:nvPicPr>
        <p:blipFill>
          <a:blip r:embed="rId4">
            <a:alphaModFix/>
          </a:blip>
          <a:stretch>
            <a:fillRect/>
          </a:stretch>
        </p:blipFill>
        <p:spPr>
          <a:xfrm>
            <a:off x="357125" y="1592625"/>
            <a:ext cx="4556118" cy="2817200"/>
          </a:xfrm>
          <a:prstGeom prst="rect">
            <a:avLst/>
          </a:prstGeom>
          <a:solidFill>
            <a:schemeClr val="lt1"/>
          </a:solid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95" name="Shape 195"/>
        <p:cNvGrpSpPr/>
        <p:nvPr/>
      </p:nvGrpSpPr>
      <p:grpSpPr>
        <a:xfrm>
          <a:off x="0" y="0"/>
          <a:ext cx="0" cy="0"/>
          <a:chOff x="0" y="0"/>
          <a:chExt cx="0" cy="0"/>
        </a:xfrm>
      </p:grpSpPr>
      <p:sp>
        <p:nvSpPr>
          <p:cNvPr id="196" name="Google Shape;196;p25"/>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197" name="Google Shape;197;p25"/>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198" name="Google Shape;198;p25"/>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199" name="Google Shape;199;p25"/>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FF"/>
                </a:solidFill>
                <a:latin typeface="Proxima Nova"/>
                <a:ea typeface="Proxima Nova"/>
                <a:cs typeface="Proxima Nova"/>
                <a:sym typeface="Proxima Nova"/>
              </a:rPr>
              <a:t>www.propellic.com</a:t>
            </a:r>
            <a:endParaRPr>
              <a:solidFill>
                <a:srgbClr val="FFFFFF"/>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