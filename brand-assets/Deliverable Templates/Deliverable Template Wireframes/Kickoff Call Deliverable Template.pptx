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Proxima Nova"/>
      <p:regular r:id="rId31"/>
      <p:bold r:id="rId32"/>
      <p:italic r:id="rId33"/>
      <p:boldItalic r:id="rId34"/>
    </p:embeddedFont>
    <p:embeddedFont>
      <p:font typeface="Roboto"/>
      <p:regular r:id="rId35"/>
      <p:bold r:id="rId36"/>
      <p:italic r:id="rId37"/>
      <p:boldItalic r:id="rId38"/>
    </p:embeddedFont>
    <p:embeddedFont>
      <p:font typeface="Proxima Nova Semibold"/>
      <p:regular r:id="rId39"/>
      <p:bold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Semibold-bold.fntdata"/><Relationship Id="rId20" Type="http://schemas.openxmlformats.org/officeDocument/2006/relationships/slide" Target="slides/slide15.xml"/><Relationship Id="rId41" Type="http://schemas.openxmlformats.org/officeDocument/2006/relationships/font" Target="fonts/ProximaNovaSemi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roximaNova-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roximaNova-italic.fntdata"/><Relationship Id="rId10" Type="http://schemas.openxmlformats.org/officeDocument/2006/relationships/slide" Target="slides/slide5.xml"/><Relationship Id="rId32" Type="http://schemas.openxmlformats.org/officeDocument/2006/relationships/font" Target="fonts/ProximaNova-bold.fntdata"/><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font" Target="fonts/ProximaNova-boldItalic.fntdata"/><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39" Type="http://schemas.openxmlformats.org/officeDocument/2006/relationships/font" Target="fonts/ProximaNovaSemibold-regular.fntdata"/><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ea3b34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ea3b34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3aea3b34d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3aea3b34d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371da273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371da273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371da273d9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g1371da273d9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489097e09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489097e09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371da273d9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371da273d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48a7a55c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48a7a55c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48a7a55c5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48a7a55c5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48a7a55c5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48a7a55c5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489097e09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489097e09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371da273d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371da273d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371da273d9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371da273d9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51c21078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51c21078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51c21078d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51c21078d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51c21078d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51c21078d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51c21078d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51c21078d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51c21078d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51c21078d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51c21078d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51c21078d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51c21078d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51c21078d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51c21078d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51c21078d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51c21078d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51c21078d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51c21078d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51c21078d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371da273d9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371da273d9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51c21078d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51c21078d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3aea3b34d8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3aea3b34d8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app.pandadoc.com/document/06de8fda553e47620a41958e9d9722aed231a55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app.pandadoc.com/document/06de8fda553e47620a41958e9d9722aed231a55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app.pandadoc.com/document/06de8fda553e47620a41958e9d9722aed231a55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app.pandadoc.com/document/06de8fda553e47620a41958e9d9722aed231a55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app.pandadoc.com/document/06de8fda553e47620a41958e9d9722aed231a55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app.pandadoc.com/document/06de8fda553e47620a41958e9d9722aed231a55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app.pandadoc.com/document/06de8fda553e47620a41958e9d9722aed231a55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731950"/>
            <a:ext cx="8520600" cy="72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b="1" lang="en" sz="4420">
                <a:solidFill>
                  <a:schemeClr val="lt1"/>
                </a:solidFill>
                <a:latin typeface="Proxima Nova"/>
                <a:ea typeface="Proxima Nova"/>
                <a:cs typeface="Proxima Nova"/>
                <a:sym typeface="Proxima Nova"/>
              </a:rPr>
              <a:t>{Client Name} Kickoff</a:t>
            </a:r>
            <a:endParaRPr b="1" sz="4420">
              <a:solidFill>
                <a:schemeClr val="lt1"/>
              </a:solidFill>
              <a:latin typeface="Proxima Nova"/>
              <a:ea typeface="Proxima Nova"/>
              <a:cs typeface="Proxima Nova"/>
              <a:sym typeface="Proxima Nova"/>
            </a:endParaRPr>
          </a:p>
        </p:txBody>
      </p:sp>
      <p:sp>
        <p:nvSpPr>
          <p:cNvPr id="55" name="Google Shape;55;p13"/>
          <p:cNvSpPr txBox="1"/>
          <p:nvPr>
            <p:ph idx="1" type="subTitle"/>
          </p:nvPr>
        </p:nvSpPr>
        <p:spPr>
          <a:xfrm>
            <a:off x="311700" y="3553075"/>
            <a:ext cx="5407500" cy="450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2300">
                <a:solidFill>
                  <a:schemeClr val="lt1"/>
                </a:solidFill>
                <a:latin typeface="Proxima Nova"/>
                <a:ea typeface="Proxima Nova"/>
                <a:cs typeface="Proxima Nova"/>
                <a:sym typeface="Proxima Nova"/>
              </a:rPr>
              <a:t>Date</a:t>
            </a:r>
            <a:endParaRPr sz="2300">
              <a:solidFill>
                <a:schemeClr val="lt1"/>
              </a:solidFill>
              <a:latin typeface="Proxima Nova"/>
              <a:ea typeface="Proxima Nova"/>
              <a:cs typeface="Proxima Nova"/>
              <a:sym typeface="Proxima Nova"/>
            </a:endParaRPr>
          </a:p>
        </p:txBody>
      </p:sp>
      <p:pic>
        <p:nvPicPr>
          <p:cNvPr id="56" name="Google Shape;56;p13"/>
          <p:cNvPicPr preferRelativeResize="0"/>
          <p:nvPr/>
        </p:nvPicPr>
        <p:blipFill>
          <a:blip r:embed="rId3">
            <a:alphaModFix/>
          </a:blip>
          <a:stretch>
            <a:fillRect/>
          </a:stretch>
        </p:blipFill>
        <p:spPr>
          <a:xfrm>
            <a:off x="402174" y="713560"/>
            <a:ext cx="1598936" cy="376532"/>
          </a:xfrm>
          <a:prstGeom prst="rect">
            <a:avLst/>
          </a:prstGeom>
          <a:noFill/>
          <a:ln>
            <a:noFill/>
          </a:ln>
        </p:spPr>
      </p:pic>
      <p:pic>
        <p:nvPicPr>
          <p:cNvPr id="57" name="Google Shape;57;p13"/>
          <p:cNvPicPr preferRelativeResize="0"/>
          <p:nvPr/>
        </p:nvPicPr>
        <p:blipFill>
          <a:blip r:embed="rId4">
            <a:alphaModFix/>
          </a:blip>
          <a:stretch>
            <a:fillRect/>
          </a:stretch>
        </p:blipFill>
        <p:spPr>
          <a:xfrm>
            <a:off x="2554961" y="645775"/>
            <a:ext cx="512113" cy="512100"/>
          </a:xfrm>
          <a:prstGeom prst="rect">
            <a:avLst/>
          </a:prstGeom>
          <a:noFill/>
          <a:ln>
            <a:noFill/>
          </a:ln>
        </p:spPr>
      </p:pic>
      <p:sp>
        <p:nvSpPr>
          <p:cNvPr id="58" name="Google Shape;58;p13"/>
          <p:cNvSpPr txBox="1"/>
          <p:nvPr>
            <p:ph idx="1" type="subTitle"/>
          </p:nvPr>
        </p:nvSpPr>
        <p:spPr>
          <a:xfrm>
            <a:off x="2068440" y="713548"/>
            <a:ext cx="419100" cy="3765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lang="en" sz="2300">
                <a:solidFill>
                  <a:schemeClr val="lt1"/>
                </a:solidFill>
                <a:latin typeface="Proxima Nova Semibold"/>
                <a:ea typeface="Proxima Nova Semibold"/>
                <a:cs typeface="Proxima Nova Semibold"/>
                <a:sym typeface="Proxima Nova Semibold"/>
              </a:rPr>
              <a:t>x</a:t>
            </a:r>
            <a:endParaRPr sz="2300">
              <a:solidFill>
                <a:schemeClr val="lt1"/>
              </a:solidFill>
              <a:latin typeface="Proxima Nova Semibold"/>
              <a:ea typeface="Proxima Nova Semibold"/>
              <a:cs typeface="Proxima Nova Semibold"/>
              <a:sym typeface="Proxima Nova Semibold"/>
            </a:endParaRPr>
          </a:p>
        </p:txBody>
      </p:sp>
      <p:pic>
        <p:nvPicPr>
          <p:cNvPr id="59" name="Google Shape;59;p13"/>
          <p:cNvPicPr preferRelativeResize="0"/>
          <p:nvPr/>
        </p:nvPicPr>
        <p:blipFill rotWithShape="1">
          <a:blip r:embed="rId5">
            <a:alphaModFix/>
          </a:blip>
          <a:srcRect b="0" l="21581" r="0" t="21210"/>
          <a:stretch/>
        </p:blipFill>
        <p:spPr>
          <a:xfrm flipH="1" rot="7">
            <a:off x="7397650" y="-85322"/>
            <a:ext cx="2879850" cy="528974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Propellic’s Core Values</a:t>
            </a:r>
            <a:endParaRPr/>
          </a:p>
        </p:txBody>
      </p:sp>
      <p:pic>
        <p:nvPicPr>
          <p:cNvPr id="65" name="Google Shape;65;p14"/>
          <p:cNvPicPr preferRelativeResize="0"/>
          <p:nvPr/>
        </p:nvPicPr>
        <p:blipFill>
          <a:blip r:embed="rId3">
            <a:alphaModFix/>
          </a:blip>
          <a:stretch>
            <a:fillRect/>
          </a:stretch>
        </p:blipFill>
        <p:spPr>
          <a:xfrm>
            <a:off x="2962938" y="1107475"/>
            <a:ext cx="3218117" cy="382097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133"/>
              <a:t>Meet the Team</a:t>
            </a:r>
            <a:endParaRPr sz="1133"/>
          </a:p>
          <a:p>
            <a:pPr indent="0" lvl="0" marL="0" rtl="0" algn="l">
              <a:spcBef>
                <a:spcPts val="0"/>
              </a:spcBef>
              <a:spcAft>
                <a:spcPts val="0"/>
              </a:spcAft>
              <a:buNone/>
            </a:pPr>
            <a:r>
              <a:rPr lang="en"/>
              <a:t>Brennen Bliss</a:t>
            </a:r>
            <a:endParaRPr/>
          </a:p>
        </p:txBody>
      </p:sp>
      <p:sp>
        <p:nvSpPr>
          <p:cNvPr id="71" name="Google Shape;71;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Designer Notes for each team member, with examples: </a:t>
            </a:r>
            <a:endParaRPr/>
          </a:p>
          <a:p>
            <a:pPr indent="-342900" lvl="0" marL="457200" rtl="0" algn="l">
              <a:spcBef>
                <a:spcPts val="1200"/>
              </a:spcBef>
              <a:spcAft>
                <a:spcPts val="0"/>
              </a:spcAft>
              <a:buSzPts val="1800"/>
              <a:buChar char="-"/>
            </a:pPr>
            <a:r>
              <a:rPr lang="en"/>
              <a:t>Name (First &amp; Last): Brennen Bliss</a:t>
            </a:r>
            <a:endParaRPr/>
          </a:p>
          <a:p>
            <a:pPr indent="-342900" lvl="0" marL="457200" rtl="0" algn="l">
              <a:spcBef>
                <a:spcPts val="0"/>
              </a:spcBef>
              <a:spcAft>
                <a:spcPts val="0"/>
              </a:spcAft>
              <a:buSzPts val="1800"/>
              <a:buChar char="-"/>
            </a:pPr>
            <a:r>
              <a:rPr lang="en"/>
              <a:t>Headshot Photo </a:t>
            </a:r>
            <a:endParaRPr/>
          </a:p>
          <a:p>
            <a:pPr indent="-342900" lvl="0" marL="457200" rtl="0" algn="l">
              <a:spcBef>
                <a:spcPts val="0"/>
              </a:spcBef>
              <a:spcAft>
                <a:spcPts val="0"/>
              </a:spcAft>
              <a:buSzPts val="1800"/>
              <a:buChar char="-"/>
            </a:pPr>
            <a:r>
              <a:rPr lang="en"/>
              <a:t>Title @ Propellic: Principal</a:t>
            </a:r>
            <a:endParaRPr/>
          </a:p>
          <a:p>
            <a:pPr indent="-342900" lvl="0" marL="457200" rtl="0" algn="l">
              <a:spcBef>
                <a:spcPts val="0"/>
              </a:spcBef>
              <a:spcAft>
                <a:spcPts val="0"/>
              </a:spcAft>
              <a:buSzPts val="1800"/>
              <a:buChar char="-"/>
            </a:pPr>
            <a:r>
              <a:rPr lang="en"/>
              <a:t>3-Sentence Bio: </a:t>
            </a:r>
            <a:r>
              <a:rPr lang="en" sz="1050">
                <a:solidFill>
                  <a:schemeClr val="dk1"/>
                </a:solidFill>
                <a:highlight>
                  <a:srgbClr val="FFFFFF"/>
                </a:highlight>
                <a:latin typeface="Roboto"/>
                <a:ea typeface="Roboto"/>
                <a:cs typeface="Roboto"/>
                <a:sym typeface="Roboto"/>
              </a:rPr>
              <a:t>Brennen is an SEO industry expert who, together with his team, raises the visibility of the travel &amp; tourism brands he works with, leveraging the power of SEO strategy to build online revenue and bring in more bookings &amp; sales. Brennen takes no shortcuts in SEO and firmly believes that the route to success follows the data.</a:t>
            </a:r>
            <a:endParaRPr/>
          </a:p>
          <a:p>
            <a:pPr indent="-342900" lvl="0" marL="457200" rtl="0" algn="l">
              <a:spcBef>
                <a:spcPts val="0"/>
              </a:spcBef>
              <a:spcAft>
                <a:spcPts val="0"/>
              </a:spcAft>
              <a:buSzPts val="1800"/>
              <a:buChar char="-"/>
            </a:pPr>
            <a:r>
              <a:rPr lang="en"/>
              <a:t>City, State: Austin, Texas</a:t>
            </a:r>
            <a:endParaRPr/>
          </a:p>
          <a:p>
            <a:pPr indent="-342900" lvl="0" marL="457200" rtl="0" algn="l">
              <a:spcBef>
                <a:spcPts val="0"/>
              </a:spcBef>
              <a:spcAft>
                <a:spcPts val="0"/>
              </a:spcAft>
              <a:buSzPts val="1800"/>
              <a:buChar char="-"/>
            </a:pPr>
            <a:r>
              <a:rPr lang="en"/>
              <a:t>Favorite Vacation Destination: Pidemont Italy, Arenal Costa Rica</a:t>
            </a:r>
            <a:endParaRPr/>
          </a:p>
          <a:p>
            <a:pPr indent="-342900" lvl="0" marL="457200" rtl="0" algn="l">
              <a:spcBef>
                <a:spcPts val="0"/>
              </a:spcBef>
              <a:spcAft>
                <a:spcPts val="0"/>
              </a:spcAft>
              <a:buSzPts val="1800"/>
              <a:buChar char="-"/>
            </a:pPr>
            <a:r>
              <a:rPr lang="en"/>
              <a:t>Travel Bucket List Destinatoins: Bali, Tokyo, Philippines, Vietnam</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914295" y="2093176"/>
            <a:ext cx="2744700" cy="615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1" i="0" lang="en" sz="4000" u="none" cap="none" strike="noStrike">
                <a:solidFill>
                  <a:srgbClr val="E21A6B"/>
                </a:solidFill>
                <a:latin typeface="Proxima Nova"/>
                <a:ea typeface="Proxima Nova"/>
                <a:cs typeface="Proxima Nova"/>
                <a:sym typeface="Proxima Nova"/>
              </a:rPr>
              <a:t>AGENDA</a:t>
            </a:r>
            <a:endParaRPr b="1" i="0" sz="700" u="none" cap="none" strike="noStrike">
              <a:solidFill>
                <a:srgbClr val="000000"/>
              </a:solidFill>
              <a:latin typeface="Proxima Nova"/>
              <a:ea typeface="Proxima Nova"/>
              <a:cs typeface="Proxima Nova"/>
              <a:sym typeface="Proxima Nova"/>
            </a:endParaRPr>
          </a:p>
        </p:txBody>
      </p:sp>
      <p:sp>
        <p:nvSpPr>
          <p:cNvPr id="77" name="Google Shape;77;p16"/>
          <p:cNvSpPr/>
          <p:nvPr/>
        </p:nvSpPr>
        <p:spPr>
          <a:xfrm>
            <a:off x="4572000" y="0"/>
            <a:ext cx="4569986" cy="5141235"/>
          </a:xfrm>
          <a:custGeom>
            <a:rect b="b" l="l" r="r" t="t"/>
            <a:pathLst>
              <a:path extrusionOk="0" h="3752726" w="3335756">
                <a:moveTo>
                  <a:pt x="0" y="0"/>
                </a:moveTo>
                <a:lnTo>
                  <a:pt x="3335756" y="0"/>
                </a:lnTo>
                <a:lnTo>
                  <a:pt x="3335756" y="3752726"/>
                </a:lnTo>
                <a:lnTo>
                  <a:pt x="0" y="3752726"/>
                </a:lnTo>
                <a:close/>
              </a:path>
            </a:pathLst>
          </a:custGeom>
          <a:solidFill>
            <a:srgbClr val="E21A6B"/>
          </a:solidFill>
          <a:ln>
            <a:noFill/>
          </a:ln>
        </p:spPr>
      </p:sp>
      <p:cxnSp>
        <p:nvCxnSpPr>
          <p:cNvPr id="78" name="Google Shape;78;p16"/>
          <p:cNvCxnSpPr/>
          <p:nvPr/>
        </p:nvCxnSpPr>
        <p:spPr>
          <a:xfrm rot="-5400000">
            <a:off x="4193521" y="2700419"/>
            <a:ext cx="5554200" cy="0"/>
          </a:xfrm>
          <a:prstGeom prst="straightConnector1">
            <a:avLst/>
          </a:prstGeom>
          <a:noFill/>
          <a:ln cap="flat" cmpd="sng" w="28575">
            <a:solidFill>
              <a:srgbClr val="FFFFFF"/>
            </a:solidFill>
            <a:prstDash val="solid"/>
            <a:round/>
            <a:headEnd len="sm" w="sm" type="none"/>
            <a:tailEnd len="sm" w="sm" type="none"/>
          </a:ln>
        </p:spPr>
      </p:cxnSp>
      <p:cxnSp>
        <p:nvCxnSpPr>
          <p:cNvPr id="79" name="Google Shape;79;p16"/>
          <p:cNvCxnSpPr/>
          <p:nvPr/>
        </p:nvCxnSpPr>
        <p:spPr>
          <a:xfrm>
            <a:off x="6963477" y="514350"/>
            <a:ext cx="356100" cy="0"/>
          </a:xfrm>
          <a:prstGeom prst="straightConnector1">
            <a:avLst/>
          </a:prstGeom>
          <a:noFill/>
          <a:ln cap="flat" cmpd="sng" w="28575">
            <a:solidFill>
              <a:srgbClr val="FFFFFF"/>
            </a:solidFill>
            <a:prstDash val="solid"/>
            <a:round/>
            <a:headEnd len="sm" w="sm" type="none"/>
            <a:tailEnd len="sm" w="sm" type="none"/>
          </a:ln>
        </p:spPr>
      </p:cxnSp>
      <p:cxnSp>
        <p:nvCxnSpPr>
          <p:cNvPr id="80" name="Google Shape;80;p16"/>
          <p:cNvCxnSpPr/>
          <p:nvPr/>
        </p:nvCxnSpPr>
        <p:spPr>
          <a:xfrm>
            <a:off x="6607555" y="1278867"/>
            <a:ext cx="356100" cy="0"/>
          </a:xfrm>
          <a:prstGeom prst="straightConnector1">
            <a:avLst/>
          </a:prstGeom>
          <a:noFill/>
          <a:ln cap="flat" cmpd="sng" w="28575">
            <a:solidFill>
              <a:srgbClr val="FFFFFF"/>
            </a:solidFill>
            <a:prstDash val="solid"/>
            <a:round/>
            <a:headEnd len="sm" w="sm" type="none"/>
            <a:tailEnd len="sm" w="sm" type="none"/>
          </a:ln>
        </p:spPr>
      </p:cxnSp>
      <p:cxnSp>
        <p:nvCxnSpPr>
          <p:cNvPr id="81" name="Google Shape;81;p16"/>
          <p:cNvCxnSpPr/>
          <p:nvPr/>
        </p:nvCxnSpPr>
        <p:spPr>
          <a:xfrm>
            <a:off x="6963477" y="2056424"/>
            <a:ext cx="356100" cy="0"/>
          </a:xfrm>
          <a:prstGeom prst="straightConnector1">
            <a:avLst/>
          </a:prstGeom>
          <a:noFill/>
          <a:ln cap="flat" cmpd="sng" w="28575">
            <a:solidFill>
              <a:srgbClr val="FFFFFF"/>
            </a:solidFill>
            <a:prstDash val="solid"/>
            <a:round/>
            <a:headEnd len="sm" w="sm" type="none"/>
            <a:tailEnd len="sm" w="sm" type="none"/>
          </a:ln>
        </p:spPr>
      </p:cxnSp>
      <p:cxnSp>
        <p:nvCxnSpPr>
          <p:cNvPr id="82" name="Google Shape;82;p16"/>
          <p:cNvCxnSpPr/>
          <p:nvPr/>
        </p:nvCxnSpPr>
        <p:spPr>
          <a:xfrm>
            <a:off x="6614699" y="2878390"/>
            <a:ext cx="356100" cy="0"/>
          </a:xfrm>
          <a:prstGeom prst="straightConnector1">
            <a:avLst/>
          </a:prstGeom>
          <a:noFill/>
          <a:ln cap="flat" cmpd="sng" w="28575">
            <a:solidFill>
              <a:srgbClr val="FFFFFF"/>
            </a:solidFill>
            <a:prstDash val="solid"/>
            <a:round/>
            <a:headEnd len="sm" w="sm" type="none"/>
            <a:tailEnd len="sm" w="sm" type="none"/>
          </a:ln>
        </p:spPr>
      </p:cxnSp>
      <p:cxnSp>
        <p:nvCxnSpPr>
          <p:cNvPr id="83" name="Google Shape;83;p16"/>
          <p:cNvCxnSpPr/>
          <p:nvPr/>
        </p:nvCxnSpPr>
        <p:spPr>
          <a:xfrm>
            <a:off x="6963477" y="3691223"/>
            <a:ext cx="356100" cy="0"/>
          </a:xfrm>
          <a:prstGeom prst="straightConnector1">
            <a:avLst/>
          </a:prstGeom>
          <a:noFill/>
          <a:ln cap="flat" cmpd="sng" w="28575">
            <a:solidFill>
              <a:srgbClr val="FFFFFF"/>
            </a:solidFill>
            <a:prstDash val="solid"/>
            <a:round/>
            <a:headEnd len="sm" w="sm" type="none"/>
            <a:tailEnd len="sm" w="sm" type="none"/>
          </a:ln>
        </p:spPr>
      </p:cxnSp>
      <p:cxnSp>
        <p:nvCxnSpPr>
          <p:cNvPr id="84" name="Google Shape;84;p16"/>
          <p:cNvCxnSpPr/>
          <p:nvPr/>
        </p:nvCxnSpPr>
        <p:spPr>
          <a:xfrm>
            <a:off x="914295" y="2864103"/>
            <a:ext cx="420600" cy="0"/>
          </a:xfrm>
          <a:prstGeom prst="straightConnector1">
            <a:avLst/>
          </a:prstGeom>
          <a:noFill/>
          <a:ln cap="flat" cmpd="sng" w="28575">
            <a:solidFill>
              <a:srgbClr val="000000"/>
            </a:solidFill>
            <a:prstDash val="solid"/>
            <a:round/>
            <a:headEnd len="sm" w="sm" type="none"/>
            <a:tailEnd len="sm" w="sm" type="none"/>
          </a:ln>
        </p:spPr>
      </p:cxnSp>
      <p:sp>
        <p:nvSpPr>
          <p:cNvPr id="85" name="Google Shape;85;p16"/>
          <p:cNvSpPr txBox="1"/>
          <p:nvPr/>
        </p:nvSpPr>
        <p:spPr>
          <a:xfrm>
            <a:off x="7463175" y="332048"/>
            <a:ext cx="1147500" cy="1539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1000"/>
              <a:buFont typeface="Arial"/>
              <a:buNone/>
            </a:pPr>
            <a:r>
              <a:rPr b="1" lang="en" sz="1000">
                <a:solidFill>
                  <a:srgbClr val="FFFFFF"/>
                </a:solidFill>
                <a:latin typeface="Proxima Nova"/>
                <a:ea typeface="Proxima Nova"/>
                <a:cs typeface="Proxima Nova"/>
                <a:sym typeface="Proxima Nova"/>
              </a:rPr>
              <a:t>The 3 Pillars of SEO</a:t>
            </a:r>
            <a:endParaRPr b="0" i="0" sz="700" u="none" cap="none" strike="noStrike">
              <a:solidFill>
                <a:srgbClr val="000000"/>
              </a:solidFill>
              <a:latin typeface="Arial"/>
              <a:ea typeface="Arial"/>
              <a:cs typeface="Arial"/>
              <a:sym typeface="Arial"/>
            </a:endParaRPr>
          </a:p>
        </p:txBody>
      </p:sp>
      <p:sp>
        <p:nvSpPr>
          <p:cNvPr id="86" name="Google Shape;86;p16"/>
          <p:cNvSpPr txBox="1"/>
          <p:nvPr/>
        </p:nvSpPr>
        <p:spPr>
          <a:xfrm>
            <a:off x="5486403" y="1107617"/>
            <a:ext cx="981600" cy="369300"/>
          </a:xfrm>
          <a:prstGeom prst="rect">
            <a:avLst/>
          </a:prstGeom>
          <a:noFill/>
          <a:ln>
            <a:noFill/>
          </a:ln>
        </p:spPr>
        <p:txBody>
          <a:bodyPr anchorCtr="0" anchor="t" bIns="0" lIns="0" spcFirstLastPara="1" rIns="0" wrap="square" tIns="0">
            <a:spAutoFit/>
          </a:bodyPr>
          <a:lstStyle/>
          <a:p>
            <a:pPr indent="0" lvl="0" marL="0" marR="0" rtl="0" algn="r">
              <a:lnSpc>
                <a:spcPct val="139979"/>
              </a:lnSpc>
              <a:spcBef>
                <a:spcPts val="0"/>
              </a:spcBef>
              <a:spcAft>
                <a:spcPts val="0"/>
              </a:spcAft>
              <a:buClr>
                <a:srgbClr val="000000"/>
              </a:buClr>
              <a:buSzPts val="1000"/>
              <a:buFont typeface="Arial"/>
              <a:buNone/>
            </a:pPr>
            <a:r>
              <a:rPr b="1" lang="en" sz="1000">
                <a:solidFill>
                  <a:srgbClr val="FFFFFF"/>
                </a:solidFill>
                <a:latin typeface="Proxima Nova"/>
                <a:ea typeface="Proxima Nova"/>
                <a:cs typeface="Proxima Nova"/>
                <a:sym typeface="Proxima Nova"/>
              </a:rPr>
              <a:t>Discussing Your SEO Goals</a:t>
            </a:r>
            <a:endParaRPr b="0" i="0" sz="700" u="none" cap="none" strike="noStrike">
              <a:solidFill>
                <a:srgbClr val="000000"/>
              </a:solidFill>
              <a:latin typeface="Arial"/>
              <a:ea typeface="Arial"/>
              <a:cs typeface="Arial"/>
              <a:sym typeface="Arial"/>
            </a:endParaRPr>
          </a:p>
        </p:txBody>
      </p:sp>
      <p:sp>
        <p:nvSpPr>
          <p:cNvPr id="87" name="Google Shape;87;p16"/>
          <p:cNvSpPr txBox="1"/>
          <p:nvPr/>
        </p:nvSpPr>
        <p:spPr>
          <a:xfrm>
            <a:off x="7463175" y="1920019"/>
            <a:ext cx="12771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1000"/>
              <a:buFont typeface="Arial"/>
              <a:buNone/>
            </a:pPr>
            <a:r>
              <a:rPr b="1" lang="en" sz="1000">
                <a:solidFill>
                  <a:srgbClr val="FFFFFF"/>
                </a:solidFill>
                <a:latin typeface="Proxima Nova"/>
                <a:ea typeface="Proxima Nova"/>
                <a:cs typeface="Proxima Nova"/>
                <a:sym typeface="Proxima Nova"/>
              </a:rPr>
              <a:t>Data Access &amp; Next Steps</a:t>
            </a:r>
            <a:endParaRPr b="0" i="0" sz="700" u="none" cap="none" strike="noStrike">
              <a:solidFill>
                <a:srgbClr val="000000"/>
              </a:solidFill>
              <a:latin typeface="Arial"/>
              <a:ea typeface="Arial"/>
              <a:cs typeface="Arial"/>
              <a:sym typeface="Arial"/>
            </a:endParaRPr>
          </a:p>
        </p:txBody>
      </p:sp>
      <p:sp>
        <p:nvSpPr>
          <p:cNvPr id="88" name="Google Shape;88;p16"/>
          <p:cNvSpPr txBox="1"/>
          <p:nvPr/>
        </p:nvSpPr>
        <p:spPr>
          <a:xfrm>
            <a:off x="5190632" y="2714758"/>
            <a:ext cx="1277100" cy="153900"/>
          </a:xfrm>
          <a:prstGeom prst="rect">
            <a:avLst/>
          </a:prstGeom>
          <a:noFill/>
          <a:ln>
            <a:noFill/>
          </a:ln>
        </p:spPr>
        <p:txBody>
          <a:bodyPr anchorCtr="0" anchor="t" bIns="0" lIns="0" spcFirstLastPara="1" rIns="0" wrap="square" tIns="0">
            <a:spAutoFit/>
          </a:bodyPr>
          <a:lstStyle/>
          <a:p>
            <a:pPr indent="0" lvl="0" marL="0" marR="0" rtl="0" algn="r">
              <a:lnSpc>
                <a:spcPct val="139979"/>
              </a:lnSpc>
              <a:spcBef>
                <a:spcPts val="0"/>
              </a:spcBef>
              <a:spcAft>
                <a:spcPts val="0"/>
              </a:spcAft>
              <a:buClr>
                <a:srgbClr val="000000"/>
              </a:buClr>
              <a:buSzPts val="1000"/>
              <a:buFont typeface="Arial"/>
              <a:buNone/>
            </a:pPr>
            <a:r>
              <a:rPr b="1" lang="en" sz="1000">
                <a:solidFill>
                  <a:srgbClr val="FFFFFF"/>
                </a:solidFill>
                <a:latin typeface="Proxima Nova"/>
                <a:ea typeface="Proxima Nova"/>
                <a:cs typeface="Proxima Nova"/>
                <a:sym typeface="Proxima Nova"/>
              </a:rPr>
              <a:t>My Propellic</a:t>
            </a:r>
            <a:endParaRPr b="0" i="0" sz="700" u="none" cap="none" strike="noStrike">
              <a:solidFill>
                <a:srgbClr val="000000"/>
              </a:solidFill>
              <a:latin typeface="Arial"/>
              <a:ea typeface="Arial"/>
              <a:cs typeface="Arial"/>
              <a:sym typeface="Arial"/>
            </a:endParaRPr>
          </a:p>
        </p:txBody>
      </p:sp>
      <p:pic>
        <p:nvPicPr>
          <p:cNvPr id="89" name="Google Shape;89;p16"/>
          <p:cNvPicPr preferRelativeResize="0"/>
          <p:nvPr/>
        </p:nvPicPr>
        <p:blipFill rotWithShape="1">
          <a:blip r:embed="rId3">
            <a:alphaModFix/>
          </a:blip>
          <a:srcRect b="0" l="0" r="0" t="0"/>
          <a:stretch/>
        </p:blipFill>
        <p:spPr>
          <a:xfrm>
            <a:off x="914295" y="4102035"/>
            <a:ext cx="622399" cy="527115"/>
          </a:xfrm>
          <a:prstGeom prst="rect">
            <a:avLst/>
          </a:prstGeom>
          <a:noFill/>
          <a:ln>
            <a:noFill/>
          </a:ln>
        </p:spPr>
      </p:pic>
      <p:sp>
        <p:nvSpPr>
          <p:cNvPr id="90" name="Google Shape;90;p16"/>
          <p:cNvSpPr txBox="1"/>
          <p:nvPr/>
        </p:nvSpPr>
        <p:spPr>
          <a:xfrm>
            <a:off x="7463175" y="3599028"/>
            <a:ext cx="12771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1000"/>
              <a:buFont typeface="Arial"/>
              <a:buNone/>
            </a:pPr>
            <a:r>
              <a:rPr b="1" lang="en" sz="1000">
                <a:solidFill>
                  <a:srgbClr val="FFFFFF"/>
                </a:solidFill>
                <a:latin typeface="Proxima Nova"/>
                <a:ea typeface="Proxima Nova"/>
                <a:cs typeface="Proxima Nova"/>
                <a:sym typeface="Proxima Nova"/>
              </a:rPr>
              <a:t>Deliverable Walkthrough</a:t>
            </a:r>
            <a:endParaRPr b="0" i="0" sz="700" u="none" cap="none" strike="noStrike">
              <a:solidFill>
                <a:srgbClr val="000000"/>
              </a:solidFill>
              <a:latin typeface="Arial"/>
              <a:ea typeface="Arial"/>
              <a:cs typeface="Arial"/>
              <a:sym typeface="Arial"/>
            </a:endParaRPr>
          </a:p>
        </p:txBody>
      </p:sp>
      <p:sp>
        <p:nvSpPr>
          <p:cNvPr id="91" name="Google Shape;91;p16"/>
          <p:cNvSpPr txBox="1"/>
          <p:nvPr/>
        </p:nvSpPr>
        <p:spPr>
          <a:xfrm>
            <a:off x="5190632" y="4463810"/>
            <a:ext cx="1277100" cy="369300"/>
          </a:xfrm>
          <a:prstGeom prst="rect">
            <a:avLst/>
          </a:prstGeom>
          <a:noFill/>
          <a:ln>
            <a:noFill/>
          </a:ln>
        </p:spPr>
        <p:txBody>
          <a:bodyPr anchorCtr="0" anchor="t" bIns="0" lIns="0" spcFirstLastPara="1" rIns="0" wrap="square" tIns="0">
            <a:spAutoFit/>
          </a:bodyPr>
          <a:lstStyle/>
          <a:p>
            <a:pPr indent="0" lvl="0" marL="0" marR="0" rtl="0" algn="r">
              <a:lnSpc>
                <a:spcPct val="139979"/>
              </a:lnSpc>
              <a:spcBef>
                <a:spcPts val="0"/>
              </a:spcBef>
              <a:spcAft>
                <a:spcPts val="0"/>
              </a:spcAft>
              <a:buClr>
                <a:srgbClr val="000000"/>
              </a:buClr>
              <a:buSzPts val="1000"/>
              <a:buFont typeface="Arial"/>
              <a:buNone/>
            </a:pPr>
            <a:r>
              <a:rPr b="1" lang="en" sz="1000">
                <a:solidFill>
                  <a:srgbClr val="FFFFFF"/>
                </a:solidFill>
                <a:latin typeface="Proxima Nova"/>
                <a:ea typeface="Proxima Nova"/>
                <a:cs typeface="Proxima Nova"/>
                <a:sym typeface="Proxima Nova"/>
              </a:rPr>
              <a:t>Call Scheduling, and meeting wrap up</a:t>
            </a:r>
            <a:endParaRPr b="0" i="0" sz="700" u="none" cap="none" strike="noStrike">
              <a:solidFill>
                <a:srgbClr val="000000"/>
              </a:solidFill>
              <a:latin typeface="Arial"/>
              <a:ea typeface="Arial"/>
              <a:cs typeface="Arial"/>
              <a:sym typeface="Arial"/>
            </a:endParaRPr>
          </a:p>
        </p:txBody>
      </p:sp>
      <p:cxnSp>
        <p:nvCxnSpPr>
          <p:cNvPr id="92" name="Google Shape;92;p16"/>
          <p:cNvCxnSpPr/>
          <p:nvPr/>
        </p:nvCxnSpPr>
        <p:spPr>
          <a:xfrm>
            <a:off x="6607555" y="4541718"/>
            <a:ext cx="356100" cy="0"/>
          </a:xfrm>
          <a:prstGeom prst="straightConnector1">
            <a:avLst/>
          </a:prstGeom>
          <a:noFill/>
          <a:ln cap="flat" cmpd="sng" w="28575">
            <a:solidFill>
              <a:srgbClr val="FFFFFF"/>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Get There Together</a:t>
            </a:r>
            <a:endParaRPr/>
          </a:p>
        </p:txBody>
      </p:sp>
      <p:sp>
        <p:nvSpPr>
          <p:cNvPr id="98" name="Google Shape;98;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Do: </a:t>
            </a:r>
            <a:endParaRPr/>
          </a:p>
          <a:p>
            <a:pPr indent="-317500" lvl="0" marL="457200" rtl="0" algn="l">
              <a:spcBef>
                <a:spcPts val="1200"/>
              </a:spcBef>
              <a:spcAft>
                <a:spcPts val="0"/>
              </a:spcAft>
              <a:buSzPts val="1400"/>
              <a:buChar char="-"/>
            </a:pPr>
            <a:r>
              <a:rPr lang="en"/>
              <a:t>A</a:t>
            </a:r>
            <a:endParaRPr/>
          </a:p>
          <a:p>
            <a:pPr indent="-317500" lvl="0" marL="457200" rtl="0" algn="l">
              <a:spcBef>
                <a:spcPts val="0"/>
              </a:spcBef>
              <a:spcAft>
                <a:spcPts val="0"/>
              </a:spcAft>
              <a:buSzPts val="1400"/>
              <a:buChar char="-"/>
            </a:pPr>
            <a:r>
              <a:rPr lang="en"/>
              <a:t>B</a:t>
            </a:r>
            <a:endParaRPr/>
          </a:p>
          <a:p>
            <a:pPr indent="-317500" lvl="0" marL="457200" rtl="0" algn="l">
              <a:spcBef>
                <a:spcPts val="0"/>
              </a:spcBef>
              <a:spcAft>
                <a:spcPts val="0"/>
              </a:spcAft>
              <a:buSzPts val="1400"/>
              <a:buChar char="-"/>
            </a:pPr>
            <a:r>
              <a:rPr lang="en"/>
              <a:t>C</a:t>
            </a:r>
            <a:endParaRPr/>
          </a:p>
          <a:p>
            <a:pPr indent="-317500" lvl="0" marL="457200" rtl="0" algn="l">
              <a:spcBef>
                <a:spcPts val="0"/>
              </a:spcBef>
              <a:spcAft>
                <a:spcPts val="0"/>
              </a:spcAft>
              <a:buSzPts val="1400"/>
              <a:buChar char="-"/>
            </a:pPr>
            <a:r>
              <a:rPr lang="en"/>
              <a:t>D</a:t>
            </a:r>
            <a:endParaRPr/>
          </a:p>
        </p:txBody>
      </p:sp>
      <p:sp>
        <p:nvSpPr>
          <p:cNvPr id="99" name="Google Shape;99;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Don’t:</a:t>
            </a:r>
            <a:endParaRPr/>
          </a:p>
          <a:p>
            <a:pPr indent="-317500" lvl="0" marL="457200" rtl="0" algn="l">
              <a:spcBef>
                <a:spcPts val="1200"/>
              </a:spcBef>
              <a:spcAft>
                <a:spcPts val="0"/>
              </a:spcAft>
              <a:buSzPts val="1400"/>
              <a:buChar char="-"/>
            </a:pPr>
            <a:r>
              <a:rPr lang="en"/>
              <a:t>X</a:t>
            </a:r>
            <a:endParaRPr/>
          </a:p>
          <a:p>
            <a:pPr indent="-317500" lvl="0" marL="457200" rtl="0" algn="l">
              <a:spcBef>
                <a:spcPts val="0"/>
              </a:spcBef>
              <a:spcAft>
                <a:spcPts val="0"/>
              </a:spcAft>
              <a:buSzPts val="1400"/>
              <a:buChar char="-"/>
            </a:pPr>
            <a:r>
              <a:rPr lang="en"/>
              <a:t>Y</a:t>
            </a:r>
            <a:endParaRPr/>
          </a:p>
          <a:p>
            <a:pPr indent="-317500" lvl="0" marL="457200" rtl="0" algn="l">
              <a:spcBef>
                <a:spcPts val="0"/>
              </a:spcBef>
              <a:spcAft>
                <a:spcPts val="0"/>
              </a:spcAft>
              <a:buSzPts val="1400"/>
              <a:buChar char="-"/>
            </a:pPr>
            <a:r>
              <a:rPr lang="en"/>
              <a:t>Z</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Your Traffic Breakdown</a:t>
            </a:r>
            <a:endParaRPr/>
          </a:p>
        </p:txBody>
      </p:sp>
      <p:pic>
        <p:nvPicPr>
          <p:cNvPr id="105" name="Google Shape;105;p18" title="Points scored"/>
          <p:cNvPicPr preferRelativeResize="0"/>
          <p:nvPr/>
        </p:nvPicPr>
        <p:blipFill>
          <a:blip r:embed="rId3">
            <a:alphaModFix/>
          </a:blip>
          <a:stretch>
            <a:fillRect/>
          </a:stretch>
        </p:blipFill>
        <p:spPr>
          <a:xfrm>
            <a:off x="358350" y="1017725"/>
            <a:ext cx="6179475" cy="3820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555600"/>
            <a:ext cx="5050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The Three Pillars of SEO</a:t>
            </a:r>
            <a:endParaRPr/>
          </a:p>
        </p:txBody>
      </p:sp>
      <p:sp>
        <p:nvSpPr>
          <p:cNvPr id="111" name="Google Shape;111;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Technical SEO</a:t>
            </a:r>
            <a:endParaRPr b="1"/>
          </a:p>
          <a:p>
            <a:pPr indent="0" lvl="0" marL="0" rtl="0" algn="l">
              <a:spcBef>
                <a:spcPts val="1200"/>
              </a:spcBef>
              <a:spcAft>
                <a:spcPts val="1200"/>
              </a:spcAft>
              <a:buNone/>
            </a:pPr>
            <a:r>
              <a:rPr lang="en"/>
              <a:t>Lorem ipsum dolor sit amet, consectetur adipiscing elit, sed do eiusmod tempor incididunt ut labore et dolore magna aliqua. </a:t>
            </a:r>
            <a:endParaRPr/>
          </a:p>
        </p:txBody>
      </p:sp>
      <p:sp>
        <p:nvSpPr>
          <p:cNvPr id="112" name="Google Shape;112;p19"/>
          <p:cNvSpPr txBox="1"/>
          <p:nvPr>
            <p:ph idx="1" type="body"/>
          </p:nvPr>
        </p:nvSpPr>
        <p:spPr>
          <a:xfrm>
            <a:off x="31680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Content Strategy</a:t>
            </a:r>
            <a:endParaRPr b="1"/>
          </a:p>
          <a:p>
            <a:pPr indent="0" lvl="0" marL="0" rtl="0" algn="l">
              <a:spcBef>
                <a:spcPts val="1200"/>
              </a:spcBef>
              <a:spcAft>
                <a:spcPts val="1200"/>
              </a:spcAft>
              <a:buNone/>
            </a:pPr>
            <a:r>
              <a:rPr lang="en"/>
              <a:t>Lorem ipsum dolor sit amet, consectetur adipiscing elit, sed do eiusmod tempor incididunt ut labore et dolore magna aliqua. </a:t>
            </a:r>
            <a:endParaRPr/>
          </a:p>
        </p:txBody>
      </p:sp>
      <p:sp>
        <p:nvSpPr>
          <p:cNvPr id="113" name="Google Shape;113;p19"/>
          <p:cNvSpPr txBox="1"/>
          <p:nvPr>
            <p:ph idx="1" type="body"/>
          </p:nvPr>
        </p:nvSpPr>
        <p:spPr>
          <a:xfrm>
            <a:off x="60243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Authority Building</a:t>
            </a:r>
            <a:endParaRPr b="1"/>
          </a:p>
          <a:p>
            <a:pPr indent="0" lvl="0" marL="0" rtl="0" algn="l">
              <a:spcBef>
                <a:spcPts val="1200"/>
              </a:spcBef>
              <a:spcAft>
                <a:spcPts val="1200"/>
              </a:spcAft>
              <a:buNone/>
            </a:pPr>
            <a:r>
              <a:rPr lang="en"/>
              <a:t>Lorem ipsum dolor sit amet, consectetur adipiscing elit, sed do eiusmod tempor incididunt ut labore et dolore magna aliqua.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555600"/>
            <a:ext cx="5050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Technical SEO</a:t>
            </a:r>
            <a:endParaRPr/>
          </a:p>
        </p:txBody>
      </p:sp>
      <p:sp>
        <p:nvSpPr>
          <p:cNvPr id="119" name="Google Shape;119;p20"/>
          <p:cNvSpPr txBox="1"/>
          <p:nvPr>
            <p:ph idx="1" type="body"/>
          </p:nvPr>
        </p:nvSpPr>
        <p:spPr>
          <a:xfrm>
            <a:off x="311700" y="1389600"/>
            <a:ext cx="3368700" cy="327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What is Technical SEO?</a:t>
            </a:r>
            <a:br>
              <a:rPr b="1" lang="en"/>
            </a:br>
            <a:r>
              <a:rPr lang="en"/>
              <a:t>Lorem ipsum dolor sit amet, consectetur adipiscing elit, sed do eiusmod tempor incididunt ut labore et dolore magna aliqua. </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Technical Deliverables</a:t>
            </a:r>
            <a:r>
              <a:rPr lang="en"/>
              <a:t>: </a:t>
            </a:r>
            <a:endParaRPr/>
          </a:p>
          <a:p>
            <a:pPr indent="-304800" lvl="0" marL="457200" rtl="0" algn="l">
              <a:spcBef>
                <a:spcPts val="1200"/>
              </a:spcBef>
              <a:spcAft>
                <a:spcPts val="0"/>
              </a:spcAft>
              <a:buSzPts val="1200"/>
              <a:buChar char="-"/>
            </a:pPr>
            <a:r>
              <a:rPr lang="en"/>
              <a:t>Website Quality Assessment</a:t>
            </a:r>
            <a:endParaRPr/>
          </a:p>
          <a:p>
            <a:pPr indent="-304800" lvl="0" marL="457200" rtl="0" algn="l">
              <a:spcBef>
                <a:spcPts val="0"/>
              </a:spcBef>
              <a:spcAft>
                <a:spcPts val="0"/>
              </a:spcAft>
              <a:buSzPts val="1200"/>
              <a:buChar char="-"/>
            </a:pPr>
            <a:r>
              <a:rPr lang="en"/>
              <a:t>Sitewide Technical Analysis</a:t>
            </a:r>
            <a:endParaRPr/>
          </a:p>
        </p:txBody>
      </p:sp>
      <p:sp>
        <p:nvSpPr>
          <p:cNvPr id="120" name="Google Shape;120;p20"/>
          <p:cNvSpPr txBox="1"/>
          <p:nvPr>
            <p:ph idx="1" type="body"/>
          </p:nvPr>
        </p:nvSpPr>
        <p:spPr>
          <a:xfrm>
            <a:off x="4182200" y="1389600"/>
            <a:ext cx="3368700" cy="1363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Technical Done Right:</a:t>
            </a:r>
            <a:br>
              <a:rPr b="1" lang="en"/>
            </a:br>
            <a:r>
              <a:rPr lang="en"/>
              <a:t>Google can easily access, crawl, and index important pages on your website.</a:t>
            </a:r>
            <a:endParaRPr/>
          </a:p>
          <a:p>
            <a:pPr indent="0" lvl="0" marL="0" rtl="0" algn="l">
              <a:spcBef>
                <a:spcPts val="1200"/>
              </a:spcBef>
              <a:spcAft>
                <a:spcPts val="0"/>
              </a:spcAft>
              <a:buNone/>
            </a:pPr>
            <a:r>
              <a:rPr lang="en"/>
              <a:t>Example of technical impact: </a:t>
            </a:r>
            <a:endParaRPr/>
          </a:p>
          <a:p>
            <a:pPr indent="0" lvl="0" marL="0" rtl="0" algn="l">
              <a:spcBef>
                <a:spcPts val="1200"/>
              </a:spcBef>
              <a:spcAft>
                <a:spcPts val="1200"/>
              </a:spcAft>
              <a:buNone/>
            </a:pPr>
            <a:r>
              <a:t/>
            </a:r>
            <a:endParaRPr/>
          </a:p>
        </p:txBody>
      </p:sp>
      <p:pic>
        <p:nvPicPr>
          <p:cNvPr id="121" name="Google Shape;121;p20"/>
          <p:cNvPicPr preferRelativeResize="0"/>
          <p:nvPr/>
        </p:nvPicPr>
        <p:blipFill>
          <a:blip r:embed="rId3">
            <a:alphaModFix/>
          </a:blip>
          <a:stretch>
            <a:fillRect/>
          </a:stretch>
        </p:blipFill>
        <p:spPr>
          <a:xfrm>
            <a:off x="4239502" y="2571750"/>
            <a:ext cx="3611723" cy="136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555600"/>
            <a:ext cx="5050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Content Strategy</a:t>
            </a:r>
            <a:endParaRPr/>
          </a:p>
        </p:txBody>
      </p:sp>
      <p:sp>
        <p:nvSpPr>
          <p:cNvPr id="127" name="Google Shape;127;p21"/>
          <p:cNvSpPr txBox="1"/>
          <p:nvPr>
            <p:ph idx="1" type="body"/>
          </p:nvPr>
        </p:nvSpPr>
        <p:spPr>
          <a:xfrm>
            <a:off x="311700" y="1389600"/>
            <a:ext cx="3368700" cy="327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What is Content Strategy?</a:t>
            </a:r>
            <a:br>
              <a:rPr b="1" lang="en"/>
            </a:br>
            <a:r>
              <a:rPr lang="en"/>
              <a:t>Lorem ipsum dolor sit amet, consectetur adipiscing elit, sed do eiusmod tempor incididunt ut labore et dolore magna aliqua. </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Content Deliverables</a:t>
            </a:r>
            <a:r>
              <a:rPr lang="en"/>
              <a:t>: </a:t>
            </a:r>
            <a:endParaRPr/>
          </a:p>
          <a:p>
            <a:pPr indent="-304800" lvl="0" marL="457200" rtl="0" algn="l">
              <a:spcBef>
                <a:spcPts val="1200"/>
              </a:spcBef>
              <a:spcAft>
                <a:spcPts val="0"/>
              </a:spcAft>
              <a:buSzPts val="1200"/>
              <a:buChar char="-"/>
            </a:pPr>
            <a:r>
              <a:rPr lang="en"/>
              <a:t>Keyword Research - Existing Pages</a:t>
            </a:r>
            <a:endParaRPr/>
          </a:p>
          <a:p>
            <a:pPr indent="-304800" lvl="0" marL="457200" rtl="0" algn="l">
              <a:spcBef>
                <a:spcPts val="0"/>
              </a:spcBef>
              <a:spcAft>
                <a:spcPts val="0"/>
              </a:spcAft>
              <a:buSzPts val="1200"/>
              <a:buChar char="-"/>
            </a:pPr>
            <a:r>
              <a:rPr lang="en"/>
              <a:t>Keyword Gap Analysis</a:t>
            </a:r>
            <a:endParaRPr/>
          </a:p>
          <a:p>
            <a:pPr indent="-304800" lvl="0" marL="457200" rtl="0" algn="l">
              <a:spcBef>
                <a:spcPts val="0"/>
              </a:spcBef>
              <a:spcAft>
                <a:spcPts val="0"/>
              </a:spcAft>
              <a:buSzPts val="1200"/>
              <a:buChar char="-"/>
            </a:pPr>
            <a:r>
              <a:rPr lang="en"/>
              <a:t>Editorial Calendar</a:t>
            </a:r>
            <a:endParaRPr/>
          </a:p>
          <a:p>
            <a:pPr indent="-304800" lvl="0" marL="457200" rtl="0" algn="l">
              <a:spcBef>
                <a:spcPts val="0"/>
              </a:spcBef>
              <a:spcAft>
                <a:spcPts val="0"/>
              </a:spcAft>
              <a:buSzPts val="1200"/>
              <a:buChar char="-"/>
            </a:pPr>
            <a:r>
              <a:rPr lang="en"/>
              <a:t>On-Page Recommendations</a:t>
            </a:r>
            <a:endParaRPr/>
          </a:p>
          <a:p>
            <a:pPr indent="-304800" lvl="0" marL="457200" rtl="0" algn="l">
              <a:spcBef>
                <a:spcPts val="0"/>
              </a:spcBef>
              <a:spcAft>
                <a:spcPts val="0"/>
              </a:spcAft>
              <a:buSzPts val="1200"/>
              <a:buChar char="-"/>
            </a:pPr>
            <a:r>
              <a:rPr lang="en"/>
              <a:t>Content Analysis</a:t>
            </a:r>
            <a:endParaRPr/>
          </a:p>
          <a:p>
            <a:pPr indent="-304800" lvl="0" marL="457200" rtl="0" algn="l">
              <a:spcBef>
                <a:spcPts val="0"/>
              </a:spcBef>
              <a:spcAft>
                <a:spcPts val="0"/>
              </a:spcAft>
              <a:buSzPts val="1200"/>
              <a:buChar char="-"/>
            </a:pPr>
            <a:r>
              <a:rPr lang="en"/>
              <a:t>Content Outlines</a:t>
            </a:r>
            <a:endParaRPr/>
          </a:p>
        </p:txBody>
      </p:sp>
      <p:sp>
        <p:nvSpPr>
          <p:cNvPr id="128" name="Google Shape;128;p21"/>
          <p:cNvSpPr txBox="1"/>
          <p:nvPr>
            <p:ph idx="1" type="body"/>
          </p:nvPr>
        </p:nvSpPr>
        <p:spPr>
          <a:xfrm>
            <a:off x="4182200" y="1389600"/>
            <a:ext cx="3368700" cy="1363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Content</a:t>
            </a:r>
            <a:r>
              <a:rPr b="1" lang="en"/>
              <a:t> Done Right:</a:t>
            </a:r>
            <a:br>
              <a:rPr b="1" lang="en"/>
            </a:br>
            <a:r>
              <a:rPr lang="en"/>
              <a:t>Lorem ipsum dolor sit amet, consectetur adipiscing elit, sed </a:t>
            </a:r>
            <a:endParaRPr/>
          </a:p>
          <a:p>
            <a:pPr indent="0" lvl="0" marL="0" rtl="0" algn="l">
              <a:spcBef>
                <a:spcPts val="1200"/>
              </a:spcBef>
              <a:spcAft>
                <a:spcPts val="0"/>
              </a:spcAft>
              <a:buNone/>
            </a:pPr>
            <a:r>
              <a:rPr lang="en"/>
              <a:t>Example of content impact: </a:t>
            </a:r>
            <a:endParaRPr/>
          </a:p>
          <a:p>
            <a:pPr indent="0" lvl="0" marL="0" rtl="0" algn="l">
              <a:spcBef>
                <a:spcPts val="1200"/>
              </a:spcBef>
              <a:spcAft>
                <a:spcPts val="1200"/>
              </a:spcAft>
              <a:buNone/>
            </a:pPr>
            <a:r>
              <a:t/>
            </a:r>
            <a:endParaRPr/>
          </a:p>
        </p:txBody>
      </p:sp>
      <p:pic>
        <p:nvPicPr>
          <p:cNvPr id="129" name="Google Shape;129;p21"/>
          <p:cNvPicPr preferRelativeResize="0"/>
          <p:nvPr/>
        </p:nvPicPr>
        <p:blipFill>
          <a:blip r:embed="rId3">
            <a:alphaModFix/>
          </a:blip>
          <a:stretch>
            <a:fillRect/>
          </a:stretch>
        </p:blipFill>
        <p:spPr>
          <a:xfrm>
            <a:off x="4239502" y="2571750"/>
            <a:ext cx="3611723" cy="136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00" y="555600"/>
            <a:ext cx="5050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Authority Building</a:t>
            </a:r>
            <a:endParaRPr/>
          </a:p>
        </p:txBody>
      </p:sp>
      <p:sp>
        <p:nvSpPr>
          <p:cNvPr id="135" name="Google Shape;135;p22"/>
          <p:cNvSpPr txBox="1"/>
          <p:nvPr>
            <p:ph idx="1" type="body"/>
          </p:nvPr>
        </p:nvSpPr>
        <p:spPr>
          <a:xfrm>
            <a:off x="311700" y="1389600"/>
            <a:ext cx="3368700" cy="327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What is Authority Building?</a:t>
            </a:r>
            <a:br>
              <a:rPr b="1" lang="en"/>
            </a:br>
            <a:r>
              <a:rPr lang="en"/>
              <a:t>Lorem ipsum dolor sit amet, consectetur adipiscing elit, sed do eiusmod tempor incididunt ut labore et dolore magna aliqua. </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Authority</a:t>
            </a:r>
            <a:r>
              <a:rPr b="1" lang="en"/>
              <a:t> Deliverables</a:t>
            </a:r>
            <a:r>
              <a:rPr lang="en"/>
              <a:t>: </a:t>
            </a:r>
            <a:endParaRPr/>
          </a:p>
          <a:p>
            <a:pPr indent="-304800" lvl="0" marL="457200" rtl="0" algn="l">
              <a:spcBef>
                <a:spcPts val="1200"/>
              </a:spcBef>
              <a:spcAft>
                <a:spcPts val="0"/>
              </a:spcAft>
              <a:buSzPts val="1200"/>
              <a:buChar char="-"/>
            </a:pPr>
            <a:r>
              <a:rPr lang="en"/>
              <a:t>Link Building</a:t>
            </a:r>
            <a:endParaRPr/>
          </a:p>
        </p:txBody>
      </p:sp>
      <p:sp>
        <p:nvSpPr>
          <p:cNvPr id="136" name="Google Shape;136;p22"/>
          <p:cNvSpPr txBox="1"/>
          <p:nvPr>
            <p:ph idx="1" type="body"/>
          </p:nvPr>
        </p:nvSpPr>
        <p:spPr>
          <a:xfrm>
            <a:off x="4182200" y="1389600"/>
            <a:ext cx="3368700" cy="1363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Authority</a:t>
            </a:r>
            <a:r>
              <a:rPr b="1" lang="en"/>
              <a:t> Done Right:</a:t>
            </a:r>
            <a:br>
              <a:rPr b="1" lang="en"/>
            </a:br>
            <a:r>
              <a:rPr lang="en"/>
              <a:t>Lorem ipsum dolor sit amet, consectetur adipiscing elit, sed </a:t>
            </a:r>
            <a:endParaRPr/>
          </a:p>
          <a:p>
            <a:pPr indent="0" lvl="0" marL="0" rtl="0" algn="l">
              <a:spcBef>
                <a:spcPts val="1200"/>
              </a:spcBef>
              <a:spcAft>
                <a:spcPts val="0"/>
              </a:spcAft>
              <a:buNone/>
            </a:pPr>
            <a:r>
              <a:rPr b="1" lang="en"/>
              <a:t>Example of authority impact: </a:t>
            </a:r>
            <a:endParaRPr b="1"/>
          </a:p>
          <a:p>
            <a:pPr indent="0" lvl="0" marL="0" rtl="0" algn="l">
              <a:spcBef>
                <a:spcPts val="1200"/>
              </a:spcBef>
              <a:spcAft>
                <a:spcPts val="1200"/>
              </a:spcAft>
              <a:buNone/>
            </a:pPr>
            <a:r>
              <a:t/>
            </a:r>
            <a:endParaRPr/>
          </a:p>
        </p:txBody>
      </p:sp>
      <p:pic>
        <p:nvPicPr>
          <p:cNvPr id="137" name="Google Shape;137;p22"/>
          <p:cNvPicPr preferRelativeResize="0"/>
          <p:nvPr/>
        </p:nvPicPr>
        <p:blipFill>
          <a:blip r:embed="rId3">
            <a:alphaModFix/>
          </a:blip>
          <a:stretch>
            <a:fillRect/>
          </a:stretch>
        </p:blipFill>
        <p:spPr>
          <a:xfrm>
            <a:off x="4239502" y="2571750"/>
            <a:ext cx="3611723" cy="136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Access</a:t>
            </a:r>
            <a:endParaRPr/>
          </a:p>
        </p:txBody>
      </p:sp>
      <p:sp>
        <p:nvSpPr>
          <p:cNvPr id="143" name="Google Shape;14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Designer notes: </a:t>
            </a:r>
            <a:endParaRPr/>
          </a:p>
          <a:p>
            <a:pPr indent="0" lvl="0" marL="0" rtl="0" algn="l">
              <a:spcBef>
                <a:spcPts val="1200"/>
              </a:spcBef>
              <a:spcAft>
                <a:spcPts val="0"/>
              </a:spcAft>
              <a:buNone/>
            </a:pPr>
            <a:r>
              <a:rPr lang="en"/>
              <a:t>This is a section where we cover whether the client has shared access to the platforms below. I’d like to visually represent whether we have the correct access or not to the following platforms using their logos: </a:t>
            </a:r>
            <a:endParaRPr/>
          </a:p>
          <a:p>
            <a:pPr indent="-342900" lvl="0" marL="457200" rtl="0" algn="l">
              <a:spcBef>
                <a:spcPts val="1200"/>
              </a:spcBef>
              <a:spcAft>
                <a:spcPts val="0"/>
              </a:spcAft>
              <a:buSzPts val="1800"/>
              <a:buChar char="-"/>
            </a:pPr>
            <a:r>
              <a:rPr lang="en"/>
              <a:t>Google Analytics</a:t>
            </a:r>
            <a:endParaRPr/>
          </a:p>
          <a:p>
            <a:pPr indent="-342900" lvl="0" marL="457200" rtl="0" algn="l">
              <a:spcBef>
                <a:spcPts val="0"/>
              </a:spcBef>
              <a:spcAft>
                <a:spcPts val="0"/>
              </a:spcAft>
              <a:buSzPts val="1800"/>
              <a:buChar char="-"/>
            </a:pPr>
            <a:r>
              <a:rPr lang="en"/>
              <a:t>Google Search Console</a:t>
            </a:r>
            <a:endParaRPr/>
          </a:p>
          <a:p>
            <a:pPr indent="-342900" lvl="0" marL="457200" rtl="0" algn="l">
              <a:spcBef>
                <a:spcPts val="0"/>
              </a:spcBef>
              <a:spcAft>
                <a:spcPts val="0"/>
              </a:spcAft>
              <a:buSzPts val="1800"/>
              <a:buChar char="-"/>
            </a:pPr>
            <a:r>
              <a:rPr lang="en"/>
              <a:t>Google Tag Manager</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 name="Shape 147"/>
        <p:cNvGrpSpPr/>
        <p:nvPr/>
      </p:nvGrpSpPr>
      <p:grpSpPr>
        <a:xfrm>
          <a:off x="0" y="0"/>
          <a:ext cx="0" cy="0"/>
          <a:chOff x="0" y="0"/>
          <a:chExt cx="0" cy="0"/>
        </a:xfrm>
      </p:grpSpPr>
      <p:sp>
        <p:nvSpPr>
          <p:cNvPr id="148" name="Google Shape;148;p24"/>
          <p:cNvSpPr/>
          <p:nvPr/>
        </p:nvSpPr>
        <p:spPr>
          <a:xfrm rot="4823503">
            <a:off x="3917162" y="-343454"/>
            <a:ext cx="2284446" cy="10499308"/>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 name="Google Shape;149;p24"/>
          <p:cNvPicPr preferRelativeResize="0"/>
          <p:nvPr/>
        </p:nvPicPr>
        <p:blipFill>
          <a:blip r:embed="rId3">
            <a:alphaModFix/>
          </a:blip>
          <a:stretch>
            <a:fillRect/>
          </a:stretch>
        </p:blipFill>
        <p:spPr>
          <a:xfrm rot="2910547">
            <a:off x="6869994" y="2316794"/>
            <a:ext cx="2209960" cy="4446787"/>
          </a:xfrm>
          <a:prstGeom prst="rect">
            <a:avLst/>
          </a:prstGeom>
          <a:noFill/>
          <a:ln>
            <a:noFill/>
          </a:ln>
        </p:spPr>
      </p:pic>
      <p:sp>
        <p:nvSpPr>
          <p:cNvPr id="150" name="Google Shape;150;p24"/>
          <p:cNvSpPr txBox="1"/>
          <p:nvPr>
            <p:ph type="title"/>
          </p:nvPr>
        </p:nvSpPr>
        <p:spPr>
          <a:xfrm>
            <a:off x="593850" y="1907250"/>
            <a:ext cx="4389600" cy="6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a:solidFill>
                  <a:srgbClr val="E21A6B"/>
                </a:solidFill>
                <a:latin typeface="Proxima Nova"/>
                <a:ea typeface="Proxima Nova"/>
                <a:cs typeface="Proxima Nova"/>
                <a:sym typeface="Proxima Nova"/>
              </a:rPr>
              <a:t>The Organic Visibility Framework™</a:t>
            </a:r>
            <a:endParaRPr b="1" sz="3420">
              <a:solidFill>
                <a:srgbClr val="E21A6B"/>
              </a:solidFill>
              <a:latin typeface="Proxima Nova"/>
              <a:ea typeface="Proxima Nova"/>
              <a:cs typeface="Proxima Nova"/>
              <a:sym typeface="Proxima Nova"/>
            </a:endParaRPr>
          </a:p>
        </p:txBody>
      </p:sp>
      <p:pic>
        <p:nvPicPr>
          <p:cNvPr id="151" name="Google Shape;151;p24"/>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pic>
        <p:nvPicPr>
          <p:cNvPr id="152" name="Google Shape;152;p24"/>
          <p:cNvPicPr preferRelativeResize="0"/>
          <p:nvPr/>
        </p:nvPicPr>
        <p:blipFill>
          <a:blip r:embed="rId5">
            <a:alphaModFix/>
          </a:blip>
          <a:stretch>
            <a:fillRect/>
          </a:stretch>
        </p:blipFill>
        <p:spPr>
          <a:xfrm>
            <a:off x="4802850" y="1683657"/>
            <a:ext cx="4341149" cy="3013543"/>
          </a:xfrm>
          <a:prstGeom prst="rect">
            <a:avLst/>
          </a:prstGeom>
          <a:noFill/>
          <a:ln>
            <a:noFill/>
          </a:ln>
        </p:spPr>
      </p:pic>
      <p:sp>
        <p:nvSpPr>
          <p:cNvPr id="153" name="Google Shape;153;p24"/>
          <p:cNvSpPr/>
          <p:nvPr/>
        </p:nvSpPr>
        <p:spPr>
          <a:xfrm rot="4823503">
            <a:off x="2229752" y="-4392734"/>
            <a:ext cx="2284446" cy="7511117"/>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Baseline Assessment</a:t>
            </a:r>
            <a:endParaRPr/>
          </a:p>
        </p:txBody>
      </p:sp>
      <p:sp>
        <p:nvSpPr>
          <p:cNvPr id="159" name="Google Shape;15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See Baseline Assessment on </a:t>
            </a:r>
            <a:r>
              <a:rPr lang="en" sz="1050" u="sng">
                <a:solidFill>
                  <a:schemeClr val="hlink"/>
                </a:solidFill>
                <a:latin typeface="Roboto"/>
                <a:ea typeface="Roboto"/>
                <a:cs typeface="Roboto"/>
                <a:sym typeface="Roboto"/>
                <a:hlinkClick r:id="rId3"/>
              </a:rPr>
              <a:t>https://app.pandadoc.com/document/06de8fda553e47620a41958e9d9722aed231a550</a:t>
            </a:r>
            <a:endParaRPr sz="1050">
              <a:solidFill>
                <a:srgbClr val="2F2F2F"/>
              </a:solidFill>
              <a:latin typeface="Roboto"/>
              <a:ea typeface="Roboto"/>
              <a:cs typeface="Roboto"/>
              <a:sym typeface="Roboto"/>
            </a:endParaRPr>
          </a:p>
          <a:p>
            <a:pPr indent="0" lvl="0" marL="0" rtl="0" algn="l">
              <a:spcBef>
                <a:spcPts val="1200"/>
              </a:spcBef>
              <a:spcAft>
                <a:spcPts val="0"/>
              </a:spcAft>
              <a:buNone/>
            </a:pPr>
            <a:r>
              <a:t/>
            </a:r>
            <a:endParaRPr sz="1050">
              <a:solidFill>
                <a:srgbClr val="2F2F2F"/>
              </a:solidFill>
              <a:latin typeface="Roboto"/>
              <a:ea typeface="Roboto"/>
              <a:cs typeface="Roboto"/>
              <a:sym typeface="Roboto"/>
            </a:endParaRPr>
          </a:p>
          <a:p>
            <a:pPr indent="0" lvl="0" marL="0" rtl="0" algn="l">
              <a:spcBef>
                <a:spcPts val="1200"/>
              </a:spcBef>
              <a:spcAft>
                <a:spcPts val="1200"/>
              </a:spcAft>
              <a:buNone/>
            </a:pPr>
            <a:r>
              <a:rPr lang="en" sz="1050">
                <a:solidFill>
                  <a:srgbClr val="2F2F2F"/>
                </a:solidFill>
                <a:latin typeface="Roboto"/>
                <a:ea typeface="Roboto"/>
                <a:cs typeface="Roboto"/>
                <a:sym typeface="Roboto"/>
              </a:rPr>
              <a:t>Feel free to structure content and design as you see fit</a:t>
            </a:r>
            <a:endParaRPr sz="1050">
              <a:solidFill>
                <a:srgbClr val="2F2F2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Website Quality Assessment</a:t>
            </a:r>
            <a:endParaRPr/>
          </a:p>
        </p:txBody>
      </p:sp>
      <p:sp>
        <p:nvSpPr>
          <p:cNvPr id="165" name="Google Shape;16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See Website Quality Assessment on: </a:t>
            </a:r>
            <a:endParaRPr/>
          </a:p>
          <a:p>
            <a:pPr indent="0" lvl="0" marL="0" rtl="0" algn="l">
              <a:spcBef>
                <a:spcPts val="1200"/>
              </a:spcBef>
              <a:spcAft>
                <a:spcPts val="0"/>
              </a:spcAft>
              <a:buNone/>
            </a:pPr>
            <a:r>
              <a:rPr lang="en" sz="1050" u="sng">
                <a:solidFill>
                  <a:schemeClr val="hlink"/>
                </a:solidFill>
                <a:latin typeface="Roboto"/>
                <a:ea typeface="Roboto"/>
                <a:cs typeface="Roboto"/>
                <a:sym typeface="Roboto"/>
                <a:hlinkClick r:id="rId3"/>
              </a:rPr>
              <a:t>https://app.pandadoc.com/document/06de8fda553e47620a41958e9d9722aed231a550</a:t>
            </a:r>
            <a:endParaRPr sz="1050">
              <a:solidFill>
                <a:srgbClr val="2F2F2F"/>
              </a:solidFill>
              <a:latin typeface="Roboto"/>
              <a:ea typeface="Roboto"/>
              <a:cs typeface="Roboto"/>
              <a:sym typeface="Roboto"/>
            </a:endParaRPr>
          </a:p>
          <a:p>
            <a:pPr indent="0" lvl="0" marL="0" rtl="0" algn="l">
              <a:spcBef>
                <a:spcPts val="1200"/>
              </a:spcBef>
              <a:spcAft>
                <a:spcPts val="0"/>
              </a:spcAft>
              <a:buNone/>
            </a:pPr>
            <a:r>
              <a:t/>
            </a:r>
            <a:endParaRPr sz="1050">
              <a:solidFill>
                <a:srgbClr val="2F2F2F"/>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050">
                <a:solidFill>
                  <a:srgbClr val="2F2F2F"/>
                </a:solidFill>
                <a:latin typeface="Roboto"/>
                <a:ea typeface="Roboto"/>
                <a:cs typeface="Roboto"/>
                <a:sym typeface="Roboto"/>
              </a:rPr>
              <a:t>Feel free to structure content and design as you see fit</a:t>
            </a:r>
            <a:endParaRPr sz="1050">
              <a:solidFill>
                <a:srgbClr val="2F2F2F"/>
              </a:solidFill>
              <a:latin typeface="Roboto"/>
              <a:ea typeface="Roboto"/>
              <a:cs typeface="Roboto"/>
              <a:sym typeface="Roboto"/>
            </a:endParaRPr>
          </a:p>
          <a:p>
            <a:pPr indent="0" lvl="0" marL="0" rtl="0" algn="l">
              <a:spcBef>
                <a:spcPts val="1200"/>
              </a:spcBef>
              <a:spcAft>
                <a:spcPts val="1200"/>
              </a:spcAft>
              <a:buNone/>
            </a:pPr>
            <a:r>
              <a:t/>
            </a:r>
            <a:endParaRPr sz="1050">
              <a:solidFill>
                <a:srgbClr val="2F2F2F"/>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Technical Website Assessment</a:t>
            </a:r>
            <a:endParaRPr/>
          </a:p>
        </p:txBody>
      </p:sp>
      <p:sp>
        <p:nvSpPr>
          <p:cNvPr id="171" name="Google Shape;17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See technical website assessment on: </a:t>
            </a:r>
            <a:r>
              <a:rPr lang="en" sz="1050" u="sng">
                <a:solidFill>
                  <a:schemeClr val="hlink"/>
                </a:solidFill>
                <a:latin typeface="Roboto"/>
                <a:ea typeface="Roboto"/>
                <a:cs typeface="Roboto"/>
                <a:sym typeface="Roboto"/>
                <a:hlinkClick r:id="rId3"/>
              </a:rPr>
              <a:t>https://app.pandadoc.com/document/06de8fda553e47620a41958e9d9722aed231a550</a:t>
            </a:r>
            <a:endParaRPr sz="1050">
              <a:solidFill>
                <a:srgbClr val="2F2F2F"/>
              </a:solidFill>
              <a:latin typeface="Roboto"/>
              <a:ea typeface="Roboto"/>
              <a:cs typeface="Roboto"/>
              <a:sym typeface="Roboto"/>
            </a:endParaRPr>
          </a:p>
          <a:p>
            <a:pPr indent="0" lvl="0" marL="0" rtl="0" algn="l">
              <a:spcBef>
                <a:spcPts val="1200"/>
              </a:spcBef>
              <a:spcAft>
                <a:spcPts val="0"/>
              </a:spcAft>
              <a:buNone/>
            </a:pPr>
            <a:r>
              <a:t/>
            </a:r>
            <a:endParaRPr sz="1050">
              <a:solidFill>
                <a:srgbClr val="2F2F2F"/>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050">
                <a:solidFill>
                  <a:srgbClr val="2F2F2F"/>
                </a:solidFill>
                <a:latin typeface="Roboto"/>
                <a:ea typeface="Roboto"/>
                <a:cs typeface="Roboto"/>
                <a:sym typeface="Roboto"/>
              </a:rPr>
              <a:t>Feel free to structure content and design as you see fit</a:t>
            </a:r>
            <a:endParaRPr sz="1050">
              <a:solidFill>
                <a:srgbClr val="2F2F2F"/>
              </a:solidFill>
              <a:latin typeface="Roboto"/>
              <a:ea typeface="Roboto"/>
              <a:cs typeface="Roboto"/>
              <a:sym typeface="Roboto"/>
            </a:endParaRPr>
          </a:p>
          <a:p>
            <a:pPr indent="0" lvl="0" marL="0" rtl="0" algn="l">
              <a:spcBef>
                <a:spcPts val="1200"/>
              </a:spcBef>
              <a:spcAft>
                <a:spcPts val="1200"/>
              </a:spcAft>
              <a:buNone/>
            </a:pPr>
            <a:r>
              <a:t/>
            </a:r>
            <a:endParaRPr sz="1050">
              <a:solidFill>
                <a:srgbClr val="2F2F2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Keyword Research for Existing Pages</a:t>
            </a:r>
            <a:endParaRPr/>
          </a:p>
        </p:txBody>
      </p:sp>
      <p:sp>
        <p:nvSpPr>
          <p:cNvPr id="177" name="Google Shape;17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See Keyword Research on </a:t>
            </a:r>
            <a:r>
              <a:rPr lang="en" sz="1050" u="sng">
                <a:solidFill>
                  <a:schemeClr val="hlink"/>
                </a:solidFill>
                <a:latin typeface="Roboto"/>
                <a:ea typeface="Roboto"/>
                <a:cs typeface="Roboto"/>
                <a:sym typeface="Roboto"/>
                <a:hlinkClick r:id="rId3"/>
              </a:rPr>
              <a:t>https://app.pandadoc.com/document/06de8fda553e47620a41958e9d9722aed231a550</a:t>
            </a:r>
            <a:endParaRPr sz="1050">
              <a:solidFill>
                <a:srgbClr val="2F2F2F"/>
              </a:solidFill>
              <a:latin typeface="Roboto"/>
              <a:ea typeface="Roboto"/>
              <a:cs typeface="Roboto"/>
              <a:sym typeface="Roboto"/>
            </a:endParaRPr>
          </a:p>
          <a:p>
            <a:pPr indent="0" lvl="0" marL="0" rtl="0" algn="l">
              <a:spcBef>
                <a:spcPts val="1200"/>
              </a:spcBef>
              <a:spcAft>
                <a:spcPts val="0"/>
              </a:spcAft>
              <a:buNone/>
            </a:pPr>
            <a:r>
              <a:t/>
            </a:r>
            <a:endParaRPr sz="1050">
              <a:solidFill>
                <a:srgbClr val="2F2F2F"/>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050">
                <a:solidFill>
                  <a:srgbClr val="2F2F2F"/>
                </a:solidFill>
                <a:latin typeface="Roboto"/>
                <a:ea typeface="Roboto"/>
                <a:cs typeface="Roboto"/>
                <a:sym typeface="Roboto"/>
              </a:rPr>
              <a:t>Feel free to structure content and design as you see fit</a:t>
            </a:r>
            <a:endParaRPr sz="1050">
              <a:solidFill>
                <a:srgbClr val="2F2F2F"/>
              </a:solidFill>
              <a:latin typeface="Roboto"/>
              <a:ea typeface="Roboto"/>
              <a:cs typeface="Roboto"/>
              <a:sym typeface="Roboto"/>
            </a:endParaRPr>
          </a:p>
          <a:p>
            <a:pPr indent="0" lvl="0" marL="0" rtl="0" algn="l">
              <a:spcBef>
                <a:spcPts val="1200"/>
              </a:spcBef>
              <a:spcAft>
                <a:spcPts val="0"/>
              </a:spcAft>
              <a:buNone/>
            </a:pPr>
            <a:r>
              <a:t/>
            </a:r>
            <a:endParaRPr sz="1050">
              <a:solidFill>
                <a:srgbClr val="2F2F2F"/>
              </a:solidFill>
              <a:latin typeface="Roboto"/>
              <a:ea typeface="Roboto"/>
              <a:cs typeface="Roboto"/>
              <a:sym typeface="Roboto"/>
            </a:endParaRPr>
          </a:p>
          <a:p>
            <a:pPr indent="0" lvl="0" marL="0" rtl="0" algn="l">
              <a:spcBef>
                <a:spcPts val="1200"/>
              </a:spcBef>
              <a:spcAft>
                <a:spcPts val="1200"/>
              </a:spcAft>
              <a:buNone/>
            </a:pPr>
            <a:r>
              <a:t/>
            </a:r>
            <a:endParaRPr sz="1050">
              <a:solidFill>
                <a:srgbClr val="2F2F2F"/>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Keyword Research for New Pages (Gap Analysis)	</a:t>
            </a:r>
            <a:endParaRPr/>
          </a:p>
        </p:txBody>
      </p:sp>
      <p:sp>
        <p:nvSpPr>
          <p:cNvPr id="183" name="Google Shape;183;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See KW Gap Analysis on </a:t>
            </a:r>
            <a:r>
              <a:rPr lang="en" sz="1050" u="sng">
                <a:solidFill>
                  <a:schemeClr val="hlink"/>
                </a:solidFill>
                <a:latin typeface="Roboto"/>
                <a:ea typeface="Roboto"/>
                <a:cs typeface="Roboto"/>
                <a:sym typeface="Roboto"/>
                <a:hlinkClick r:id="rId3"/>
              </a:rPr>
              <a:t>https://app.pandadoc.com/document/06de8fda553e47620a41958e9d9722aed231a550</a:t>
            </a:r>
            <a:endParaRPr sz="1050">
              <a:solidFill>
                <a:srgbClr val="2F2F2F"/>
              </a:solidFill>
              <a:latin typeface="Roboto"/>
              <a:ea typeface="Roboto"/>
              <a:cs typeface="Roboto"/>
              <a:sym typeface="Roboto"/>
            </a:endParaRPr>
          </a:p>
          <a:p>
            <a:pPr indent="0" lvl="0" marL="0" rtl="0" algn="l">
              <a:spcBef>
                <a:spcPts val="1200"/>
              </a:spcBef>
              <a:spcAft>
                <a:spcPts val="0"/>
              </a:spcAft>
              <a:buNone/>
            </a:pPr>
            <a:r>
              <a:t/>
            </a:r>
            <a:endParaRPr sz="1050">
              <a:solidFill>
                <a:srgbClr val="2F2F2F"/>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050">
                <a:solidFill>
                  <a:srgbClr val="2F2F2F"/>
                </a:solidFill>
                <a:latin typeface="Roboto"/>
                <a:ea typeface="Roboto"/>
                <a:cs typeface="Roboto"/>
                <a:sym typeface="Roboto"/>
              </a:rPr>
              <a:t>Feel free to structure content and design as you see fit</a:t>
            </a:r>
            <a:endParaRPr sz="1050">
              <a:solidFill>
                <a:srgbClr val="2F2F2F"/>
              </a:solidFill>
              <a:latin typeface="Roboto"/>
              <a:ea typeface="Roboto"/>
              <a:cs typeface="Roboto"/>
              <a:sym typeface="Roboto"/>
            </a:endParaRPr>
          </a:p>
          <a:p>
            <a:pPr indent="0" lvl="0" marL="0" rtl="0" algn="l">
              <a:spcBef>
                <a:spcPts val="1200"/>
              </a:spcBef>
              <a:spcAft>
                <a:spcPts val="0"/>
              </a:spcAft>
              <a:buNone/>
            </a:pPr>
            <a:r>
              <a:t/>
            </a:r>
            <a:endParaRPr sz="1050">
              <a:solidFill>
                <a:srgbClr val="2F2F2F"/>
              </a:solidFill>
              <a:latin typeface="Roboto"/>
              <a:ea typeface="Roboto"/>
              <a:cs typeface="Roboto"/>
              <a:sym typeface="Roboto"/>
            </a:endParaRPr>
          </a:p>
          <a:p>
            <a:pPr indent="0" lvl="0" marL="0" rtl="0" algn="l">
              <a:spcBef>
                <a:spcPts val="1200"/>
              </a:spcBef>
              <a:spcAft>
                <a:spcPts val="1200"/>
              </a:spcAft>
              <a:buNone/>
            </a:pPr>
            <a:r>
              <a:t/>
            </a:r>
            <a:endParaRPr sz="1050">
              <a:solidFill>
                <a:srgbClr val="2F2F2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 Page Recommendations	</a:t>
            </a:r>
            <a:endParaRPr/>
          </a:p>
        </p:txBody>
      </p:sp>
      <p:sp>
        <p:nvSpPr>
          <p:cNvPr id="189" name="Google Shape;18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See On Page Recommendations on: </a:t>
            </a:r>
            <a:endParaRPr/>
          </a:p>
          <a:p>
            <a:pPr indent="0" lvl="0" marL="0" rtl="0" algn="l">
              <a:spcBef>
                <a:spcPts val="1200"/>
              </a:spcBef>
              <a:spcAft>
                <a:spcPts val="0"/>
              </a:spcAft>
              <a:buNone/>
            </a:pPr>
            <a:r>
              <a:rPr lang="en" sz="1050" u="sng">
                <a:solidFill>
                  <a:schemeClr val="hlink"/>
                </a:solidFill>
                <a:latin typeface="Roboto"/>
                <a:ea typeface="Roboto"/>
                <a:cs typeface="Roboto"/>
                <a:sym typeface="Roboto"/>
                <a:hlinkClick r:id="rId3"/>
              </a:rPr>
              <a:t>https://app.pandadoc.com/document/06de8fda553e47620a41958e9d9722aed231a550</a:t>
            </a:r>
            <a:endParaRPr sz="1050">
              <a:solidFill>
                <a:srgbClr val="2F2F2F"/>
              </a:solidFill>
              <a:latin typeface="Roboto"/>
              <a:ea typeface="Roboto"/>
              <a:cs typeface="Roboto"/>
              <a:sym typeface="Roboto"/>
            </a:endParaRPr>
          </a:p>
          <a:p>
            <a:pPr indent="0" lvl="0" marL="0" rtl="0" algn="l">
              <a:spcBef>
                <a:spcPts val="1200"/>
              </a:spcBef>
              <a:spcAft>
                <a:spcPts val="0"/>
              </a:spcAft>
              <a:buNone/>
            </a:pPr>
            <a:r>
              <a:t/>
            </a:r>
            <a:endParaRPr sz="1050">
              <a:solidFill>
                <a:srgbClr val="2F2F2F"/>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050">
                <a:solidFill>
                  <a:srgbClr val="2F2F2F"/>
                </a:solidFill>
                <a:latin typeface="Roboto"/>
                <a:ea typeface="Roboto"/>
                <a:cs typeface="Roboto"/>
                <a:sym typeface="Roboto"/>
              </a:rPr>
              <a:t>Feel free to structure content and design as you see fit</a:t>
            </a:r>
            <a:endParaRPr sz="1050">
              <a:solidFill>
                <a:srgbClr val="2F2F2F"/>
              </a:solidFill>
              <a:latin typeface="Roboto"/>
              <a:ea typeface="Roboto"/>
              <a:cs typeface="Roboto"/>
              <a:sym typeface="Roboto"/>
            </a:endParaRPr>
          </a:p>
          <a:p>
            <a:pPr indent="0" lvl="0" marL="0" rtl="0" algn="l">
              <a:spcBef>
                <a:spcPts val="1200"/>
              </a:spcBef>
              <a:spcAft>
                <a:spcPts val="0"/>
              </a:spcAft>
              <a:buNone/>
            </a:pPr>
            <a:r>
              <a:t/>
            </a:r>
            <a:endParaRPr sz="1050">
              <a:solidFill>
                <a:srgbClr val="2F2F2F"/>
              </a:solidFill>
              <a:latin typeface="Roboto"/>
              <a:ea typeface="Roboto"/>
              <a:cs typeface="Roboto"/>
              <a:sym typeface="Roboto"/>
            </a:endParaRPr>
          </a:p>
          <a:p>
            <a:pPr indent="0" lvl="0" marL="0" rtl="0" algn="l">
              <a:spcBef>
                <a:spcPts val="1200"/>
              </a:spcBef>
              <a:spcAft>
                <a:spcPts val="1200"/>
              </a:spcAft>
              <a:buNone/>
            </a:pPr>
            <a:r>
              <a:t/>
            </a:r>
            <a:endParaRPr sz="1050">
              <a:solidFill>
                <a:srgbClr val="2F2F2F"/>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Content Quality Assessment</a:t>
            </a:r>
            <a:endParaRPr/>
          </a:p>
        </p:txBody>
      </p:sp>
      <p:sp>
        <p:nvSpPr>
          <p:cNvPr id="195" name="Google Shape;19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See Content Quatliy Assessment on </a:t>
            </a:r>
            <a:r>
              <a:rPr lang="en" sz="1050" u="sng">
                <a:solidFill>
                  <a:schemeClr val="hlink"/>
                </a:solidFill>
                <a:latin typeface="Roboto"/>
                <a:ea typeface="Roboto"/>
                <a:cs typeface="Roboto"/>
                <a:sym typeface="Roboto"/>
                <a:hlinkClick r:id="rId3"/>
              </a:rPr>
              <a:t>https://app.pandadoc.com/document/06de8fda553e47620a41958e9d9722aed231a550</a:t>
            </a:r>
            <a:endParaRPr sz="1050">
              <a:solidFill>
                <a:srgbClr val="2F2F2F"/>
              </a:solidFill>
              <a:latin typeface="Roboto"/>
              <a:ea typeface="Roboto"/>
              <a:cs typeface="Roboto"/>
              <a:sym typeface="Roboto"/>
            </a:endParaRPr>
          </a:p>
          <a:p>
            <a:pPr indent="0" lvl="0" marL="0" rtl="0" algn="l">
              <a:spcBef>
                <a:spcPts val="1200"/>
              </a:spcBef>
              <a:spcAft>
                <a:spcPts val="0"/>
              </a:spcAft>
              <a:buNone/>
            </a:pPr>
            <a:r>
              <a:t/>
            </a:r>
            <a:endParaRPr sz="1050">
              <a:solidFill>
                <a:srgbClr val="2F2F2F"/>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050">
                <a:solidFill>
                  <a:srgbClr val="2F2F2F"/>
                </a:solidFill>
                <a:latin typeface="Roboto"/>
                <a:ea typeface="Roboto"/>
                <a:cs typeface="Roboto"/>
                <a:sym typeface="Roboto"/>
              </a:rPr>
              <a:t>Feel free to structure content and design as you see fit</a:t>
            </a:r>
            <a:endParaRPr sz="1050">
              <a:solidFill>
                <a:srgbClr val="2F2F2F"/>
              </a:solidFill>
              <a:latin typeface="Roboto"/>
              <a:ea typeface="Roboto"/>
              <a:cs typeface="Roboto"/>
              <a:sym typeface="Roboto"/>
            </a:endParaRPr>
          </a:p>
          <a:p>
            <a:pPr indent="0" lvl="0" marL="0" rtl="0" algn="l">
              <a:spcBef>
                <a:spcPts val="1200"/>
              </a:spcBef>
              <a:spcAft>
                <a:spcPts val="1200"/>
              </a:spcAft>
              <a:buNone/>
            </a:pPr>
            <a:r>
              <a:t/>
            </a:r>
            <a:endParaRPr sz="1050">
              <a:solidFill>
                <a:srgbClr val="2F2F2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Editorial Calendar</a:t>
            </a:r>
            <a:endParaRPr/>
          </a:p>
        </p:txBody>
      </p:sp>
      <p:sp>
        <p:nvSpPr>
          <p:cNvPr id="201" name="Google Shape;20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2" name="Google Shape;202;p32"/>
          <p:cNvPicPr preferRelativeResize="0"/>
          <p:nvPr/>
        </p:nvPicPr>
        <p:blipFill>
          <a:blip r:embed="rId3">
            <a:alphaModFix/>
          </a:blip>
          <a:stretch>
            <a:fillRect/>
          </a:stretch>
        </p:blipFill>
        <p:spPr>
          <a:xfrm>
            <a:off x="2179998" y="407275"/>
            <a:ext cx="6652298" cy="3936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Content Outlines</a:t>
            </a:r>
            <a:endParaRPr/>
          </a:p>
        </p:txBody>
      </p:sp>
      <p:sp>
        <p:nvSpPr>
          <p:cNvPr id="208" name="Google Shape;208;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9" name="Google Shape;209;p33"/>
          <p:cNvPicPr preferRelativeResize="0"/>
          <p:nvPr/>
        </p:nvPicPr>
        <p:blipFill>
          <a:blip r:embed="rId3">
            <a:alphaModFix/>
          </a:blip>
          <a:stretch>
            <a:fillRect/>
          </a:stretch>
        </p:blipFill>
        <p:spPr>
          <a:xfrm>
            <a:off x="1726225" y="1017725"/>
            <a:ext cx="6479252" cy="37679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Link Building</a:t>
            </a:r>
            <a:endParaRPr/>
          </a:p>
          <a:p>
            <a:pPr indent="0" lvl="0" marL="0" rtl="0" algn="l">
              <a:spcBef>
                <a:spcPts val="0"/>
              </a:spcBef>
              <a:spcAft>
                <a:spcPts val="0"/>
              </a:spcAft>
              <a:buNone/>
            </a:pPr>
            <a:r>
              <a:t/>
            </a:r>
            <a:endParaRPr/>
          </a:p>
        </p:txBody>
      </p:sp>
      <p:sp>
        <p:nvSpPr>
          <p:cNvPr id="215" name="Google Shape;215;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6" name="Google Shape;216;p34"/>
          <p:cNvPicPr preferRelativeResize="0"/>
          <p:nvPr/>
        </p:nvPicPr>
        <p:blipFill>
          <a:blip r:embed="rId3">
            <a:alphaModFix/>
          </a:blip>
          <a:stretch>
            <a:fillRect/>
          </a:stretch>
        </p:blipFill>
        <p:spPr>
          <a:xfrm>
            <a:off x="595800" y="952600"/>
            <a:ext cx="8365527" cy="47015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 name="Shape 220"/>
        <p:cNvGrpSpPr/>
        <p:nvPr/>
      </p:nvGrpSpPr>
      <p:grpSpPr>
        <a:xfrm>
          <a:off x="0" y="0"/>
          <a:ext cx="0" cy="0"/>
          <a:chOff x="0" y="0"/>
          <a:chExt cx="0" cy="0"/>
        </a:xfrm>
      </p:grpSpPr>
      <p:sp>
        <p:nvSpPr>
          <p:cNvPr id="221" name="Google Shape;221;p35"/>
          <p:cNvSpPr/>
          <p:nvPr/>
        </p:nvSpPr>
        <p:spPr>
          <a:xfrm rot="4823503">
            <a:off x="3917162" y="-343454"/>
            <a:ext cx="2284446" cy="10499308"/>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2" name="Google Shape;222;p35"/>
          <p:cNvPicPr preferRelativeResize="0"/>
          <p:nvPr/>
        </p:nvPicPr>
        <p:blipFill>
          <a:blip r:embed="rId3">
            <a:alphaModFix/>
          </a:blip>
          <a:stretch>
            <a:fillRect/>
          </a:stretch>
        </p:blipFill>
        <p:spPr>
          <a:xfrm rot="2910547">
            <a:off x="6869994" y="2316794"/>
            <a:ext cx="2209960" cy="4446787"/>
          </a:xfrm>
          <a:prstGeom prst="rect">
            <a:avLst/>
          </a:prstGeom>
          <a:noFill/>
          <a:ln>
            <a:noFill/>
          </a:ln>
        </p:spPr>
      </p:pic>
      <p:sp>
        <p:nvSpPr>
          <p:cNvPr id="223" name="Google Shape;223;p35"/>
          <p:cNvSpPr txBox="1"/>
          <p:nvPr>
            <p:ph type="title"/>
          </p:nvPr>
        </p:nvSpPr>
        <p:spPr>
          <a:xfrm>
            <a:off x="593850" y="2239500"/>
            <a:ext cx="4056600" cy="6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a:solidFill>
                  <a:srgbClr val="E21A6B"/>
                </a:solidFill>
                <a:latin typeface="Proxima Nova"/>
                <a:ea typeface="Proxima Nova"/>
                <a:cs typeface="Proxima Nova"/>
                <a:sym typeface="Proxima Nova"/>
              </a:rPr>
              <a:t>Scheduling</a:t>
            </a:r>
            <a:endParaRPr b="1" sz="3420">
              <a:solidFill>
                <a:srgbClr val="E21A6B"/>
              </a:solidFill>
              <a:latin typeface="Proxima Nova"/>
              <a:ea typeface="Proxima Nova"/>
              <a:cs typeface="Proxima Nova"/>
              <a:sym typeface="Proxima Nova"/>
            </a:endParaRPr>
          </a:p>
        </p:txBody>
      </p:sp>
      <p:pic>
        <p:nvPicPr>
          <p:cNvPr id="224" name="Google Shape;224;p3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pic>
        <p:nvPicPr>
          <p:cNvPr id="225" name="Google Shape;225;p35"/>
          <p:cNvPicPr preferRelativeResize="0"/>
          <p:nvPr/>
        </p:nvPicPr>
        <p:blipFill>
          <a:blip r:embed="rId5">
            <a:alphaModFix/>
          </a:blip>
          <a:stretch>
            <a:fillRect/>
          </a:stretch>
        </p:blipFill>
        <p:spPr>
          <a:xfrm>
            <a:off x="4802850" y="1683657"/>
            <a:ext cx="4341149" cy="3013543"/>
          </a:xfrm>
          <a:prstGeom prst="rect">
            <a:avLst/>
          </a:prstGeom>
          <a:noFill/>
          <a:ln>
            <a:noFill/>
          </a:ln>
        </p:spPr>
      </p:pic>
      <p:sp>
        <p:nvSpPr>
          <p:cNvPr id="226" name="Google Shape;226;p35"/>
          <p:cNvSpPr/>
          <p:nvPr/>
        </p:nvSpPr>
        <p:spPr>
          <a:xfrm rot="4823503">
            <a:off x="2229752" y="-4392734"/>
            <a:ext cx="2284446" cy="7511117"/>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 name="Shape 230"/>
        <p:cNvGrpSpPr/>
        <p:nvPr/>
      </p:nvGrpSpPr>
      <p:grpSpPr>
        <a:xfrm>
          <a:off x="0" y="0"/>
          <a:ext cx="0" cy="0"/>
          <a:chOff x="0" y="0"/>
          <a:chExt cx="0" cy="0"/>
        </a:xfrm>
      </p:grpSpPr>
      <p:sp>
        <p:nvSpPr>
          <p:cNvPr id="231" name="Google Shape;231;p36"/>
          <p:cNvSpPr/>
          <p:nvPr/>
        </p:nvSpPr>
        <p:spPr>
          <a:xfrm rot="4823503">
            <a:off x="3917162" y="-343454"/>
            <a:ext cx="2284446" cy="10499308"/>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2" name="Google Shape;232;p36"/>
          <p:cNvPicPr preferRelativeResize="0"/>
          <p:nvPr/>
        </p:nvPicPr>
        <p:blipFill>
          <a:blip r:embed="rId3">
            <a:alphaModFix/>
          </a:blip>
          <a:stretch>
            <a:fillRect/>
          </a:stretch>
        </p:blipFill>
        <p:spPr>
          <a:xfrm rot="2910547">
            <a:off x="6869994" y="2316794"/>
            <a:ext cx="2209960" cy="4446787"/>
          </a:xfrm>
          <a:prstGeom prst="rect">
            <a:avLst/>
          </a:prstGeom>
          <a:noFill/>
          <a:ln>
            <a:noFill/>
          </a:ln>
        </p:spPr>
      </p:pic>
      <p:sp>
        <p:nvSpPr>
          <p:cNvPr id="233" name="Google Shape;233;p36"/>
          <p:cNvSpPr txBox="1"/>
          <p:nvPr>
            <p:ph type="title"/>
          </p:nvPr>
        </p:nvSpPr>
        <p:spPr>
          <a:xfrm>
            <a:off x="593850" y="2239500"/>
            <a:ext cx="4056600" cy="6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a:solidFill>
                  <a:srgbClr val="E21A6B"/>
                </a:solidFill>
                <a:latin typeface="Proxima Nova"/>
                <a:ea typeface="Proxima Nova"/>
                <a:cs typeface="Proxima Nova"/>
                <a:sym typeface="Proxima Nova"/>
              </a:rPr>
              <a:t>The NavLog</a:t>
            </a:r>
            <a:endParaRPr b="1" sz="3420">
              <a:solidFill>
                <a:srgbClr val="E21A6B"/>
              </a:solidFill>
              <a:latin typeface="Proxima Nova"/>
              <a:ea typeface="Proxima Nova"/>
              <a:cs typeface="Proxima Nova"/>
              <a:sym typeface="Proxima Nova"/>
            </a:endParaRPr>
          </a:p>
        </p:txBody>
      </p:sp>
      <p:pic>
        <p:nvPicPr>
          <p:cNvPr id="234" name="Google Shape;234;p3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pic>
        <p:nvPicPr>
          <p:cNvPr id="235" name="Google Shape;235;p36"/>
          <p:cNvPicPr preferRelativeResize="0"/>
          <p:nvPr/>
        </p:nvPicPr>
        <p:blipFill>
          <a:blip r:embed="rId5">
            <a:alphaModFix/>
          </a:blip>
          <a:stretch>
            <a:fillRect/>
          </a:stretch>
        </p:blipFill>
        <p:spPr>
          <a:xfrm>
            <a:off x="4802850" y="1683657"/>
            <a:ext cx="4341149" cy="3013543"/>
          </a:xfrm>
          <a:prstGeom prst="rect">
            <a:avLst/>
          </a:prstGeom>
          <a:noFill/>
          <a:ln>
            <a:noFill/>
          </a:ln>
        </p:spPr>
      </p:pic>
      <p:sp>
        <p:nvSpPr>
          <p:cNvPr id="236" name="Google Shape;236;p36"/>
          <p:cNvSpPr/>
          <p:nvPr/>
        </p:nvSpPr>
        <p:spPr>
          <a:xfrm rot="4823503">
            <a:off x="2229752" y="-4392734"/>
            <a:ext cx="2284446" cy="7511117"/>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type="title"/>
          </p:nvPr>
        </p:nvSpPr>
        <p:spPr>
          <a:xfrm>
            <a:off x="311700" y="2285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