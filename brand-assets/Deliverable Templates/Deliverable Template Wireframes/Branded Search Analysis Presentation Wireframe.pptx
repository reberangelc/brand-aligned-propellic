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  <p:embeddedFont>
      <p:font typeface="Roboto"/>
      <p:regular r:id="rId40"/>
      <p:bold r:id="rId41"/>
      <p:italic r:id="rId42"/>
      <p:boldItalic r:id="rId43"/>
    </p:embeddedFont>
    <p:embeddedFont>
      <p:font typeface="Proxima Nova Semibold"/>
      <p:regular r:id="rId44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4E1C9A-EBE4-4017-B69A-AC5639473707}">
  <a:tblStyle styleId="{254E1C9A-EBE4-4017-B69A-AC56394737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6.xml"/><Relationship Id="rId44" Type="http://schemas.openxmlformats.org/officeDocument/2006/relationships/font" Target="fonts/ProximaNovaSemibold-regular.fntdata"/><Relationship Id="rId21" Type="http://schemas.openxmlformats.org/officeDocument/2006/relationships/slide" Target="slides/slide15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8.xml"/><Relationship Id="rId46" Type="http://schemas.openxmlformats.org/officeDocument/2006/relationships/font" Target="fonts/ProximaNovaSemibold-boldItalic.fntdata"/><Relationship Id="rId23" Type="http://schemas.openxmlformats.org/officeDocument/2006/relationships/slide" Target="slides/slide17.xml"/><Relationship Id="rId45" Type="http://schemas.openxmlformats.org/officeDocument/2006/relationships/font" Target="fonts/ProximaNova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bold.fntdata"/><Relationship Id="rId14" Type="http://schemas.openxmlformats.org/officeDocument/2006/relationships/slide" Target="slides/slide8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1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ea3b34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ea3b34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71da273d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1371da273d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aea3b34d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aea3b34d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71da273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71da273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71da273d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71da273d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71da273d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371da273d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71da273d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71da273d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71da273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71da273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aea3b34d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3aea3b34d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71da273d9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71da273d9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71da273d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71da273d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71da273d9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71da273d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71da273d9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371da273d9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71da273d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71da273d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71da273d9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371da273d9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71da273d9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371da273d9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71da273d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371da273d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71da273d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371da273d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371da273d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371da273d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71da273d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71da273d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371da273d9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371da273d9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71da273d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371da273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371da273d9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371da273d9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71da273d9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71da273d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371da273d9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371da273d9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371da273d9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371da273d9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371da273d9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371da273d9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371da273d9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371da273d9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3aea3b34d8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3aea3b34d8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731950"/>
            <a:ext cx="8520600" cy="7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42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 Analysis</a:t>
            </a:r>
            <a:endParaRPr b="1" sz="442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53075"/>
            <a:ext cx="54075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Placeholder</a:t>
            </a:r>
            <a:endParaRPr sz="2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74" y="713560"/>
            <a:ext cx="1598936" cy="3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4961" y="645775"/>
            <a:ext cx="512113" cy="51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068440" y="713548"/>
            <a:ext cx="4191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x</a:t>
            </a:r>
            <a:endParaRPr sz="23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0" l="21581" r="0" t="21210"/>
          <a:stretch/>
        </p:blipFill>
        <p:spPr>
          <a:xfrm flipH="1" rot="7">
            <a:off x="7397650" y="-85322"/>
            <a:ext cx="2879850" cy="528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914295" y="2093176"/>
            <a:ext cx="27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AGENDA</a:t>
            </a:r>
            <a:endParaRPr b="1" i="0" sz="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572000" y="0"/>
            <a:ext cx="4569986" cy="5141235"/>
          </a:xfrm>
          <a:custGeom>
            <a:rect b="b" l="l" r="r" t="t"/>
            <a:pathLst>
              <a:path extrusionOk="0" h="3752726" w="3335756">
                <a:moveTo>
                  <a:pt x="0" y="0"/>
                </a:moveTo>
                <a:lnTo>
                  <a:pt x="3335756" y="0"/>
                </a:lnTo>
                <a:lnTo>
                  <a:pt x="3335756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21A6B"/>
          </a:solidFill>
          <a:ln>
            <a:noFill/>
          </a:ln>
        </p:spPr>
      </p:sp>
      <p:cxnSp>
        <p:nvCxnSpPr>
          <p:cNvPr id="66" name="Google Shape;66;p14"/>
          <p:cNvCxnSpPr/>
          <p:nvPr/>
        </p:nvCxnSpPr>
        <p:spPr>
          <a:xfrm rot="-5400000">
            <a:off x="4193521" y="2700419"/>
            <a:ext cx="55542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>
            <a:off x="6963477" y="514350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4"/>
          <p:cNvCxnSpPr/>
          <p:nvPr/>
        </p:nvCxnSpPr>
        <p:spPr>
          <a:xfrm>
            <a:off x="6607555" y="1278867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6963477" y="2056424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6614699" y="2878390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>
            <a:off x="6963477" y="3691223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4"/>
          <p:cNvCxnSpPr/>
          <p:nvPr/>
        </p:nvCxnSpPr>
        <p:spPr>
          <a:xfrm>
            <a:off x="914295" y="2864103"/>
            <a:ext cx="420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4"/>
          <p:cNvSpPr txBox="1"/>
          <p:nvPr/>
        </p:nvSpPr>
        <p:spPr>
          <a:xfrm>
            <a:off x="7463175" y="332048"/>
            <a:ext cx="11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 Branded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search terms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486403" y="1107617"/>
            <a:ext cx="9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Performance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7463175" y="1920019"/>
            <a:ext cx="127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Above the Fold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190632" y="2714758"/>
            <a:ext cx="127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Below the Fold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295" y="4102035"/>
            <a:ext cx="622399" cy="52711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7463175" y="3599028"/>
            <a:ext cx="127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GMB Section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190632" y="4463810"/>
            <a:ext cx="127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Also Ask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4"/>
          <p:cNvCxnSpPr/>
          <p:nvPr/>
        </p:nvCxnSpPr>
        <p:spPr>
          <a:xfrm>
            <a:off x="6607555" y="4541718"/>
            <a:ext cx="356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Branded Search?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branded keyword, or a branded search, is a search that includes the name of your company, business or brand, or an entity closely aligned with the brand of your company.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Branded Search Matter?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someone searches for your brand, what do they find?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Branded search queries are used by people who already know your brand, or are at the very least familiar and are actively seeking information or an offering from your brand.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Those searching your brand name directly are more likely to convert into customers.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Branded results say a lot about your company, services, and products. Branded results can either encourage or deter searches from purchasing from you.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Traffic Breakdown</a:t>
            </a:r>
            <a:endParaRPr/>
          </a:p>
        </p:txBody>
      </p:sp>
      <p:pic>
        <p:nvPicPr>
          <p:cNvPr id="98" name="Google Shape;98;p1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50" y="1017725"/>
            <a:ext cx="61794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Branded Search Terms</a:t>
            </a:r>
            <a:endParaRPr/>
          </a:p>
        </p:txBody>
      </p:sp>
      <p:graphicFrame>
        <p:nvGraphicFramePr>
          <p:cNvPr id="104" name="Google Shape;104;p18"/>
          <p:cNvGraphicFramePr/>
          <p:nvPr/>
        </p:nvGraphicFramePr>
        <p:xfrm>
          <a:off x="464075" y="12044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{254E1C9A-EBE4-4017-B69A-AC5639473707}</a:tableStyleId>
              </a:tblPr>
              <a:tblGrid>
                <a:gridCol w="2045250"/>
                <a:gridCol w="1838450"/>
              </a:tblGrid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BRANDED SEARCH TERM</a:t>
                      </a:r>
                      <a:endParaRPr sz="2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SEARCH VOLUME</a:t>
                      </a:r>
                      <a:endParaRPr sz="2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200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2022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 tours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" name="Google Shape;105;p18"/>
          <p:cNvGraphicFramePr/>
          <p:nvPr/>
        </p:nvGraphicFramePr>
        <p:xfrm>
          <a:off x="4572000" y="12044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{254E1C9A-EBE4-4017-B69A-AC5639473707}</a:tableStyleId>
              </a:tblPr>
              <a:tblGrid>
                <a:gridCol w="2045250"/>
                <a:gridCol w="1838450"/>
              </a:tblGrid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BRANDED SEARCH TERM</a:t>
                      </a:r>
                      <a:endParaRPr sz="2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SEARCH VOLUME</a:t>
                      </a:r>
                      <a:endParaRPr sz="2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tours=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300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200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travel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getours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 tours 2022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 tours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grand european tours reviews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Brand Search Volume Comparison</a:t>
            </a:r>
            <a:endParaRPr/>
          </a:p>
        </p:txBody>
      </p:sp>
      <p:graphicFrame>
        <p:nvGraphicFramePr>
          <p:cNvPr id="111" name="Google Shape;111;p19"/>
          <p:cNvGraphicFramePr/>
          <p:nvPr/>
        </p:nvGraphicFramePr>
        <p:xfrm>
          <a:off x="447600" y="15092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{254E1C9A-EBE4-4017-B69A-AC5639473707}</a:tableStyleId>
              </a:tblPr>
              <a:tblGrid>
                <a:gridCol w="1738700"/>
                <a:gridCol w="1562900"/>
                <a:gridCol w="1562900"/>
                <a:gridCol w="1562900"/>
                <a:gridCol w="1562900"/>
              </a:tblGrid>
              <a:tr h="4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{Client Website}</a:t>
                      </a:r>
                      <a:endParaRPr sz="2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{Competitor 1}</a:t>
                      </a:r>
                      <a:endParaRPr sz="2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{Competitor 2}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{Competitor 3}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{Competitor 4}</a:t>
                      </a:r>
                      <a:endParaRPr b="1" sz="900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</a:tr>
              <a:tr h="36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1600/month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1600/month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1600/month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1600/month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1600/month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 Example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Branded Search Results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72875"/>
            <a:ext cx="515146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492850" y="1601825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492850" y="2837250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492850" y="4215350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2824250" y="1601825"/>
            <a:ext cx="2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5719875" y="1102475"/>
            <a:ext cx="3255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Branded Advertisement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2 - Branded Organic Result With Search &amp; Sitelinks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3 - People Also 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4 - Knowledge Panel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 Panel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Contiki’s Knowledge Panel</a:t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750" y="239638"/>
            <a:ext cx="2566100" cy="46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750" y="1017725"/>
            <a:ext cx="3514725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197725" y="1083650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2557875" y="931250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2323075" y="1223675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152400" y="1626575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2364250" y="3195875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rgbClr val="CC0000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323075" y="3501450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1997650" y="3768400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rgbClr val="CC0000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3225125" y="4057500"/>
            <a:ext cx="50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2100">
              <a:solidFill>
                <a:srgbClr val="6AA84F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5066250" y="2521125"/>
            <a:ext cx="39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1500">
              <a:solidFill>
                <a:srgbClr val="6AA84F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515250" y="24955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</a:t>
            </a:r>
            <a:endParaRPr sz="17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Knowledge Graph Features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Stock Symbol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Sales Phone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Founding 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Foundres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Products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Local Result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5" y="1017725"/>
            <a:ext cx="2118248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8448" y="1063025"/>
            <a:ext cx="2567133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GET’s Knowledge Panel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2172038" y="2402400"/>
            <a:ext cx="50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1200">
              <a:solidFill>
                <a:srgbClr val="6AA84F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1294713" y="2494175"/>
            <a:ext cx="50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1200">
              <a:solidFill>
                <a:srgbClr val="6AA84F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1150563" y="2659550"/>
            <a:ext cx="50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endParaRPr sz="1200">
              <a:solidFill>
                <a:srgbClr val="6AA84F"/>
              </a:solidFill>
            </a:endParaRPr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5445200" y="1152475"/>
            <a:ext cx="33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Solicit positive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</a:t>
            </a:r>
            <a:r>
              <a:rPr lang="en"/>
              <a:t>correct</a:t>
            </a:r>
            <a:r>
              <a:rPr lang="en"/>
              <a:t> hours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phone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photos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Structured Data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4" name="Google Shape;1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Markup Usage</a:t>
            </a:r>
            <a:endParaRPr/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25" y="1017725"/>
            <a:ext cx="540983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Markup Usage</a:t>
            </a:r>
            <a:endParaRPr/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25" y="1017725"/>
            <a:ext cx="3362457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5445200" y="1152475"/>
            <a:ext cx="33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Change to Corporation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Address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Contact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Social Profiles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XYZ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SERP Ownership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Owned vs. Unowned Properties on Page One</a:t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b="18102" l="8734" r="51217" t="12885"/>
          <a:stretch/>
        </p:blipFill>
        <p:spPr>
          <a:xfrm>
            <a:off x="408975" y="1154375"/>
            <a:ext cx="2542175" cy="32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550" y="1154375"/>
            <a:ext cx="254953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9036" y="1154375"/>
            <a:ext cx="292325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/>
          <p:nvPr/>
        </p:nvSpPr>
        <p:spPr>
          <a:xfrm>
            <a:off x="372625" y="1154375"/>
            <a:ext cx="2420100" cy="15477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/>
          <p:nvPr/>
        </p:nvSpPr>
        <p:spPr>
          <a:xfrm>
            <a:off x="372625" y="2748400"/>
            <a:ext cx="2420100" cy="1655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1"/>
          <p:cNvSpPr/>
          <p:nvPr/>
        </p:nvSpPr>
        <p:spPr>
          <a:xfrm>
            <a:off x="3220038" y="1210975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3220025" y="1742325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3220050" y="2273675"/>
            <a:ext cx="2420100" cy="1449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220025" y="3760525"/>
            <a:ext cx="2420100" cy="12147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6067463" y="1289225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5" name="Google Shape;235;p31"/>
          <p:cNvSpPr/>
          <p:nvPr/>
        </p:nvSpPr>
        <p:spPr>
          <a:xfrm>
            <a:off x="6067463" y="1837050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6" name="Google Shape;236;p31"/>
          <p:cNvSpPr/>
          <p:nvPr/>
        </p:nvSpPr>
        <p:spPr>
          <a:xfrm>
            <a:off x="6067463" y="2324550"/>
            <a:ext cx="2420100" cy="494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237" name="Google Shape;23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4398" y="82350"/>
            <a:ext cx="1845524" cy="11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Owned vs. Unowned Properties on Page One</a:t>
            </a:r>
            <a:endParaRPr/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200" y="1070850"/>
            <a:ext cx="4172450" cy="38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51" y="1017732"/>
            <a:ext cx="3040675" cy="397724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/>
          <p:nvPr/>
        </p:nvSpPr>
        <p:spPr>
          <a:xfrm>
            <a:off x="3851200" y="1070850"/>
            <a:ext cx="3744000" cy="8652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>
            <a:off x="581076" y="1215075"/>
            <a:ext cx="2673000" cy="17094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7" name="Google Shape;247;p32"/>
          <p:cNvSpPr/>
          <p:nvPr/>
        </p:nvSpPr>
        <p:spPr>
          <a:xfrm>
            <a:off x="581076" y="3579375"/>
            <a:ext cx="2673000" cy="5376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8" name="Google Shape;248;p32"/>
          <p:cNvSpPr/>
          <p:nvPr/>
        </p:nvSpPr>
        <p:spPr>
          <a:xfrm>
            <a:off x="581075" y="2965575"/>
            <a:ext cx="2673000" cy="5727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581075" y="4164175"/>
            <a:ext cx="2673000" cy="696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/>
          <p:nvPr/>
        </p:nvSpPr>
        <p:spPr>
          <a:xfrm>
            <a:off x="3851200" y="1989175"/>
            <a:ext cx="3744000" cy="5727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2"/>
          <p:cNvSpPr/>
          <p:nvPr/>
        </p:nvSpPr>
        <p:spPr>
          <a:xfrm>
            <a:off x="3851200" y="2615000"/>
            <a:ext cx="3744000" cy="7626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3851200" y="3430725"/>
            <a:ext cx="3744000" cy="7626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6327" y="389775"/>
            <a:ext cx="1886449" cy="41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b="0" l="0" r="0" t="25479"/>
          <a:stretch/>
        </p:blipFill>
        <p:spPr>
          <a:xfrm>
            <a:off x="3620450" y="1074782"/>
            <a:ext cx="3455874" cy="383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 b="13993" l="0" r="0" t="0"/>
          <a:stretch/>
        </p:blipFill>
        <p:spPr>
          <a:xfrm>
            <a:off x="464025" y="1033100"/>
            <a:ext cx="3033225" cy="39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SERP Ownership Review</a:t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3620450" y="1717500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464025" y="1070850"/>
            <a:ext cx="2880600" cy="19113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3" name="Google Shape;263;p33"/>
          <p:cNvSpPr/>
          <p:nvPr/>
        </p:nvSpPr>
        <p:spPr>
          <a:xfrm>
            <a:off x="464025" y="3035275"/>
            <a:ext cx="2880600" cy="19242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4" name="Google Shape;264;p33"/>
          <p:cNvSpPr/>
          <p:nvPr/>
        </p:nvSpPr>
        <p:spPr>
          <a:xfrm>
            <a:off x="3620450" y="1099500"/>
            <a:ext cx="3744000" cy="6180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5" name="Google Shape;265;p33"/>
          <p:cNvSpPr/>
          <p:nvPr/>
        </p:nvSpPr>
        <p:spPr>
          <a:xfrm>
            <a:off x="3620450" y="2349825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3620450" y="2982150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3620450" y="3600150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3620450" y="4218150"/>
            <a:ext cx="3744000" cy="6180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Also Ask Ownership Example</a:t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5576700" y="1096000"/>
            <a:ext cx="325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example, a potentially damaging Q&amp;A is owned by TripAdvisor’s web properties, allowing them to control the narrative. </a:t>
            </a:r>
            <a:endParaRPr/>
          </a:p>
        </p:txBody>
      </p:sp>
      <p:pic>
        <p:nvPicPr>
          <p:cNvPr id="275" name="Google Shape;2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59875"/>
            <a:ext cx="4992600" cy="22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5"/>
          <p:cNvPicPr preferRelativeResize="0"/>
          <p:nvPr/>
        </p:nvPicPr>
        <p:blipFill rotWithShape="1">
          <a:blip r:embed="rId3">
            <a:alphaModFix/>
          </a:blip>
          <a:srcRect b="0" l="0" r="38744" t="0"/>
          <a:stretch/>
        </p:blipFill>
        <p:spPr>
          <a:xfrm>
            <a:off x="311702" y="1229275"/>
            <a:ext cx="4059572" cy="23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Also Ask Ownership Review</a:t>
            </a:r>
            <a:endParaRPr/>
          </a:p>
        </p:txBody>
      </p:sp>
      <p:sp>
        <p:nvSpPr>
          <p:cNvPr id="282" name="Google Shape;282;p35"/>
          <p:cNvSpPr/>
          <p:nvPr/>
        </p:nvSpPr>
        <p:spPr>
          <a:xfrm>
            <a:off x="597150" y="2076025"/>
            <a:ext cx="3744000" cy="457200"/>
          </a:xfrm>
          <a:prstGeom prst="rect">
            <a:avLst/>
          </a:prstGeom>
          <a:solidFill>
            <a:srgbClr val="D7AF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597150" y="1705225"/>
            <a:ext cx="3744000" cy="3708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4" name="Google Shape;284;p35"/>
          <p:cNvSpPr/>
          <p:nvPr/>
        </p:nvSpPr>
        <p:spPr>
          <a:xfrm>
            <a:off x="597150" y="2533225"/>
            <a:ext cx="3744000" cy="3708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5" name="Google Shape;285;p35"/>
          <p:cNvSpPr/>
          <p:nvPr/>
        </p:nvSpPr>
        <p:spPr>
          <a:xfrm>
            <a:off x="597150" y="2904025"/>
            <a:ext cx="3744000" cy="5148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286" name="Google Shape;286;p35"/>
          <p:cNvPicPr preferRelativeResize="0"/>
          <p:nvPr/>
        </p:nvPicPr>
        <p:blipFill rotWithShape="1">
          <a:blip r:embed="rId4">
            <a:alphaModFix/>
          </a:blip>
          <a:srcRect b="0" l="0" r="35650" t="0"/>
          <a:stretch/>
        </p:blipFill>
        <p:spPr>
          <a:xfrm>
            <a:off x="5081349" y="1705225"/>
            <a:ext cx="3281203" cy="18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5"/>
          <p:cNvSpPr/>
          <p:nvPr/>
        </p:nvSpPr>
        <p:spPr>
          <a:xfrm>
            <a:off x="5173275" y="1775250"/>
            <a:ext cx="3189300" cy="300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8" name="Google Shape;288;p35"/>
          <p:cNvSpPr/>
          <p:nvPr/>
        </p:nvSpPr>
        <p:spPr>
          <a:xfrm>
            <a:off x="5173275" y="2154175"/>
            <a:ext cx="3189300" cy="300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9" name="Google Shape;289;p35"/>
          <p:cNvSpPr/>
          <p:nvPr/>
        </p:nvSpPr>
        <p:spPr>
          <a:xfrm>
            <a:off x="5173275" y="2497363"/>
            <a:ext cx="3189300" cy="300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0" name="Google Shape;290;p35"/>
          <p:cNvSpPr/>
          <p:nvPr/>
        </p:nvSpPr>
        <p:spPr>
          <a:xfrm>
            <a:off x="5173275" y="2798275"/>
            <a:ext cx="3189300" cy="300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1" name="Google Shape;291;p35"/>
          <p:cNvSpPr/>
          <p:nvPr/>
        </p:nvSpPr>
        <p:spPr>
          <a:xfrm>
            <a:off x="5173275" y="3099175"/>
            <a:ext cx="3189300" cy="300900"/>
          </a:xfrm>
          <a:prstGeom prst="rect">
            <a:avLst/>
          </a:prstGeom>
          <a:solidFill>
            <a:srgbClr val="B6D7A8">
              <a:alpha val="285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SERP Ownership Recommendations</a:t>
            </a:r>
            <a:endParaRPr/>
          </a:p>
        </p:txBody>
      </p:sp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Page XYZ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Drive links to page XYZ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link to BBB from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Answer People Also Ask Questions: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/>
          <p:nvPr/>
        </p:nvSpPr>
        <p:spPr>
          <a:xfrm rot="4823503">
            <a:off x="3917162" y="-343454"/>
            <a:ext cx="2284446" cy="10499308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10547">
            <a:off x="6869994" y="2316794"/>
            <a:ext cx="2209960" cy="44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>
            <p:ph type="title"/>
          </p:nvPr>
        </p:nvSpPr>
        <p:spPr>
          <a:xfrm>
            <a:off x="593850" y="2239500"/>
            <a:ext cx="4056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Your Web Properties</a:t>
            </a:r>
            <a:endParaRPr b="1" sz="3420">
              <a:solidFill>
                <a:srgbClr val="E21A6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5" name="Google Shape;30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2975" y="250200"/>
            <a:ext cx="465000" cy="393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2850" y="1683657"/>
            <a:ext cx="4341149" cy="301354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/>
          <p:nvPr/>
        </p:nvSpPr>
        <p:spPr>
          <a:xfrm rot="4823503">
            <a:off x="2229752" y="-4392734"/>
            <a:ext cx="2284446" cy="7511117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Paid Search Branded Result</a:t>
            </a:r>
            <a:endParaRPr/>
          </a:p>
        </p:txBody>
      </p:sp>
      <p:sp>
        <p:nvSpPr>
          <p:cNvPr id="313" name="Google Shape;313;p38"/>
          <p:cNvSpPr txBox="1"/>
          <p:nvPr>
            <p:ph idx="1" type="body"/>
          </p:nvPr>
        </p:nvSpPr>
        <p:spPr>
          <a:xfrm>
            <a:off x="5445200" y="1152475"/>
            <a:ext cx="33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Change to Corporation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Address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Contact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Social Profiles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XYZ</a:t>
            </a:r>
            <a:endParaRPr/>
          </a:p>
        </p:txBody>
      </p:sp>
      <p:pic>
        <p:nvPicPr>
          <p:cNvPr id="314" name="Google Shape;3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4625"/>
            <a:ext cx="5140400" cy="3432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Organic</a:t>
            </a:r>
            <a:r>
              <a:rPr lang="en"/>
              <a:t> Search Branded Result</a:t>
            </a:r>
            <a:endParaRPr/>
          </a:p>
        </p:txBody>
      </p:sp>
      <p:sp>
        <p:nvSpPr>
          <p:cNvPr id="320" name="Google Shape;320;p39"/>
          <p:cNvSpPr txBox="1"/>
          <p:nvPr>
            <p:ph idx="1" type="body"/>
          </p:nvPr>
        </p:nvSpPr>
        <p:spPr>
          <a:xfrm>
            <a:off x="5445200" y="1152475"/>
            <a:ext cx="33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Change to Corporation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Address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Contact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Social Profiles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XYZ</a:t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2475"/>
            <a:ext cx="5140401" cy="3615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Summary</a:t>
            </a:r>
            <a:endParaRPr/>
          </a:p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Page XYZ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Drive links to page XYZ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link to BBB from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Answer People Also Ask Questions: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Question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