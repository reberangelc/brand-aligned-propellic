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Proxima Nova Semibold"/>
      <p:regular r:id="rId21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AF6D77-7E95-4779-AE58-B71B6982549A}">
  <a:tblStyle styleId="{74AF6D77-7E95-4779-AE58-B71B698254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11" Type="http://schemas.openxmlformats.org/officeDocument/2006/relationships/slide" Target="slides/slide5.xml"/><Relationship Id="rId22" Type="http://schemas.openxmlformats.org/officeDocument/2006/relationships/font" Target="fonts/ProximaNovaSemibold-bold.fntdata"/><Relationship Id="rId10" Type="http://schemas.openxmlformats.org/officeDocument/2006/relationships/slide" Target="slides/slide4.xml"/><Relationship Id="rId21" Type="http://schemas.openxmlformats.org/officeDocument/2006/relationships/font" Target="fonts/ProximaNovaSemibold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ProximaNova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roximaNova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roximaNov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ea3b34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ea3b34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aea3b34d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aea3b34d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3aea3b34d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3aea3b34d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aea3b34d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3aea3b34d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aea3b34d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3aea3b34d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aea3b34d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aea3b34d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aea3b34d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3aea3b34d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3aea3b34d8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3aea3b34d8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aea3b34d8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3aea3b34d8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aea3b34d8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aea3b34d8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1A6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731950"/>
            <a:ext cx="8520600" cy="7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42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Keyword Gap Analysis</a:t>
            </a:r>
            <a:endParaRPr b="1" sz="442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53075"/>
            <a:ext cx="54075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Interactive Competitive Intelligence</a:t>
            </a:r>
            <a:endParaRPr sz="2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174" y="713560"/>
            <a:ext cx="1598936" cy="37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4961" y="645775"/>
            <a:ext cx="512113" cy="51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068440" y="713548"/>
            <a:ext cx="4191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x</a:t>
            </a:r>
            <a:endParaRPr sz="2300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/>
          </a:blip>
          <a:srcRect b="0" l="21581" r="0" t="21210"/>
          <a:stretch/>
        </p:blipFill>
        <p:spPr>
          <a:xfrm flipH="1" rot="7">
            <a:off x="7397650" y="-85322"/>
            <a:ext cx="2879850" cy="528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Concept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most markets, there are organizations who have “been there, and done that.” While sometimes, that can be considered a disadvantage, we see it differently.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Keyword Gap Analysis works to uncover what is working for a strategically-selected set of industry search competitors, and the final deliverable allows us to uncover keyword opportunities we otherwise would have missed.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keywords will drive strategy for new content for your website - from resource pages to product and service pages.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Competition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agreed on a select set of competitors. At a high-level, here are their metrics: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425300" y="1859925"/>
            <a:ext cx="1177800" cy="267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1788175" y="1859925"/>
            <a:ext cx="1177800" cy="267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 1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151050" y="1859925"/>
            <a:ext cx="1177800" cy="267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 2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4513925" y="1859925"/>
            <a:ext cx="1177800" cy="267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 3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5876800" y="1859925"/>
            <a:ext cx="1177800" cy="267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 4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7239675" y="1859925"/>
            <a:ext cx="1177800" cy="267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 5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547975" y="2265000"/>
            <a:ext cx="899700" cy="6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1927225" y="2265000"/>
            <a:ext cx="899700" cy="6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290100" y="2265000"/>
            <a:ext cx="899700" cy="6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4644788" y="2265000"/>
            <a:ext cx="899700" cy="6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024038" y="2265000"/>
            <a:ext cx="899700" cy="6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7386913" y="2265000"/>
            <a:ext cx="899700" cy="61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547975" y="29981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1.5k Visitors/mo</a:t>
            </a:r>
            <a:endParaRPr sz="700"/>
          </a:p>
        </p:txBody>
      </p:sp>
      <p:sp>
        <p:nvSpPr>
          <p:cNvPr id="85" name="Google Shape;85;p15"/>
          <p:cNvSpPr/>
          <p:nvPr/>
        </p:nvSpPr>
        <p:spPr>
          <a:xfrm>
            <a:off x="1927227" y="29981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1.5k Visitors/mo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3290104" y="29981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1.5k Visitors/mo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644794" y="29981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1.5k Visitors/mo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6024046" y="29981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1.5k Visitors/mo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7386924" y="29981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1.5k Visitors/mo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47975" y="34402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2.8k Keywords</a:t>
            </a:r>
            <a:endParaRPr sz="1000"/>
          </a:p>
        </p:txBody>
      </p:sp>
      <p:sp>
        <p:nvSpPr>
          <p:cNvPr id="91" name="Google Shape;91;p15"/>
          <p:cNvSpPr/>
          <p:nvPr/>
        </p:nvSpPr>
        <p:spPr>
          <a:xfrm>
            <a:off x="1927227" y="34402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2.8k Keywords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3290104" y="34402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2.8k Keywords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644794" y="34402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2.8k Keywords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024046" y="34402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2.8k Keywords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7386924" y="34402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2.8k Keywords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47975" y="38823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300 Top-3 Keywords</a:t>
            </a:r>
            <a:endParaRPr sz="600"/>
          </a:p>
        </p:txBody>
      </p:sp>
      <p:sp>
        <p:nvSpPr>
          <p:cNvPr id="97" name="Google Shape;97;p15"/>
          <p:cNvSpPr/>
          <p:nvPr/>
        </p:nvSpPr>
        <p:spPr>
          <a:xfrm>
            <a:off x="1927227" y="38823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300 Top-3 Keywords</a:t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3290104" y="38823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300 Top-3 Keywords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4644794" y="38823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300 Top-3 Keywords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024046" y="38823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300 Top-3 Keywords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7386924" y="3882300"/>
            <a:ext cx="899700" cy="32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</a:rPr>
              <a:t>300 Top-3 Keywords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Process - Step 1: Gathering The Data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152475"/>
            <a:ext cx="394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start by scraping a list of keywords your competitors are ranking for.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take your competitor rankings and blend that with your rankings to create a </a:t>
            </a:r>
            <a:r>
              <a:rPr lang="en"/>
              <a:t>comparative</a:t>
            </a:r>
            <a:r>
              <a:rPr lang="en"/>
              <a:t> report.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use this data to sort keywords for which you’re not currently ranking well.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11350"/>
            <a:ext cx="4267198" cy="349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Process - Step 2: Cleanup &amp; Categorization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1152475"/>
            <a:ext cx="394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we have the data available, we manually check each keyword and discard those which are not relevant.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then categorize each relevant </a:t>
            </a:r>
            <a:r>
              <a:rPr lang="en"/>
              <a:t>keyword, line-by-line,</a:t>
            </a:r>
            <a:r>
              <a:rPr lang="en"/>
              <a:t> into its respective pillar and cluster for your website.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9996" l="0" r="0" t="3760"/>
          <a:stretch/>
        </p:blipFill>
        <p:spPr>
          <a:xfrm>
            <a:off x="4572000" y="1111350"/>
            <a:ext cx="4267197" cy="349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Learned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Keyword Opportunities by Pillar</a:t>
            </a:r>
            <a:endParaRPr/>
          </a:p>
        </p:txBody>
      </p:sp>
      <p:graphicFrame>
        <p:nvGraphicFramePr>
          <p:cNvPr id="126" name="Google Shape;126;p19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{74AF6D77-7E95-4779-AE58-B71B6982549A}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Pillar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Keywords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Search Volume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KW Difficulty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Flights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Hotels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105930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Trains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Ferries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54500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Total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XXX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XXX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XXX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Keyword Opportunities by Micro-Moment</a:t>
            </a:r>
            <a:endParaRPr/>
          </a:p>
        </p:txBody>
      </p:sp>
      <p:graphicFrame>
        <p:nvGraphicFramePr>
          <p:cNvPr id="132" name="Google Shape;132;p20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{74AF6D77-7E95-4779-AE58-B71B6982549A}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Pillar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Keywords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Search Volume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KW Difficulty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Dreaming Moments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Planning Moments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105930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Booking Moments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Experiencing Moments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54500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Total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XXX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XXX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XXX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The Gap Analysis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