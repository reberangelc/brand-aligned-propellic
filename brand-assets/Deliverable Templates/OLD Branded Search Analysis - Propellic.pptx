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10287000" cx="18288000"/>
  <p:notesSz cx="6858000" cy="9144000"/>
  <p:embeddedFontLst>
    <p:embeddedFont>
      <p:font typeface="Proxima Nova"/>
      <p:regular r:id="rId22"/>
      <p:bold r:id="rId23"/>
      <p:italic r:id="rId24"/>
      <p:boldItalic r:id="rId25"/>
    </p:embeddedFont>
    <p:embeddedFont>
      <p:font typeface="Arimo"/>
      <p:regular r:id="rId26"/>
      <p:bold r:id="rId27"/>
      <p:italic r:id="rId28"/>
      <p:boldItalic r:id="rId29"/>
    </p:embeddedFont>
    <p:embeddedFont>
      <p:font typeface="Proxima Nova Semibold"/>
      <p:regular r:id="rId30"/>
      <p:bold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3" roundtripDataSignature="AMtx7mjs4dBGHELVmrrwCxsA8hcHEyod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A1709D8-E0D7-4C5B-B0A6-C313798C16A5}">
  <a:tblStyle styleId="{4A1709D8-E0D7-4C5B-B0A6-C313798C16A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roximaNova-regular.fntdata"/><Relationship Id="rId21" Type="http://schemas.openxmlformats.org/officeDocument/2006/relationships/slide" Target="slides/slide15.xml"/><Relationship Id="rId24" Type="http://schemas.openxmlformats.org/officeDocument/2006/relationships/font" Target="fonts/ProximaNova-italic.fntdata"/><Relationship Id="rId23" Type="http://schemas.openxmlformats.org/officeDocument/2006/relationships/font" Target="fonts/ProximaNova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Arimo-regular.fntdata"/><Relationship Id="rId25" Type="http://schemas.openxmlformats.org/officeDocument/2006/relationships/font" Target="fonts/ProximaNova-boldItalic.fntdata"/><Relationship Id="rId28" Type="http://schemas.openxmlformats.org/officeDocument/2006/relationships/font" Target="fonts/Arimo-italic.fntdata"/><Relationship Id="rId27" Type="http://schemas.openxmlformats.org/officeDocument/2006/relationships/font" Target="fonts/Arim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Arim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ProximaNovaSemibold-bold.fntdata"/><Relationship Id="rId30" Type="http://schemas.openxmlformats.org/officeDocument/2006/relationships/font" Target="fonts/ProximaNovaSemibold-regular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ProximaNovaSemibold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121e6022bfa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g121e6022bf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3" name="Google Shape;17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5" name="Google Shape;18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121e6022bfa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g121e6022bfa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jp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g121e6022bfa_0_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62937" y="-91650"/>
            <a:ext cx="18613877" cy="10470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g121e6022bfa_0_3"/>
          <p:cNvSpPr txBox="1"/>
          <p:nvPr/>
        </p:nvSpPr>
        <p:spPr>
          <a:xfrm>
            <a:off x="2268925" y="1755375"/>
            <a:ext cx="5238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{Month} {Year}</a:t>
            </a:r>
            <a:endParaRPr b="0" i="0" sz="2700" u="none" cap="none" strike="noStrike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  <p:sp>
        <p:nvSpPr>
          <p:cNvPr id="86" name="Google Shape;86;g121e6022bfa_0_3"/>
          <p:cNvSpPr txBox="1"/>
          <p:nvPr/>
        </p:nvSpPr>
        <p:spPr>
          <a:xfrm>
            <a:off x="2268925" y="6764775"/>
            <a:ext cx="52389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n-US" sz="2500">
                <a:solidFill>
                  <a:schemeClr val="lt1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{Client Name}</a:t>
            </a:r>
            <a:endParaRPr b="0" i="0" sz="2700" u="none" cap="none" strike="noStrike">
              <a:solidFill>
                <a:schemeClr val="lt1"/>
              </a:solidFill>
              <a:latin typeface="Proxima Nova Semibold"/>
              <a:ea typeface="Proxima Nova Semibold"/>
              <a:cs typeface="Proxima Nova Semibold"/>
              <a:sym typeface="Proxima Nova Semi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/>
        </p:nvSpPr>
        <p:spPr>
          <a:xfrm>
            <a:off x="1828590" y="4186352"/>
            <a:ext cx="5489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</a:pPr>
            <a:r>
              <a:rPr b="1" i="0" lang="en-US" sz="8000" u="none" cap="none" strike="noStrike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AGENDA</a:t>
            </a:r>
            <a:endParaRPr b="1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9144000" y="0"/>
            <a:ext cx="9144000" cy="10287003"/>
          </a:xfrm>
          <a:custGeom>
            <a:rect b="b" l="l" r="r" t="t"/>
            <a:pathLst>
              <a:path extrusionOk="0" h="3752726" w="3335756">
                <a:moveTo>
                  <a:pt x="0" y="0"/>
                </a:moveTo>
                <a:lnTo>
                  <a:pt x="3335756" y="0"/>
                </a:lnTo>
                <a:lnTo>
                  <a:pt x="3335756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21A6B"/>
          </a:solidFill>
          <a:ln>
            <a:noFill/>
          </a:ln>
        </p:spPr>
      </p:sp>
      <p:cxnSp>
        <p:nvCxnSpPr>
          <p:cNvPr id="93" name="Google Shape;93;p2"/>
          <p:cNvCxnSpPr/>
          <p:nvPr/>
        </p:nvCxnSpPr>
        <p:spPr>
          <a:xfrm rot="-5400000">
            <a:off x="8386995" y="5400790"/>
            <a:ext cx="11108495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2"/>
          <p:cNvCxnSpPr/>
          <p:nvPr/>
        </p:nvCxnSpPr>
        <p:spPr>
          <a:xfrm>
            <a:off x="13926955" y="1028700"/>
            <a:ext cx="711845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2"/>
          <p:cNvCxnSpPr/>
          <p:nvPr/>
        </p:nvCxnSpPr>
        <p:spPr>
          <a:xfrm>
            <a:off x="13215110" y="2557733"/>
            <a:ext cx="711845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2"/>
          <p:cNvCxnSpPr/>
          <p:nvPr/>
        </p:nvCxnSpPr>
        <p:spPr>
          <a:xfrm>
            <a:off x="13926955" y="4112847"/>
            <a:ext cx="711845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2"/>
          <p:cNvCxnSpPr/>
          <p:nvPr/>
        </p:nvCxnSpPr>
        <p:spPr>
          <a:xfrm>
            <a:off x="13229397" y="5756780"/>
            <a:ext cx="711845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" name="Google Shape;98;p2"/>
          <p:cNvCxnSpPr/>
          <p:nvPr/>
        </p:nvCxnSpPr>
        <p:spPr>
          <a:xfrm>
            <a:off x="13926955" y="7382445"/>
            <a:ext cx="711845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" name="Google Shape;99;p2"/>
          <p:cNvSpPr txBox="1"/>
          <p:nvPr/>
        </p:nvSpPr>
        <p:spPr>
          <a:xfrm>
            <a:off x="1828606" y="2857500"/>
            <a:ext cx="237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lang="en-US" sz="2200">
                <a:latin typeface="Proxima Nova"/>
                <a:ea typeface="Proxima Nova"/>
                <a:cs typeface="Proxima Nova"/>
                <a:sym typeface="Proxima Nova"/>
              </a:rPr>
              <a:t>{Month} {Year}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0" name="Google Shape;100;p2"/>
          <p:cNvCxnSpPr/>
          <p:nvPr/>
        </p:nvCxnSpPr>
        <p:spPr>
          <a:xfrm>
            <a:off x="1828590" y="5728205"/>
            <a:ext cx="840994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" name="Google Shape;101;p2"/>
          <p:cNvSpPr txBox="1"/>
          <p:nvPr/>
        </p:nvSpPr>
        <p:spPr>
          <a:xfrm>
            <a:off x="1828590" y="6111662"/>
            <a:ext cx="5724079" cy="10064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Lorem ipsum dolor sit amet, consectetur adipiscing elit, sed do eiusmod tempor incididunt</a:t>
            </a:r>
            <a:endParaRPr b="0" i="0" sz="1899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ut labore et dolore magna aliqua.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14926350" y="664096"/>
            <a:ext cx="2294848" cy="684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1"/>
              <a:buFont typeface="Arial"/>
              <a:buNone/>
            </a:pPr>
            <a:r>
              <a:rPr b="1" i="0" lang="en-US" sz="198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Relevant Branded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1"/>
              <a:buFont typeface="Arial"/>
              <a:buNone/>
            </a:pPr>
            <a:r>
              <a:rPr b="1" i="0" lang="en-US" sz="198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search terms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0972805" y="2215233"/>
            <a:ext cx="1962900" cy="7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1"/>
              <a:buFont typeface="Arial"/>
              <a:buNone/>
            </a:pPr>
            <a:r>
              <a:rPr b="1" i="0" lang="en-US" sz="198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1"/>
              <a:buFont typeface="Arial"/>
              <a:buNone/>
            </a:pPr>
            <a:r>
              <a:rPr b="1" i="0" lang="en-US" sz="198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14926350" y="3840037"/>
            <a:ext cx="2554312" cy="684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1"/>
              <a:buFont typeface="Arial"/>
              <a:buNone/>
            </a:pPr>
            <a:r>
              <a:rPr b="1" i="0" lang="en-US" sz="198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1"/>
              <a:buFont typeface="Arial"/>
              <a:buNone/>
            </a:pPr>
            <a:r>
              <a:rPr b="1" i="0" lang="en-US" sz="198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Above the Fold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381264" y="5429515"/>
            <a:ext cx="2554312" cy="673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1"/>
              <a:buFont typeface="Arial"/>
              <a:buNone/>
            </a:pPr>
            <a:r>
              <a:rPr b="1" i="0" lang="en-US" sz="198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 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1"/>
              <a:buFont typeface="Arial"/>
              <a:buNone/>
            </a:pPr>
            <a:r>
              <a:rPr b="1" i="0" lang="en-US" sz="198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Below the Fold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8590" y="8204070"/>
            <a:ext cx="1244798" cy="105423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"/>
          <p:cNvSpPr txBox="1"/>
          <p:nvPr/>
        </p:nvSpPr>
        <p:spPr>
          <a:xfrm>
            <a:off x="14926350" y="7198055"/>
            <a:ext cx="2554312" cy="3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1"/>
              <a:buFont typeface="Arial"/>
              <a:buNone/>
            </a:pPr>
            <a:r>
              <a:rPr b="1" i="0" lang="en-US" sz="198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GMB 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10381264" y="8927620"/>
            <a:ext cx="2554312" cy="33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81"/>
              <a:buFont typeface="Arial"/>
              <a:buNone/>
            </a:pPr>
            <a:r>
              <a:rPr b="1" i="0" lang="en-US" sz="1981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People Also Ask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9" name="Google Shape;109;p2"/>
          <p:cNvCxnSpPr/>
          <p:nvPr/>
        </p:nvCxnSpPr>
        <p:spPr>
          <a:xfrm>
            <a:off x="13215110" y="9083435"/>
            <a:ext cx="711845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"/>
          <p:cNvSpPr/>
          <p:nvPr/>
        </p:nvSpPr>
        <p:spPr>
          <a:xfrm>
            <a:off x="2" y="0"/>
            <a:ext cx="1034084" cy="10282469"/>
          </a:xfrm>
          <a:custGeom>
            <a:rect b="b" l="l" r="r" t="t"/>
            <a:pathLst>
              <a:path extrusionOk="0" h="3752726" w="6671512">
                <a:moveTo>
                  <a:pt x="0" y="0"/>
                </a:moveTo>
                <a:lnTo>
                  <a:pt x="6671512" y="0"/>
                </a:lnTo>
                <a:lnTo>
                  <a:pt x="6671512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0196A"/>
          </a:solidFill>
          <a:ln>
            <a:noFill/>
          </a:ln>
        </p:spPr>
      </p:sp>
      <p:pic>
        <p:nvPicPr>
          <p:cNvPr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0" r="41740" t="8860"/>
          <a:stretch/>
        </p:blipFill>
        <p:spPr>
          <a:xfrm>
            <a:off x="1028700" y="0"/>
            <a:ext cx="6763899" cy="1028700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6" name="Google Shape;116;p3"/>
          <p:cNvCxnSpPr/>
          <p:nvPr/>
        </p:nvCxnSpPr>
        <p:spPr>
          <a:xfrm>
            <a:off x="1802547" y="6497745"/>
            <a:ext cx="840994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17" name="Google Shape;1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14502" y="8731185"/>
            <a:ext cx="1244798" cy="10542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8" name="Google Shape;118;p3"/>
          <p:cNvGraphicFramePr/>
          <p:nvPr/>
        </p:nvGraphicFramePr>
        <p:xfrm>
          <a:off x="8776050" y="19407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{4A1709D8-E0D7-4C5B-B0A6-C313798C16A5}</a:tableStyleId>
              </a:tblPr>
              <a:tblGrid>
                <a:gridCol w="3620400"/>
                <a:gridCol w="4654050"/>
              </a:tblGrid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BRANDED SEARCH TERM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SEARCH VOLUME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0196A"/>
                    </a:solidFill>
                  </a:tcPr>
                </a:tc>
              </a:tr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paw tree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4000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pawTree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2100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pawTree com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pawTree dog food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70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pawTree LLC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000000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</a:t>
                      </a:r>
                      <a:endParaRPr sz="1100" u="none" cap="none" strike="noStrike"/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6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 u="none" cap="none" strike="noStrike">
                        <a:solidFill>
                          <a:srgbClr val="000000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45725" marB="45725" marR="91450" marL="91450" anchor="ctr">
                    <a:lnL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62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" name="Google Shape;119;p3"/>
          <p:cNvSpPr txBox="1"/>
          <p:nvPr/>
        </p:nvSpPr>
        <p:spPr>
          <a:xfrm>
            <a:off x="1802547" y="3814792"/>
            <a:ext cx="6973500" cy="24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Relevant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lang="en-US" sz="6800">
                <a:solidFill>
                  <a:srgbClr val="E0196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B</a:t>
            </a:r>
            <a:r>
              <a:rPr b="1" i="0" lang="en-US" sz="6800" u="none" cap="none" strike="noStrike">
                <a:solidFill>
                  <a:srgbClr val="E0196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randed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lang="en-US" sz="6800">
                <a:solidFill>
                  <a:srgbClr val="E0196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S</a:t>
            </a:r>
            <a:r>
              <a:rPr b="1" i="0" lang="en-US" sz="6800" u="none" cap="none" strike="noStrike">
                <a:solidFill>
                  <a:srgbClr val="E0196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earch </a:t>
            </a:r>
            <a:r>
              <a:rPr b="1" lang="en-US" sz="6800">
                <a:solidFill>
                  <a:srgbClr val="E0196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T</a:t>
            </a:r>
            <a:r>
              <a:rPr b="1" i="0" lang="en-US" sz="6800" u="none" cap="none" strike="noStrike">
                <a:solidFill>
                  <a:srgbClr val="E0196A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rPr>
              <a:t>erms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1802547" y="6881613"/>
            <a:ext cx="4301731" cy="98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0" i="0" lang="en-US" sz="1899" u="none" cap="none" strike="noStrike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following contains a list of relevant branded search terms which will be audited in the sections below.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1802547" y="7776328"/>
            <a:ext cx="4301731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40438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3057749" y="0"/>
            <a:ext cx="5214330" cy="10287003"/>
          </a:xfrm>
          <a:custGeom>
            <a:rect b="b" l="l" r="r" t="t"/>
            <a:pathLst>
              <a:path extrusionOk="0" h="3752726" w="1902202">
                <a:moveTo>
                  <a:pt x="0" y="0"/>
                </a:moveTo>
                <a:lnTo>
                  <a:pt x="1902202" y="0"/>
                </a:lnTo>
                <a:lnTo>
                  <a:pt x="1902202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0196A"/>
          </a:solidFill>
          <a:ln>
            <a:noFill/>
          </a:ln>
        </p:spPr>
      </p:sp>
      <p:grpSp>
        <p:nvGrpSpPr>
          <p:cNvPr id="127" name="Google Shape;127;p4"/>
          <p:cNvGrpSpPr/>
          <p:nvPr/>
        </p:nvGrpSpPr>
        <p:grpSpPr>
          <a:xfrm>
            <a:off x="904988" y="2198708"/>
            <a:ext cx="9519851" cy="5936808"/>
            <a:chOff x="0" y="0"/>
            <a:chExt cx="12693134" cy="7915744"/>
          </a:xfrm>
        </p:grpSpPr>
        <p:pic>
          <p:nvPicPr>
            <p:cNvPr id="128" name="Google Shape;128;p4"/>
            <p:cNvPicPr preferRelativeResize="0"/>
            <p:nvPr/>
          </p:nvPicPr>
          <p:blipFill rotWithShape="1">
            <a:blip r:embed="rId3">
              <a:alphaModFix/>
            </a:blip>
            <a:srcRect b="0" l="992" r="992" t="0"/>
            <a:stretch/>
          </p:blipFill>
          <p:spPr>
            <a:xfrm>
              <a:off x="0" y="0"/>
              <a:ext cx="12693134" cy="79157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9" name="Google Shape;129;p4"/>
            <p:cNvPicPr preferRelativeResize="0"/>
            <p:nvPr/>
          </p:nvPicPr>
          <p:blipFill rotWithShape="1">
            <a:blip r:embed="rId4">
              <a:alphaModFix/>
            </a:blip>
            <a:srcRect b="2199" l="3810" r="-3810" t="-19"/>
            <a:stretch/>
          </p:blipFill>
          <p:spPr>
            <a:xfrm>
              <a:off x="1687922" y="355587"/>
              <a:ext cx="9868839" cy="64590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4"/>
          <p:cNvSpPr txBox="1"/>
          <p:nvPr/>
        </p:nvSpPr>
        <p:spPr>
          <a:xfrm>
            <a:off x="10796637" y="2465408"/>
            <a:ext cx="6973478" cy="2096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Performance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10796637" y="5167108"/>
            <a:ext cx="840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2" name="Google Shape;132;p4"/>
          <p:cNvSpPr txBox="1"/>
          <p:nvPr/>
        </p:nvSpPr>
        <p:spPr>
          <a:xfrm>
            <a:off x="10809650" y="5395728"/>
            <a:ext cx="5025600" cy="19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None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The following is an overview of the top 10 branded queries driving organic traffic over the last 3 months. This list reflects the top branded queries that people are actually searching for related to pawTree.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14502" y="8731185"/>
            <a:ext cx="1244798" cy="105423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4" name="Google Shape;134;p4"/>
          <p:cNvCxnSpPr/>
          <p:nvPr/>
        </p:nvCxnSpPr>
        <p:spPr>
          <a:xfrm>
            <a:off x="10803063" y="4713825"/>
            <a:ext cx="5038800" cy="18000"/>
          </a:xfrm>
          <a:prstGeom prst="straightConnector1">
            <a:avLst/>
          </a:prstGeom>
          <a:noFill/>
          <a:ln cap="flat" cmpd="sng" w="314325">
            <a:solidFill>
              <a:srgbClr val="E21A6B">
                <a:alpha val="2627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3057749" y="0"/>
            <a:ext cx="5214330" cy="10287003"/>
          </a:xfrm>
          <a:custGeom>
            <a:rect b="b" l="l" r="r" t="t"/>
            <a:pathLst>
              <a:path extrusionOk="0" h="3752726" w="1902202">
                <a:moveTo>
                  <a:pt x="0" y="0"/>
                </a:moveTo>
                <a:lnTo>
                  <a:pt x="1902202" y="0"/>
                </a:lnTo>
                <a:lnTo>
                  <a:pt x="1902202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0196A"/>
          </a:solidFill>
          <a:ln>
            <a:noFill/>
          </a:ln>
        </p:spPr>
      </p:sp>
      <p:pic>
        <p:nvPicPr>
          <p:cNvPr id="140" name="Google Shape;140;p5"/>
          <p:cNvPicPr preferRelativeResize="0"/>
          <p:nvPr/>
        </p:nvPicPr>
        <p:blipFill rotWithShape="1">
          <a:blip r:embed="rId3">
            <a:alphaModFix/>
          </a:blip>
          <a:srcRect b="0" l="992" r="992" t="0"/>
          <a:stretch/>
        </p:blipFill>
        <p:spPr>
          <a:xfrm>
            <a:off x="904988" y="2198708"/>
            <a:ext cx="9519852" cy="5936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14502" y="8731185"/>
            <a:ext cx="1244798" cy="105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5"/>
          <p:cNvPicPr preferRelativeResize="0"/>
          <p:nvPr/>
        </p:nvPicPr>
        <p:blipFill rotWithShape="1">
          <a:blip r:embed="rId5">
            <a:alphaModFix/>
          </a:blip>
          <a:srcRect b="0" l="3181" r="13956" t="778"/>
          <a:stretch/>
        </p:blipFill>
        <p:spPr>
          <a:xfrm>
            <a:off x="1791864" y="2452524"/>
            <a:ext cx="7727051" cy="4870992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 txBox="1"/>
          <p:nvPr/>
        </p:nvSpPr>
        <p:spPr>
          <a:xfrm>
            <a:off x="10809662" y="5395713"/>
            <a:ext cx="5025631" cy="98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pawtree, llc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10796637" y="2465408"/>
            <a:ext cx="6973500" cy="24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Above The Fold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" name="Google Shape;145;p5"/>
          <p:cNvCxnSpPr/>
          <p:nvPr/>
        </p:nvCxnSpPr>
        <p:spPr>
          <a:xfrm>
            <a:off x="10796637" y="5167108"/>
            <a:ext cx="840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5"/>
          <p:cNvCxnSpPr/>
          <p:nvPr/>
        </p:nvCxnSpPr>
        <p:spPr>
          <a:xfrm flipH="1" rot="10800000">
            <a:off x="10803063" y="4713225"/>
            <a:ext cx="6200700" cy="600"/>
          </a:xfrm>
          <a:prstGeom prst="straightConnector1">
            <a:avLst/>
          </a:prstGeom>
          <a:noFill/>
          <a:ln cap="flat" cmpd="sng" w="314325">
            <a:solidFill>
              <a:srgbClr val="E21A6B">
                <a:alpha val="2666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"/>
          <p:cNvSpPr/>
          <p:nvPr/>
        </p:nvSpPr>
        <p:spPr>
          <a:xfrm>
            <a:off x="3057749" y="0"/>
            <a:ext cx="5214330" cy="10287003"/>
          </a:xfrm>
          <a:custGeom>
            <a:rect b="b" l="l" r="r" t="t"/>
            <a:pathLst>
              <a:path extrusionOk="0" h="3752726" w="1902202">
                <a:moveTo>
                  <a:pt x="0" y="0"/>
                </a:moveTo>
                <a:lnTo>
                  <a:pt x="1902202" y="0"/>
                </a:lnTo>
                <a:lnTo>
                  <a:pt x="1902202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0196A"/>
          </a:solidFill>
          <a:ln>
            <a:noFill/>
          </a:ln>
        </p:spPr>
      </p:sp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992" r="992" t="0"/>
          <a:stretch/>
        </p:blipFill>
        <p:spPr>
          <a:xfrm>
            <a:off x="904988" y="2198708"/>
            <a:ext cx="9519852" cy="5936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14502" y="8731185"/>
            <a:ext cx="1244798" cy="105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 rotWithShape="1">
          <a:blip r:embed="rId5">
            <a:alphaModFix/>
          </a:blip>
          <a:srcRect b="0" l="2599" r="1406" t="0"/>
          <a:stretch/>
        </p:blipFill>
        <p:spPr>
          <a:xfrm>
            <a:off x="1791891" y="2465399"/>
            <a:ext cx="7731421" cy="4852207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6"/>
          <p:cNvSpPr txBox="1"/>
          <p:nvPr/>
        </p:nvSpPr>
        <p:spPr>
          <a:xfrm>
            <a:off x="10809662" y="5395713"/>
            <a:ext cx="5025631" cy="98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pawtree, llc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"/>
          <p:cNvSpPr txBox="1"/>
          <p:nvPr/>
        </p:nvSpPr>
        <p:spPr>
          <a:xfrm>
            <a:off x="10796637" y="2465408"/>
            <a:ext cx="6973500" cy="24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Above The Fold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p6"/>
          <p:cNvCxnSpPr/>
          <p:nvPr/>
        </p:nvCxnSpPr>
        <p:spPr>
          <a:xfrm>
            <a:off x="10796637" y="5167108"/>
            <a:ext cx="840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6"/>
          <p:cNvCxnSpPr/>
          <p:nvPr/>
        </p:nvCxnSpPr>
        <p:spPr>
          <a:xfrm flipH="1" rot="10800000">
            <a:off x="10803063" y="4713225"/>
            <a:ext cx="6200700" cy="600"/>
          </a:xfrm>
          <a:prstGeom prst="straightConnector1">
            <a:avLst/>
          </a:prstGeom>
          <a:noFill/>
          <a:ln cap="flat" cmpd="sng" w="314325">
            <a:solidFill>
              <a:srgbClr val="E21A6B">
                <a:alpha val="2666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"/>
          <p:cNvSpPr/>
          <p:nvPr/>
        </p:nvSpPr>
        <p:spPr>
          <a:xfrm>
            <a:off x="3057749" y="0"/>
            <a:ext cx="5214330" cy="10287003"/>
          </a:xfrm>
          <a:custGeom>
            <a:rect b="b" l="l" r="r" t="t"/>
            <a:pathLst>
              <a:path extrusionOk="0" h="3752726" w="1902202">
                <a:moveTo>
                  <a:pt x="0" y="0"/>
                </a:moveTo>
                <a:lnTo>
                  <a:pt x="1902202" y="0"/>
                </a:lnTo>
                <a:lnTo>
                  <a:pt x="1902202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0196A"/>
          </a:solidFill>
          <a:ln>
            <a:noFill/>
          </a:ln>
        </p:spPr>
      </p:sp>
      <p:pic>
        <p:nvPicPr>
          <p:cNvPr id="164" name="Google Shape;164;p7"/>
          <p:cNvPicPr preferRelativeResize="0"/>
          <p:nvPr/>
        </p:nvPicPr>
        <p:blipFill rotWithShape="1">
          <a:blip r:embed="rId3">
            <a:alphaModFix/>
          </a:blip>
          <a:srcRect b="0" l="992" r="992" t="0"/>
          <a:stretch/>
        </p:blipFill>
        <p:spPr>
          <a:xfrm>
            <a:off x="904988" y="2198708"/>
            <a:ext cx="9519852" cy="5936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14502" y="8731185"/>
            <a:ext cx="1244798" cy="105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7"/>
          <p:cNvPicPr preferRelativeResize="0"/>
          <p:nvPr/>
        </p:nvPicPr>
        <p:blipFill rotWithShape="1">
          <a:blip r:embed="rId5">
            <a:alphaModFix/>
          </a:blip>
          <a:srcRect b="0" l="298" r="50" t="2572"/>
          <a:stretch/>
        </p:blipFill>
        <p:spPr>
          <a:xfrm>
            <a:off x="1792539" y="2454272"/>
            <a:ext cx="7667365" cy="486749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7"/>
          <p:cNvSpPr txBox="1"/>
          <p:nvPr/>
        </p:nvSpPr>
        <p:spPr>
          <a:xfrm>
            <a:off x="10809662" y="5395713"/>
            <a:ext cx="5025631" cy="98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pawtree, llc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7"/>
          <p:cNvSpPr txBox="1"/>
          <p:nvPr/>
        </p:nvSpPr>
        <p:spPr>
          <a:xfrm>
            <a:off x="10796637" y="2465408"/>
            <a:ext cx="6973500" cy="24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Above The Fold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p7"/>
          <p:cNvCxnSpPr/>
          <p:nvPr/>
        </p:nvCxnSpPr>
        <p:spPr>
          <a:xfrm>
            <a:off x="10796637" y="5167108"/>
            <a:ext cx="840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0" name="Google Shape;170;p7"/>
          <p:cNvCxnSpPr/>
          <p:nvPr/>
        </p:nvCxnSpPr>
        <p:spPr>
          <a:xfrm flipH="1" rot="10800000">
            <a:off x="10803063" y="4713225"/>
            <a:ext cx="6200700" cy="600"/>
          </a:xfrm>
          <a:prstGeom prst="straightConnector1">
            <a:avLst/>
          </a:prstGeom>
          <a:noFill/>
          <a:ln cap="flat" cmpd="sng" w="314325">
            <a:solidFill>
              <a:srgbClr val="E21A6B">
                <a:alpha val="2666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"/>
          <p:cNvSpPr/>
          <p:nvPr/>
        </p:nvSpPr>
        <p:spPr>
          <a:xfrm>
            <a:off x="9231116" y="0"/>
            <a:ext cx="5214330" cy="10287003"/>
          </a:xfrm>
          <a:custGeom>
            <a:rect b="b" l="l" r="r" t="t"/>
            <a:pathLst>
              <a:path extrusionOk="0" h="3752726" w="1902202">
                <a:moveTo>
                  <a:pt x="0" y="0"/>
                </a:moveTo>
                <a:lnTo>
                  <a:pt x="1902202" y="0"/>
                </a:lnTo>
                <a:lnTo>
                  <a:pt x="1902202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0196A"/>
          </a:solidFill>
          <a:ln>
            <a:noFill/>
          </a:ln>
        </p:spPr>
      </p:sp>
      <p:pic>
        <p:nvPicPr>
          <p:cNvPr id="176" name="Google Shape;176;p8"/>
          <p:cNvPicPr preferRelativeResize="0"/>
          <p:nvPr/>
        </p:nvPicPr>
        <p:blipFill rotWithShape="1">
          <a:blip r:embed="rId3">
            <a:alphaModFix/>
          </a:blip>
          <a:srcRect b="0" l="992" r="992" t="0"/>
          <a:stretch/>
        </p:blipFill>
        <p:spPr>
          <a:xfrm>
            <a:off x="7117049" y="2005340"/>
            <a:ext cx="9519852" cy="593680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8"/>
          <p:cNvCxnSpPr/>
          <p:nvPr/>
        </p:nvCxnSpPr>
        <p:spPr>
          <a:xfrm>
            <a:off x="1028700" y="5927632"/>
            <a:ext cx="840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78" name="Google Shape;17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14502" y="8731185"/>
            <a:ext cx="1244798" cy="105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8"/>
          <p:cNvPicPr preferRelativeResize="0"/>
          <p:nvPr/>
        </p:nvPicPr>
        <p:blipFill rotWithShape="1">
          <a:blip r:embed="rId5">
            <a:alphaModFix/>
          </a:blip>
          <a:srcRect b="1230" l="0" r="0" t="1435"/>
          <a:stretch/>
        </p:blipFill>
        <p:spPr>
          <a:xfrm>
            <a:off x="8002178" y="2284966"/>
            <a:ext cx="7730184" cy="4843434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8"/>
          <p:cNvSpPr txBox="1"/>
          <p:nvPr/>
        </p:nvSpPr>
        <p:spPr>
          <a:xfrm>
            <a:off x="1028700" y="3224549"/>
            <a:ext cx="6973478" cy="20962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Below the Fold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 txBox="1"/>
          <p:nvPr/>
        </p:nvSpPr>
        <p:spPr>
          <a:xfrm>
            <a:off x="1028700" y="6329434"/>
            <a:ext cx="5025600" cy="111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pawtree, llc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" name="Google Shape;182;p8"/>
          <p:cNvCxnSpPr/>
          <p:nvPr/>
        </p:nvCxnSpPr>
        <p:spPr>
          <a:xfrm>
            <a:off x="1028700" y="5473225"/>
            <a:ext cx="5871900" cy="0"/>
          </a:xfrm>
          <a:prstGeom prst="straightConnector1">
            <a:avLst/>
          </a:prstGeom>
          <a:noFill/>
          <a:ln cap="flat" cmpd="sng" w="314325">
            <a:solidFill>
              <a:srgbClr val="E21A6B">
                <a:alpha val="26274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9231116" y="0"/>
            <a:ext cx="5214330" cy="10287003"/>
          </a:xfrm>
          <a:custGeom>
            <a:rect b="b" l="l" r="r" t="t"/>
            <a:pathLst>
              <a:path extrusionOk="0" h="3752726" w="1902202">
                <a:moveTo>
                  <a:pt x="0" y="0"/>
                </a:moveTo>
                <a:lnTo>
                  <a:pt x="1902202" y="0"/>
                </a:lnTo>
                <a:lnTo>
                  <a:pt x="1902202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0196A"/>
          </a:solidFill>
          <a:ln>
            <a:noFill/>
          </a:ln>
        </p:spPr>
      </p:sp>
      <p:pic>
        <p:nvPicPr>
          <p:cNvPr id="188" name="Google Shape;188;p9"/>
          <p:cNvPicPr preferRelativeResize="0"/>
          <p:nvPr/>
        </p:nvPicPr>
        <p:blipFill rotWithShape="1">
          <a:blip r:embed="rId3">
            <a:alphaModFix/>
          </a:blip>
          <a:srcRect b="0" l="992" r="992" t="0"/>
          <a:stretch/>
        </p:blipFill>
        <p:spPr>
          <a:xfrm>
            <a:off x="7117049" y="2005340"/>
            <a:ext cx="9519852" cy="5936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14502" y="8731185"/>
            <a:ext cx="1244798" cy="1054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9"/>
          <p:cNvPicPr preferRelativeResize="0"/>
          <p:nvPr/>
        </p:nvPicPr>
        <p:blipFill rotWithShape="1">
          <a:blip r:embed="rId5">
            <a:alphaModFix/>
          </a:blip>
          <a:srcRect b="1450" l="1456" r="851" t="0"/>
          <a:stretch/>
        </p:blipFill>
        <p:spPr>
          <a:xfrm>
            <a:off x="8002178" y="2274897"/>
            <a:ext cx="7699882" cy="485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9"/>
          <p:cNvSpPr txBox="1"/>
          <p:nvPr/>
        </p:nvSpPr>
        <p:spPr>
          <a:xfrm>
            <a:off x="1028700" y="6138434"/>
            <a:ext cx="5025631" cy="989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pawtree, llc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5101" lvl="1" marL="410205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99"/>
              <a:buFont typeface="Arial"/>
              <a:buChar char="•"/>
            </a:pPr>
            <a:r>
              <a:rPr b="0" i="0" lang="en-US" sz="1899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paw tree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2" name="Google Shape;192;p9"/>
          <p:cNvCxnSpPr/>
          <p:nvPr/>
        </p:nvCxnSpPr>
        <p:spPr>
          <a:xfrm>
            <a:off x="1028700" y="5927632"/>
            <a:ext cx="840900" cy="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3" name="Google Shape;193;p9"/>
          <p:cNvSpPr txBox="1"/>
          <p:nvPr/>
        </p:nvSpPr>
        <p:spPr>
          <a:xfrm>
            <a:off x="1028700" y="3224549"/>
            <a:ext cx="6973500" cy="24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Branded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Search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Below the Fold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4" name="Google Shape;194;p9"/>
          <p:cNvCxnSpPr/>
          <p:nvPr/>
        </p:nvCxnSpPr>
        <p:spPr>
          <a:xfrm>
            <a:off x="1028700" y="5473225"/>
            <a:ext cx="5871900" cy="0"/>
          </a:xfrm>
          <a:prstGeom prst="straightConnector1">
            <a:avLst/>
          </a:prstGeom>
          <a:noFill/>
          <a:ln cap="flat" cmpd="sng" w="314325">
            <a:solidFill>
              <a:srgbClr val="E21A6B">
                <a:alpha val="26666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8102919" y="3618506"/>
            <a:ext cx="1841942" cy="192211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49678" y="1524717"/>
            <a:ext cx="9257177" cy="9757236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0"/>
          <p:cNvSpPr txBox="1"/>
          <p:nvPr/>
        </p:nvSpPr>
        <p:spPr>
          <a:xfrm>
            <a:off x="8102919" y="4168775"/>
            <a:ext cx="7516611" cy="974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One of their sellers has a GMB snippet, but this only appears when pawTree is searched as two words. From what I could find, she is their only seller with this GMB.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0"/>
          <p:cNvSpPr txBox="1"/>
          <p:nvPr/>
        </p:nvSpPr>
        <p:spPr>
          <a:xfrm>
            <a:off x="8102919" y="1701567"/>
            <a:ext cx="7903340" cy="850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3"/>
              <a:buFont typeface="Arial"/>
              <a:buNone/>
            </a:pPr>
            <a:r>
              <a:rPr b="1" i="0" lang="en-US" sz="5203" u="none" cap="none" strike="noStrike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 txBox="1"/>
          <p:nvPr/>
        </p:nvSpPr>
        <p:spPr>
          <a:xfrm>
            <a:off x="7077075" y="1238967"/>
            <a:ext cx="123066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&amp;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 txBox="1"/>
          <p:nvPr/>
        </p:nvSpPr>
        <p:spPr>
          <a:xfrm>
            <a:off x="8183854" y="2493333"/>
            <a:ext cx="7903340" cy="8508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3"/>
              <a:buFont typeface="Arial"/>
              <a:buNone/>
            </a:pPr>
            <a:r>
              <a:rPr b="1" i="0" lang="en-US" sz="5203" u="none" cap="none" strike="noStrike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NOTES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10"/>
          <p:cNvSpPr txBox="1"/>
          <p:nvPr/>
        </p:nvSpPr>
        <p:spPr>
          <a:xfrm>
            <a:off x="8651518" y="5543550"/>
            <a:ext cx="6968011" cy="650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 would recommend removing it but will discuss it with Emily for her opinion.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" name="Google Shape;206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6014502" y="8731185"/>
            <a:ext cx="1244798" cy="1054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"/>
          <p:cNvSpPr/>
          <p:nvPr/>
        </p:nvSpPr>
        <p:spPr>
          <a:xfrm>
            <a:off x="10169680" y="0"/>
            <a:ext cx="5214330" cy="10287003"/>
          </a:xfrm>
          <a:custGeom>
            <a:rect b="b" l="l" r="r" t="t"/>
            <a:pathLst>
              <a:path extrusionOk="0" h="3752726" w="1902202">
                <a:moveTo>
                  <a:pt x="0" y="0"/>
                </a:moveTo>
                <a:lnTo>
                  <a:pt x="1902202" y="0"/>
                </a:lnTo>
                <a:lnTo>
                  <a:pt x="1902202" y="3752726"/>
                </a:lnTo>
                <a:lnTo>
                  <a:pt x="0" y="3752726"/>
                </a:lnTo>
                <a:close/>
              </a:path>
            </a:pathLst>
          </a:custGeom>
          <a:solidFill>
            <a:srgbClr val="E21A6B"/>
          </a:solidFill>
          <a:ln>
            <a:noFill/>
          </a:ln>
        </p:spPr>
      </p:sp>
      <p:sp>
        <p:nvSpPr>
          <p:cNvPr id="212" name="Google Shape;212;p11"/>
          <p:cNvSpPr txBox="1"/>
          <p:nvPr/>
        </p:nvSpPr>
        <p:spPr>
          <a:xfrm>
            <a:off x="1028700" y="933450"/>
            <a:ext cx="9839983" cy="181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3"/>
              <a:buFont typeface="Arial"/>
              <a:buNone/>
            </a:pPr>
            <a:r>
              <a:rPr b="1" i="0" lang="en-US" sz="5203" u="none" cap="none" strike="noStrike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KNOWLEDGE PANEL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3"/>
              <a:buFont typeface="Arial"/>
              <a:buNone/>
            </a:pPr>
            <a:r>
              <a:rPr b="1" i="0" lang="en-US" sz="5203" u="none" cap="none" strike="noStrike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11"/>
          <p:cNvPicPr preferRelativeResize="0"/>
          <p:nvPr/>
        </p:nvPicPr>
        <p:blipFill rotWithShape="1">
          <a:blip r:embed="rId3">
            <a:alphaModFix/>
          </a:blip>
          <a:srcRect b="0" l="992" r="992" t="0"/>
          <a:stretch/>
        </p:blipFill>
        <p:spPr>
          <a:xfrm>
            <a:off x="8016920" y="2175096"/>
            <a:ext cx="9519852" cy="59368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11"/>
          <p:cNvPicPr preferRelativeResize="0"/>
          <p:nvPr/>
        </p:nvPicPr>
        <p:blipFill rotWithShape="1">
          <a:blip r:embed="rId4">
            <a:alphaModFix/>
          </a:blip>
          <a:srcRect b="16907" l="2668" r="0" t="3481"/>
          <a:stretch/>
        </p:blipFill>
        <p:spPr>
          <a:xfrm>
            <a:off x="8917176" y="2427391"/>
            <a:ext cx="7708658" cy="486658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" name="Google Shape;215;p11"/>
          <p:cNvGrpSpPr/>
          <p:nvPr/>
        </p:nvGrpSpPr>
        <p:grpSpPr>
          <a:xfrm>
            <a:off x="1028700" y="4783281"/>
            <a:ext cx="5698350" cy="4475019"/>
            <a:chOff x="0" y="-38100"/>
            <a:chExt cx="7597800" cy="5966692"/>
          </a:xfrm>
        </p:grpSpPr>
        <p:sp>
          <p:nvSpPr>
            <p:cNvPr id="216" name="Google Shape;216;p11"/>
            <p:cNvSpPr txBox="1"/>
            <p:nvPr/>
          </p:nvSpPr>
          <p:spPr>
            <a:xfrm>
              <a:off x="0" y="-38100"/>
              <a:ext cx="7597800" cy="35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Social Profiles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11"/>
            <p:cNvSpPr txBox="1"/>
            <p:nvPr/>
          </p:nvSpPr>
          <p:spPr>
            <a:xfrm>
              <a:off x="0" y="522865"/>
              <a:ext cx="7597675" cy="35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Headquarters Location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11"/>
            <p:cNvSpPr txBox="1"/>
            <p:nvPr/>
          </p:nvSpPr>
          <p:spPr>
            <a:xfrm>
              <a:off x="0" y="1083829"/>
              <a:ext cx="7597675" cy="35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Founding Date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11"/>
            <p:cNvSpPr txBox="1"/>
            <p:nvPr/>
          </p:nvSpPr>
          <p:spPr>
            <a:xfrm>
              <a:off x="0" y="1644794"/>
              <a:ext cx="7597675" cy="35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Subsidiaries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11"/>
            <p:cNvSpPr txBox="1"/>
            <p:nvPr/>
          </p:nvSpPr>
          <p:spPr>
            <a:xfrm>
              <a:off x="0" y="2205758"/>
              <a:ext cx="7597675" cy="35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Whether it’s claimed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11"/>
            <p:cNvSpPr txBox="1"/>
            <p:nvPr/>
          </p:nvSpPr>
          <p:spPr>
            <a:xfrm>
              <a:off x="0" y="2766723"/>
              <a:ext cx="7597675" cy="35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Logo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11"/>
            <p:cNvSpPr txBox="1"/>
            <p:nvPr/>
          </p:nvSpPr>
          <p:spPr>
            <a:xfrm>
              <a:off x="0" y="3327687"/>
              <a:ext cx="7597675" cy="35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CEO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11"/>
            <p:cNvSpPr txBox="1"/>
            <p:nvPr/>
          </p:nvSpPr>
          <p:spPr>
            <a:xfrm>
              <a:off x="0" y="3888652"/>
              <a:ext cx="7597675" cy="35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Stock Ticker &amp; Price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11"/>
            <p:cNvSpPr txBox="1"/>
            <p:nvPr/>
          </p:nvSpPr>
          <p:spPr>
            <a:xfrm>
              <a:off x="0" y="4449616"/>
              <a:ext cx="7597675" cy="35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Number of Locations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11"/>
            <p:cNvSpPr txBox="1"/>
            <p:nvPr/>
          </p:nvSpPr>
          <p:spPr>
            <a:xfrm>
              <a:off x="0" y="5010581"/>
              <a:ext cx="7597675" cy="35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Number of Employees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11"/>
            <p:cNvSpPr txBox="1"/>
            <p:nvPr/>
          </p:nvSpPr>
          <p:spPr>
            <a:xfrm>
              <a:off x="0" y="5571545"/>
              <a:ext cx="7597675" cy="3570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171343" lvl="1" marL="342689" marR="0" rtl="0" algn="l">
                <a:lnSpc>
                  <a:spcPct val="140012"/>
                </a:lnSpc>
                <a:spcBef>
                  <a:spcPts val="0"/>
                </a:spcBef>
                <a:spcAft>
                  <a:spcPts val="0"/>
                </a:spcAft>
                <a:buClr>
                  <a:srgbClr val="E21A6B"/>
                </a:buClr>
                <a:buSzPts val="1587"/>
                <a:buFont typeface="Arial"/>
                <a:buChar char="•"/>
              </a:pPr>
              <a:r>
                <a:rPr b="0" i="0" lang="en-US" sz="1587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Customer Service Number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7" name="Google Shape;227;p11"/>
          <p:cNvSpPr txBox="1"/>
          <p:nvPr/>
        </p:nvSpPr>
        <p:spPr>
          <a:xfrm>
            <a:off x="1028700" y="3302739"/>
            <a:ext cx="6988220" cy="11537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Audit Knowledge Panel for visibility of the following and suggest Schema as a solution to add, remove, or edit data.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1028700" y="2927466"/>
            <a:ext cx="1445700" cy="192300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9" name="Google Shape;229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014502" y="8731185"/>
            <a:ext cx="1244798" cy="1054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2"/>
          <p:cNvGrpSpPr/>
          <p:nvPr/>
        </p:nvGrpSpPr>
        <p:grpSpPr>
          <a:xfrm>
            <a:off x="9144000" y="2165999"/>
            <a:ext cx="7052646" cy="1643916"/>
            <a:chOff x="0" y="-47625"/>
            <a:chExt cx="9403527" cy="2191887"/>
          </a:xfrm>
        </p:grpSpPr>
        <p:sp>
          <p:nvSpPr>
            <p:cNvPr id="235" name="Google Shape;235;p12"/>
            <p:cNvSpPr txBox="1"/>
            <p:nvPr/>
          </p:nvSpPr>
          <p:spPr>
            <a:xfrm>
              <a:off x="0" y="-47625"/>
              <a:ext cx="9403527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WHAT IS PAW TREE?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12"/>
            <p:cNvSpPr txBox="1"/>
            <p:nvPr/>
          </p:nvSpPr>
          <p:spPr>
            <a:xfrm>
              <a:off x="0" y="1099687"/>
              <a:ext cx="7689515" cy="10445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b="0" i="0" lang="en-US" sz="1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No. There is a North American tree, called the Paw-Paw (or Pawpaws) Tree. Searching “what is paw tree” brings up an answer from Southern Living describing this tree.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12"/>
            <p:cNvSpPr/>
            <p:nvPr/>
          </p:nvSpPr>
          <p:spPr>
            <a:xfrm>
              <a:off x="0" y="760365"/>
              <a:ext cx="1965089" cy="100144"/>
            </a:xfrm>
            <a:prstGeom prst="rect">
              <a:avLst/>
            </a:prstGeom>
            <a:solidFill>
              <a:srgbClr val="E21A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38" name="Google Shape;238;p12"/>
          <p:cNvCxnSpPr/>
          <p:nvPr/>
        </p:nvCxnSpPr>
        <p:spPr>
          <a:xfrm>
            <a:off x="1085250" y="3933921"/>
            <a:ext cx="3912300" cy="15000"/>
          </a:xfrm>
          <a:prstGeom prst="straightConnector1">
            <a:avLst/>
          </a:prstGeom>
          <a:noFill/>
          <a:ln cap="flat" cmpd="sng" w="2476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12"/>
          <p:cNvSpPr txBox="1"/>
          <p:nvPr/>
        </p:nvSpPr>
        <p:spPr>
          <a:xfrm>
            <a:off x="1085238" y="2562526"/>
            <a:ext cx="6973500" cy="21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People</a:t>
            </a:r>
            <a:endParaRPr b="1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Also Ask</a:t>
            </a:r>
            <a:endParaRPr b="1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i="0" lang="en-US" sz="47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(pawtree and pawtree llc)</a:t>
            </a:r>
            <a:endParaRPr b="1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pSp>
        <p:nvGrpSpPr>
          <p:cNvPr id="240" name="Google Shape;240;p12"/>
          <p:cNvGrpSpPr/>
          <p:nvPr/>
        </p:nvGrpSpPr>
        <p:grpSpPr>
          <a:xfrm>
            <a:off x="9144000" y="4650581"/>
            <a:ext cx="7052646" cy="1815366"/>
            <a:chOff x="0" y="-47625"/>
            <a:chExt cx="9403527" cy="2420487"/>
          </a:xfrm>
        </p:grpSpPr>
        <p:sp>
          <p:nvSpPr>
            <p:cNvPr id="241" name="Google Shape;241;p12"/>
            <p:cNvSpPr txBox="1"/>
            <p:nvPr/>
          </p:nvSpPr>
          <p:spPr>
            <a:xfrm>
              <a:off x="0" y="-47625"/>
              <a:ext cx="9403527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IS PAWTREE DOG FOOD AAFCO APPROVED?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12"/>
            <p:cNvSpPr txBox="1"/>
            <p:nvPr/>
          </p:nvSpPr>
          <p:spPr>
            <a:xfrm>
              <a:off x="0" y="1683887"/>
              <a:ext cx="7689515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b="0" i="0" lang="en-US" sz="1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Yes. This answer goes to the corresponding pawTree </a:t>
              </a:r>
              <a:r>
                <a:rPr b="0" i="0" lang="en-US" sz="1499" u="sng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Zendesk article.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12"/>
            <p:cNvSpPr/>
            <p:nvPr/>
          </p:nvSpPr>
          <p:spPr>
            <a:xfrm>
              <a:off x="0" y="1344565"/>
              <a:ext cx="1965089" cy="100144"/>
            </a:xfrm>
            <a:prstGeom prst="rect">
              <a:avLst/>
            </a:prstGeom>
            <a:solidFill>
              <a:srgbClr val="E21A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4" name="Google Shape;244;p12"/>
          <p:cNvGrpSpPr/>
          <p:nvPr/>
        </p:nvGrpSpPr>
        <p:grpSpPr>
          <a:xfrm>
            <a:off x="9144000" y="7222331"/>
            <a:ext cx="7052646" cy="1110516"/>
            <a:chOff x="0" y="-47625"/>
            <a:chExt cx="9403527" cy="1480687"/>
          </a:xfrm>
        </p:grpSpPr>
        <p:sp>
          <p:nvSpPr>
            <p:cNvPr id="245" name="Google Shape;245;p12"/>
            <p:cNvSpPr txBox="1"/>
            <p:nvPr/>
          </p:nvSpPr>
          <p:spPr>
            <a:xfrm>
              <a:off x="0" y="-47625"/>
              <a:ext cx="9403527" cy="5471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IS PAWTREE GRAIN-FREE?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12"/>
            <p:cNvSpPr txBox="1"/>
            <p:nvPr/>
          </p:nvSpPr>
          <p:spPr>
            <a:xfrm>
              <a:off x="0" y="1099687"/>
              <a:ext cx="7689515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b="0" i="0" lang="en-US" sz="1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Yes. This answer comes from the Pawtree </a:t>
              </a:r>
              <a:r>
                <a:rPr b="0" i="0" lang="en-US" sz="1499" u="sng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FAQ</a:t>
              </a:r>
              <a:r>
                <a:rPr b="0" i="0" lang="en-US" sz="1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page.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12"/>
            <p:cNvSpPr/>
            <p:nvPr/>
          </p:nvSpPr>
          <p:spPr>
            <a:xfrm>
              <a:off x="0" y="760365"/>
              <a:ext cx="1965089" cy="100144"/>
            </a:xfrm>
            <a:prstGeom prst="rect">
              <a:avLst/>
            </a:prstGeom>
            <a:solidFill>
              <a:srgbClr val="E21A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2" name="Google Shape;252;p13"/>
          <p:cNvGrpSpPr/>
          <p:nvPr/>
        </p:nvGrpSpPr>
        <p:grpSpPr>
          <a:xfrm>
            <a:off x="9144000" y="2213624"/>
            <a:ext cx="7052646" cy="1548666"/>
            <a:chOff x="0" y="-47625"/>
            <a:chExt cx="9403527" cy="2064887"/>
          </a:xfrm>
        </p:grpSpPr>
        <p:sp>
          <p:nvSpPr>
            <p:cNvPr id="253" name="Google Shape;253;p13"/>
            <p:cNvSpPr txBox="1"/>
            <p:nvPr/>
          </p:nvSpPr>
          <p:spPr>
            <a:xfrm>
              <a:off x="0" y="-47625"/>
              <a:ext cx="9403527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HOW DO I CANCEL MY PAWTREE ACCOUNT?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13"/>
            <p:cNvSpPr txBox="1"/>
            <p:nvPr/>
          </p:nvSpPr>
          <p:spPr>
            <a:xfrm>
              <a:off x="0" y="1683887"/>
              <a:ext cx="7689515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b="0" i="0" lang="en-US" sz="1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Yes. This answer comes from the Pawtree </a:t>
              </a:r>
              <a:r>
                <a:rPr b="0" i="0" lang="en-US" sz="1499" u="none" cap="none" strike="noStrike">
                  <a:solidFill>
                    <a:srgbClr val="E21A6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FAQ</a:t>
              </a:r>
              <a:r>
                <a:rPr b="0" i="0" lang="en-US" sz="1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 page.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13"/>
            <p:cNvSpPr/>
            <p:nvPr/>
          </p:nvSpPr>
          <p:spPr>
            <a:xfrm>
              <a:off x="0" y="1344565"/>
              <a:ext cx="1965089" cy="100144"/>
            </a:xfrm>
            <a:prstGeom prst="rect">
              <a:avLst/>
            </a:prstGeom>
            <a:solidFill>
              <a:srgbClr val="E21A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6" name="Google Shape;256;p13"/>
          <p:cNvGrpSpPr/>
          <p:nvPr/>
        </p:nvGrpSpPr>
        <p:grpSpPr>
          <a:xfrm>
            <a:off x="9144000" y="4650581"/>
            <a:ext cx="7052646" cy="1815366"/>
            <a:chOff x="0" y="-47625"/>
            <a:chExt cx="9403527" cy="2420487"/>
          </a:xfrm>
        </p:grpSpPr>
        <p:sp>
          <p:nvSpPr>
            <p:cNvPr id="257" name="Google Shape;257;p13"/>
            <p:cNvSpPr txBox="1"/>
            <p:nvPr/>
          </p:nvSpPr>
          <p:spPr>
            <a:xfrm>
              <a:off x="0" y="-47625"/>
              <a:ext cx="9403527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WHERE IS PAWTREE DOG FOOD MANUFACTURED?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13"/>
            <p:cNvSpPr txBox="1"/>
            <p:nvPr/>
          </p:nvSpPr>
          <p:spPr>
            <a:xfrm>
              <a:off x="0" y="1683887"/>
              <a:ext cx="7689515" cy="688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b="0" i="0" lang="en-US" sz="1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No. This goes to a Business Wire article that seems to speak positively on pawTree food products.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13"/>
            <p:cNvSpPr/>
            <p:nvPr/>
          </p:nvSpPr>
          <p:spPr>
            <a:xfrm>
              <a:off x="0" y="1344565"/>
              <a:ext cx="1965089" cy="100144"/>
            </a:xfrm>
            <a:prstGeom prst="rect">
              <a:avLst/>
            </a:prstGeom>
            <a:solidFill>
              <a:srgbClr val="E21A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0" name="Google Shape;260;p13"/>
          <p:cNvGrpSpPr/>
          <p:nvPr/>
        </p:nvGrpSpPr>
        <p:grpSpPr>
          <a:xfrm>
            <a:off x="9144000" y="7193756"/>
            <a:ext cx="7052646" cy="1548666"/>
            <a:chOff x="0" y="-47625"/>
            <a:chExt cx="9403527" cy="2064887"/>
          </a:xfrm>
        </p:grpSpPr>
        <p:sp>
          <p:nvSpPr>
            <p:cNvPr id="261" name="Google Shape;261;p13"/>
            <p:cNvSpPr txBox="1"/>
            <p:nvPr/>
          </p:nvSpPr>
          <p:spPr>
            <a:xfrm>
              <a:off x="0" y="-47625"/>
              <a:ext cx="9403527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 GRAIN-FREE DOG FOOD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99"/>
                <a:buFont typeface="Arial"/>
                <a:buNone/>
              </a:pPr>
              <a:r>
                <a:rPr b="0" i="0" lang="en-US" sz="2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RECOMMENDED?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13"/>
            <p:cNvSpPr txBox="1"/>
            <p:nvPr/>
          </p:nvSpPr>
          <p:spPr>
            <a:xfrm>
              <a:off x="0" y="1683887"/>
              <a:ext cx="7689515" cy="333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26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99"/>
                <a:buFont typeface="Arial"/>
                <a:buNone/>
              </a:pPr>
              <a:r>
                <a:rPr b="0" i="0" lang="en-US" sz="1499" u="none" cap="none" strike="noStrike">
                  <a:solidFill>
                    <a:srgbClr val="FFF4FB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No, this goes to a blog post on sidebysidepet.com.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13"/>
            <p:cNvSpPr/>
            <p:nvPr/>
          </p:nvSpPr>
          <p:spPr>
            <a:xfrm>
              <a:off x="0" y="1344565"/>
              <a:ext cx="1965089" cy="100144"/>
            </a:xfrm>
            <a:prstGeom prst="rect">
              <a:avLst/>
            </a:prstGeom>
            <a:solidFill>
              <a:srgbClr val="E21A6B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264" name="Google Shape;264;p13"/>
          <p:cNvCxnSpPr/>
          <p:nvPr/>
        </p:nvCxnSpPr>
        <p:spPr>
          <a:xfrm>
            <a:off x="1085250" y="3933921"/>
            <a:ext cx="3912300" cy="15000"/>
          </a:xfrm>
          <a:prstGeom prst="straightConnector1">
            <a:avLst/>
          </a:prstGeom>
          <a:noFill/>
          <a:ln cap="flat" cmpd="sng" w="24765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13"/>
          <p:cNvSpPr txBox="1"/>
          <p:nvPr/>
        </p:nvSpPr>
        <p:spPr>
          <a:xfrm>
            <a:off x="1085238" y="2562526"/>
            <a:ext cx="6973500" cy="21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People</a:t>
            </a:r>
            <a:endParaRPr b="1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800"/>
              <a:buFont typeface="Arial"/>
              <a:buNone/>
            </a:pPr>
            <a:r>
              <a:rPr b="1" i="0" lang="en-US" sz="68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Also Ask</a:t>
            </a:r>
            <a:endParaRPr b="1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marR="0" rtl="0" algn="l">
              <a:lnSpc>
                <a:spcPct val="7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700"/>
              <a:buFont typeface="Arial"/>
              <a:buNone/>
            </a:pPr>
            <a:r>
              <a:rPr b="1" i="0" lang="en-US" sz="4700" u="none" cap="none" strike="noStrike">
                <a:solidFill>
                  <a:srgbClr val="E0196A"/>
                </a:solidFill>
                <a:latin typeface="Proxima Nova"/>
                <a:ea typeface="Proxima Nova"/>
                <a:cs typeface="Proxima Nova"/>
                <a:sym typeface="Proxima Nova"/>
              </a:rPr>
              <a:t>(pawtree and pawtree llc)</a:t>
            </a:r>
            <a:endParaRPr b="1" i="0" sz="1400" u="none" cap="none" strike="noStrike">
              <a:solidFill>
                <a:srgbClr val="00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14"/>
          <p:cNvPicPr preferRelativeResize="0"/>
          <p:nvPr/>
        </p:nvPicPr>
        <p:blipFill rotWithShape="1">
          <a:blip r:embed="rId3">
            <a:alphaModFix/>
          </a:blip>
          <a:srcRect b="0" l="25591" r="44119" t="0"/>
          <a:stretch/>
        </p:blipFill>
        <p:spPr>
          <a:xfrm>
            <a:off x="0" y="0"/>
            <a:ext cx="4991423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14"/>
          <p:cNvSpPr txBox="1"/>
          <p:nvPr/>
        </p:nvSpPr>
        <p:spPr>
          <a:xfrm>
            <a:off x="7363716" y="2583878"/>
            <a:ext cx="7903340" cy="8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3"/>
              <a:buFont typeface="Arial"/>
              <a:buNone/>
            </a:pPr>
            <a:r>
              <a:rPr b="0" i="0" lang="en-US" sz="5203" u="none" cap="none" strike="noStrike">
                <a:solidFill>
                  <a:srgbClr val="FFF4FB"/>
                </a:solidFill>
                <a:latin typeface="Proxima Nova"/>
                <a:ea typeface="Proxima Nova"/>
                <a:cs typeface="Proxima Nova"/>
                <a:sym typeface="Proxima Nova"/>
              </a:rPr>
              <a:t>RECOMMENDATIONS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14"/>
          <p:cNvSpPr txBox="1"/>
          <p:nvPr/>
        </p:nvSpPr>
        <p:spPr>
          <a:xfrm>
            <a:off x="7135116" y="5103775"/>
            <a:ext cx="6851059" cy="7328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79"/>
              <a:buFont typeface="Arial"/>
              <a:buNone/>
            </a:pPr>
            <a:r>
              <a:rPr b="0" i="0" lang="en-US" sz="2179" u="none" cap="none" strike="noStrike">
                <a:solidFill>
                  <a:srgbClr val="FFF4FB"/>
                </a:solidFill>
                <a:latin typeface="Proxima Nova"/>
                <a:ea typeface="Proxima Nova"/>
                <a:cs typeface="Proxima Nova"/>
                <a:sym typeface="Proxima Nova"/>
              </a:rPr>
              <a:t>Add an answer to the first question on the Pawtree FAQ page as well as in </a:t>
            </a:r>
            <a:r>
              <a:rPr b="0" i="0" lang="en-US" sz="2179" u="none" cap="none" strike="noStrike">
                <a:solidFill>
                  <a:srgbClr val="FFF4FB"/>
                </a:solidFill>
                <a:latin typeface="Arimo"/>
                <a:ea typeface="Arimo"/>
                <a:cs typeface="Arimo"/>
                <a:sym typeface="Arimo"/>
              </a:rPr>
              <a:t>Zendesk.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/>
          <p:nvPr/>
        </p:nvSpPr>
        <p:spPr>
          <a:xfrm>
            <a:off x="7135116" y="4460972"/>
            <a:ext cx="1841942" cy="192211"/>
          </a:xfrm>
          <a:prstGeom prst="rect">
            <a:avLst/>
          </a:prstGeom>
          <a:solidFill>
            <a:srgbClr val="E21A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4"/>
          <p:cNvSpPr txBox="1"/>
          <p:nvPr/>
        </p:nvSpPr>
        <p:spPr>
          <a:xfrm>
            <a:off x="6519786" y="1889222"/>
            <a:ext cx="1230660" cy="257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E21A6B"/>
                </a:solidFill>
                <a:latin typeface="Proxima Nova"/>
                <a:ea typeface="Proxima Nova"/>
                <a:cs typeface="Proxima Nova"/>
                <a:sym typeface="Proxima Nova"/>
              </a:rPr>
              <a:t>&amp;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4"/>
          <p:cNvSpPr txBox="1"/>
          <p:nvPr/>
        </p:nvSpPr>
        <p:spPr>
          <a:xfrm>
            <a:off x="7363716" y="3222722"/>
            <a:ext cx="7903340" cy="887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3"/>
              <a:buFont typeface="Arial"/>
              <a:buNone/>
            </a:pPr>
            <a:r>
              <a:rPr b="0" i="0" lang="en-US" sz="5203" u="none" cap="none" strike="noStrike">
                <a:solidFill>
                  <a:srgbClr val="FFF4FB"/>
                </a:solidFill>
                <a:latin typeface="Proxima Nova"/>
                <a:ea typeface="Proxima Nova"/>
                <a:cs typeface="Proxima Nova"/>
                <a:sym typeface="Proxima Nova"/>
              </a:rPr>
              <a:t>NOTES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6" name="Google Shape;27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44000" y="1786308"/>
            <a:ext cx="8912813" cy="93942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06301" y="9081135"/>
            <a:ext cx="1244798" cy="10542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g121e6022bfa_0_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59262" y="-33342"/>
            <a:ext cx="18406526" cy="10353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