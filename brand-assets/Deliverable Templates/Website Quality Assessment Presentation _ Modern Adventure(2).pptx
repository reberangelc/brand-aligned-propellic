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5143500" cx="9144000"/>
  <p:notesSz cx="6858000" cy="9144000"/>
  <p:embeddedFontLst>
    <p:embeddedFont>
      <p:font typeface="Roboto Slab Light"/>
      <p:regular r:id="rId39"/>
      <p:bold r:id="rId40"/>
    </p:embeddedFont>
    <p:embeddedFont>
      <p:font typeface="Roboto Slab"/>
      <p:regular r:id="rId41"/>
      <p:bold r:id="rId42"/>
    </p:embeddedFont>
    <p:embeddedFont>
      <p:font typeface="Roboto"/>
      <p:regular r:id="rId43"/>
      <p:bold r:id="rId44"/>
      <p:italic r:id="rId45"/>
      <p:boldItalic r:id="rId46"/>
    </p:embeddedFont>
    <p:embeddedFont>
      <p:font typeface="Proxima Nova"/>
      <p:regular r:id="rId47"/>
      <p:bold r:id="rId48"/>
      <p:italic r:id="rId49"/>
      <p:boldItalic r:id="rId50"/>
    </p:embeddedFont>
    <p:embeddedFont>
      <p:font typeface="Poppins"/>
      <p:regular r:id="rId51"/>
      <p:bold r:id="rId52"/>
      <p:italic r:id="rId53"/>
      <p:boldItalic r:id="rId54"/>
    </p:embeddedFont>
    <p:embeddedFont>
      <p:font typeface="Varela Round"/>
      <p:regular r:id="rId55"/>
    </p:embeddedFont>
    <p:embeddedFont>
      <p:font typeface="Proxima Nova Extrabold"/>
      <p:bold r:id="rId56"/>
    </p:embeddedFont>
    <p:embeddedFont>
      <p:font typeface="Roboto Light"/>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A3A82F-E3E7-447F-8D31-E7459E4A45D8}">
  <a:tblStyle styleId="{C2A3A82F-E3E7-447F-8D31-E7459E4A45D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62DA1B8-9445-4C41-AA5C-8D360C197F99}"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SlabLight-bold.fntdata"/><Relationship Id="rId42" Type="http://schemas.openxmlformats.org/officeDocument/2006/relationships/font" Target="fonts/RobotoSlab-bold.fntdata"/><Relationship Id="rId41" Type="http://schemas.openxmlformats.org/officeDocument/2006/relationships/font" Target="fonts/RobotoSlab-regular.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ProximaNova-bold.fntdata"/><Relationship Id="rId47" Type="http://schemas.openxmlformats.org/officeDocument/2006/relationships/font" Target="fonts/ProximaNova-regular.fntdata"/><Relationship Id="rId49" Type="http://schemas.openxmlformats.org/officeDocument/2006/relationships/font" Target="fonts/ProximaNova-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font" Target="fonts/RobotoSlabLight-regular.fntdata"/><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RobotoLight-bold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oppins-regular.fntdata"/><Relationship Id="rId50" Type="http://schemas.openxmlformats.org/officeDocument/2006/relationships/font" Target="fonts/ProximaNova-boldItalic.fntdata"/><Relationship Id="rId53" Type="http://schemas.openxmlformats.org/officeDocument/2006/relationships/font" Target="fonts/Poppins-italic.fntdata"/><Relationship Id="rId52" Type="http://schemas.openxmlformats.org/officeDocument/2006/relationships/font" Target="fonts/Poppins-bold.fntdata"/><Relationship Id="rId11" Type="http://schemas.openxmlformats.org/officeDocument/2006/relationships/slide" Target="slides/slide4.xml"/><Relationship Id="rId55" Type="http://schemas.openxmlformats.org/officeDocument/2006/relationships/font" Target="fonts/VarelaRound-regular.fntdata"/><Relationship Id="rId10" Type="http://schemas.openxmlformats.org/officeDocument/2006/relationships/slide" Target="slides/slide3.xml"/><Relationship Id="rId54" Type="http://schemas.openxmlformats.org/officeDocument/2006/relationships/font" Target="fonts/Poppins-boldItalic.fntdata"/><Relationship Id="rId13" Type="http://schemas.openxmlformats.org/officeDocument/2006/relationships/slide" Target="slides/slide6.xml"/><Relationship Id="rId57" Type="http://schemas.openxmlformats.org/officeDocument/2006/relationships/font" Target="fonts/RobotoLight-regular.fntdata"/><Relationship Id="rId12" Type="http://schemas.openxmlformats.org/officeDocument/2006/relationships/slide" Target="slides/slide5.xml"/><Relationship Id="rId56" Type="http://schemas.openxmlformats.org/officeDocument/2006/relationships/font" Target="fonts/ProximaNovaExtrabold-bold.fntdata"/><Relationship Id="rId15" Type="http://schemas.openxmlformats.org/officeDocument/2006/relationships/slide" Target="slides/slide8.xml"/><Relationship Id="rId59" Type="http://schemas.openxmlformats.org/officeDocument/2006/relationships/font" Target="fonts/RobotoLight-italic.fntdata"/><Relationship Id="rId14" Type="http://schemas.openxmlformats.org/officeDocument/2006/relationships/slide" Target="slides/slide7.xml"/><Relationship Id="rId58" Type="http://schemas.openxmlformats.org/officeDocument/2006/relationships/font" Target="fonts/RobotoLight-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618588231#gid=1618588231"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975750220#gid=1975750220"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307378891#gid=1307378891"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92554350#gid=92554350"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065132173#gid=1065132173"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428278599#gid=1428278599"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SLIDES_API10539245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SLIDES_API10539245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41615818f2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41615818f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1615818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1615818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41615818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41615818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41615818f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41615818f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41615818f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41615818f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41615818f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41615818f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41615818f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41615818f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41615818f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41615818f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41615818f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41615818f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41615818f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41615818f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41615818f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41615818f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41615818f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41615818f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41615818f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41615818f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41615818f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41615818f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https://docs.google.com/spreadsheets/d/1CNChHS8-gO7lqbSYQlH-LxSfJwzyimmYhFJGy6CzZ-g/edit?gid=1618588231#gid=1618588231</a:t>
            </a:r>
            <a:r>
              <a:rPr lang="en"/>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4339c09ea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4339c09ea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https://docs.google.com/spreadsheets/d/1CNChHS8-gO7lqbSYQlH-LxSfJwzyimmYhFJGy6CzZ-g/edit?gid=1975750220#gid=1975750220</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4339c09ea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4339c09ea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https://docs.google.com/spreadsheets/d/1CNChHS8-gO7lqbSYQlH-LxSfJwzyimmYhFJGy6CzZ-g/edit?gid=1307378891#gid=1307378891</a:t>
            </a:r>
            <a:r>
              <a:rPr lang="en"/>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41615818f2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41615818f2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https://docs.google.com/spreadsheets/d/1CNChHS8-gO7lqbSYQlH-LxSfJwzyimmYhFJGy6CzZ-g/edit?gid=92554350#gid=92554350</a:t>
            </a:r>
            <a:r>
              <a:rPr lang="en"/>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4339c09e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4339c09e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4339c09ea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4339c09ea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Revenue by Category Bar Chart: </a:t>
            </a:r>
            <a:r>
              <a:rPr lang="en" u="sng">
                <a:solidFill>
                  <a:schemeClr val="hlink"/>
                </a:solidFill>
                <a:hlinkClick r:id="rId2"/>
              </a:rPr>
              <a:t>https://docs.google.com/spreadsheets/d/1CNChHS8-gO7lqbSYQlH-LxSfJwzyimmYhFJGy6CzZ-g/edit?gid=1065132173#gid=1065132173</a:t>
            </a:r>
            <a:r>
              <a:rPr lang="en"/>
              <a:t> </a:t>
            </a:r>
            <a:endParaRPr/>
          </a:p>
          <a:p>
            <a:pPr indent="0" lvl="0" marL="0" rtl="0" algn="l">
              <a:spcBef>
                <a:spcPts val="0"/>
              </a:spcBef>
              <a:spcAft>
                <a:spcPts val="0"/>
              </a:spcAft>
              <a:buNone/>
            </a:pPr>
            <a:r>
              <a:rPr lang="en"/>
              <a:t>Link to Top 5 Pages by Revenue Table: https://docs.google.com/spreadsheets/d/1CNChHS8-gO7lqbSYQlH-LxSfJwzyimmYhFJGy6CzZ-g/edit?gid=1611787336#gid=1611787336</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477ebbe8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477ebbe8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 of Pages Driving Revenue by Category Bar Chart: </a:t>
            </a:r>
            <a:r>
              <a:rPr lang="en" u="sng">
                <a:solidFill>
                  <a:schemeClr val="hlink"/>
                </a:solidFill>
                <a:hlinkClick r:id="rId2"/>
              </a:rPr>
              <a:t>https://docs.google.com/spreadsheets/d/1CNChHS8-gO7lqbSYQlH-LxSfJwzyimmYhFJGy6CzZ-g/edit?gid=1428278599#gid=1428278599</a:t>
            </a:r>
            <a:r>
              <a:rPr lang="en"/>
              <a: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41615818f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41615818f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3b6442f6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13b6442f6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8" name="Shape 168"/>
        <p:cNvGrpSpPr/>
        <p:nvPr/>
      </p:nvGrpSpPr>
      <p:grpSpPr>
        <a:xfrm>
          <a:off x="0" y="0"/>
          <a:ext cx="0" cy="0"/>
          <a:chOff x="0" y="0"/>
          <a:chExt cx="0" cy="0"/>
        </a:xfrm>
      </p:grpSpPr>
      <p:sp>
        <p:nvSpPr>
          <p:cNvPr id="169" name="Google Shape;169;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0" name="Google Shape;170;p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1" name="Google Shape;171;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4" name="Google Shape;174;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5" name="Shape 175"/>
        <p:cNvGrpSpPr/>
        <p:nvPr/>
      </p:nvGrpSpPr>
      <p:grpSpPr>
        <a:xfrm>
          <a:off x="0" y="0"/>
          <a:ext cx="0" cy="0"/>
          <a:chOff x="0" y="0"/>
          <a:chExt cx="0" cy="0"/>
        </a:xfrm>
      </p:grpSpPr>
      <p:sp>
        <p:nvSpPr>
          <p:cNvPr id="176" name="Google Shape;17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7" name="Google Shape;177;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78" name="Google Shape;178;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9" name="Shape 179"/>
        <p:cNvGrpSpPr/>
        <p:nvPr/>
      </p:nvGrpSpPr>
      <p:grpSpPr>
        <a:xfrm>
          <a:off x="0" y="0"/>
          <a:ext cx="0" cy="0"/>
          <a:chOff x="0" y="0"/>
          <a:chExt cx="0" cy="0"/>
        </a:xfrm>
      </p:grpSpPr>
      <p:sp>
        <p:nvSpPr>
          <p:cNvPr id="180" name="Google Shape;180;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1" name="Google Shape;181;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2" name="Google Shape;182;p3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3" name="Google Shape;183;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6" name="Google Shape;18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7" name="Shape 187"/>
        <p:cNvGrpSpPr/>
        <p:nvPr/>
      </p:nvGrpSpPr>
      <p:grpSpPr>
        <a:xfrm>
          <a:off x="0" y="0"/>
          <a:ext cx="0" cy="0"/>
          <a:chOff x="0" y="0"/>
          <a:chExt cx="0" cy="0"/>
        </a:xfrm>
      </p:grpSpPr>
      <p:sp>
        <p:nvSpPr>
          <p:cNvPr id="188" name="Google Shape;188;p4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89" name="Google Shape;189;p4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90" name="Google Shape;190;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1" name="Shape 191"/>
        <p:cNvGrpSpPr/>
        <p:nvPr/>
      </p:nvGrpSpPr>
      <p:grpSpPr>
        <a:xfrm>
          <a:off x="0" y="0"/>
          <a:ext cx="0" cy="0"/>
          <a:chOff x="0" y="0"/>
          <a:chExt cx="0" cy="0"/>
        </a:xfrm>
      </p:grpSpPr>
      <p:sp>
        <p:nvSpPr>
          <p:cNvPr id="192" name="Google Shape;192;p4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93" name="Google Shape;19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4" name="Shape 194"/>
        <p:cNvGrpSpPr/>
        <p:nvPr/>
      </p:nvGrpSpPr>
      <p:grpSpPr>
        <a:xfrm>
          <a:off x="0" y="0"/>
          <a:ext cx="0" cy="0"/>
          <a:chOff x="0" y="0"/>
          <a:chExt cx="0" cy="0"/>
        </a:xfrm>
      </p:grpSpPr>
      <p:sp>
        <p:nvSpPr>
          <p:cNvPr id="195" name="Google Shape;195;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97" name="Google Shape;197;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98" name="Google Shape;198;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9" name="Google Shape;199;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0" name="Shape 200"/>
        <p:cNvGrpSpPr/>
        <p:nvPr/>
      </p:nvGrpSpPr>
      <p:grpSpPr>
        <a:xfrm>
          <a:off x="0" y="0"/>
          <a:ext cx="0" cy="0"/>
          <a:chOff x="0" y="0"/>
          <a:chExt cx="0" cy="0"/>
        </a:xfrm>
      </p:grpSpPr>
      <p:sp>
        <p:nvSpPr>
          <p:cNvPr id="201" name="Google Shape;20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202" name="Google Shape;202;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03" name="Shape 203"/>
        <p:cNvGrpSpPr/>
        <p:nvPr/>
      </p:nvGrpSpPr>
      <p:grpSpPr>
        <a:xfrm>
          <a:off x="0" y="0"/>
          <a:ext cx="0" cy="0"/>
          <a:chOff x="0" y="0"/>
          <a:chExt cx="0" cy="0"/>
        </a:xfrm>
      </p:grpSpPr>
      <p:sp>
        <p:nvSpPr>
          <p:cNvPr id="204" name="Google Shape;204;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05" name="Google Shape;205;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206" name="Google Shape;206;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7" name="Shape 207"/>
        <p:cNvGrpSpPr/>
        <p:nvPr/>
      </p:nvGrpSpPr>
      <p:grpSpPr>
        <a:xfrm>
          <a:off x="0" y="0"/>
          <a:ext cx="0" cy="0"/>
          <a:chOff x="0" y="0"/>
          <a:chExt cx="0" cy="0"/>
        </a:xfrm>
      </p:grpSpPr>
      <p:sp>
        <p:nvSpPr>
          <p:cNvPr id="208" name="Google Shape;208;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209" name="Shape 209"/>
        <p:cNvGrpSpPr/>
        <p:nvPr/>
      </p:nvGrpSpPr>
      <p:grpSpPr>
        <a:xfrm>
          <a:off x="0" y="0"/>
          <a:ext cx="0" cy="0"/>
          <a:chOff x="0" y="0"/>
          <a:chExt cx="0" cy="0"/>
        </a:xfrm>
      </p:grpSpPr>
      <p:sp>
        <p:nvSpPr>
          <p:cNvPr id="210" name="Google Shape;210;p47"/>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7"/>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7"/>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7"/>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7"/>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7"/>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7"/>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7"/>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7"/>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7"/>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7"/>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7"/>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7"/>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7"/>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7"/>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7"/>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7"/>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7"/>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7"/>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7"/>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7"/>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7"/>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2" name="Google Shape;232;p47"/>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rgbClr val="434343"/>
              </a:buClr>
              <a:buSzPts val="4800"/>
              <a:buNone/>
              <a:defRPr sz="4800">
                <a:solidFill>
                  <a:srgbClr val="434343"/>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233" name="Shape 233"/>
        <p:cNvGrpSpPr/>
        <p:nvPr/>
      </p:nvGrpSpPr>
      <p:grpSpPr>
        <a:xfrm>
          <a:off x="0" y="0"/>
          <a:ext cx="0" cy="0"/>
          <a:chOff x="0" y="0"/>
          <a:chExt cx="0" cy="0"/>
        </a:xfrm>
      </p:grpSpPr>
      <p:sp>
        <p:nvSpPr>
          <p:cNvPr id="234" name="Google Shape;234;p48"/>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5" name="Google Shape;235;p48"/>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8"/>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8"/>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8"/>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8"/>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8"/>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8"/>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8"/>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8"/>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8"/>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8"/>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8"/>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8"/>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8"/>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8"/>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8"/>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8"/>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8"/>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8"/>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8"/>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8"/>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8"/>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7" name="Google Shape;257;p48"/>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800"/>
              <a:buNone/>
              <a:defRPr sz="1800">
                <a:solidFill>
                  <a:srgbClr val="434343"/>
                </a:solidFill>
              </a:defRPr>
            </a:lvl1pPr>
            <a:lvl2pPr lvl="1" algn="ctr">
              <a:spcBef>
                <a:spcPts val="1600"/>
              </a:spcBef>
              <a:spcAft>
                <a:spcPts val="0"/>
              </a:spcAft>
              <a:buClr>
                <a:srgbClr val="434343"/>
              </a:buClr>
              <a:buSzPts val="1800"/>
              <a:buNone/>
              <a:defRPr sz="1800">
                <a:solidFill>
                  <a:srgbClr val="434343"/>
                </a:solidFill>
              </a:defRPr>
            </a:lvl2pPr>
            <a:lvl3pPr lvl="2" algn="ctr">
              <a:spcBef>
                <a:spcPts val="1600"/>
              </a:spcBef>
              <a:spcAft>
                <a:spcPts val="0"/>
              </a:spcAft>
              <a:buClr>
                <a:srgbClr val="434343"/>
              </a:buClr>
              <a:buSzPts val="1800"/>
              <a:buNone/>
              <a:defRPr sz="1800">
                <a:solidFill>
                  <a:srgbClr val="434343"/>
                </a:solidFill>
              </a:defRPr>
            </a:lvl3pPr>
            <a:lvl4pPr lvl="3" algn="ctr">
              <a:spcBef>
                <a:spcPts val="1600"/>
              </a:spcBef>
              <a:spcAft>
                <a:spcPts val="0"/>
              </a:spcAft>
              <a:buClr>
                <a:srgbClr val="434343"/>
              </a:buClr>
              <a:buSzPts val="1400"/>
              <a:buNone/>
              <a:defRPr>
                <a:solidFill>
                  <a:srgbClr val="434343"/>
                </a:solidFill>
              </a:defRPr>
            </a:lvl4pPr>
            <a:lvl5pPr lvl="4" algn="ctr">
              <a:spcBef>
                <a:spcPts val="1600"/>
              </a:spcBef>
              <a:spcAft>
                <a:spcPts val="0"/>
              </a:spcAft>
              <a:buClr>
                <a:srgbClr val="434343"/>
              </a:buClr>
              <a:buSzPts val="1400"/>
              <a:buNone/>
              <a:defRPr>
                <a:solidFill>
                  <a:srgbClr val="434343"/>
                </a:solidFill>
              </a:defRPr>
            </a:lvl5pPr>
            <a:lvl6pPr lvl="5" algn="ctr">
              <a:spcBef>
                <a:spcPts val="1600"/>
              </a:spcBef>
              <a:spcAft>
                <a:spcPts val="0"/>
              </a:spcAft>
              <a:buClr>
                <a:srgbClr val="434343"/>
              </a:buClr>
              <a:buSzPts val="1400"/>
              <a:buNone/>
              <a:defRPr>
                <a:solidFill>
                  <a:srgbClr val="434343"/>
                </a:solidFill>
              </a:defRPr>
            </a:lvl6pPr>
            <a:lvl7pPr lvl="6" algn="ctr">
              <a:spcBef>
                <a:spcPts val="1600"/>
              </a:spcBef>
              <a:spcAft>
                <a:spcPts val="0"/>
              </a:spcAft>
              <a:buClr>
                <a:srgbClr val="434343"/>
              </a:buClr>
              <a:buSzPts val="1400"/>
              <a:buNone/>
              <a:defRPr>
                <a:solidFill>
                  <a:srgbClr val="434343"/>
                </a:solidFill>
              </a:defRPr>
            </a:lvl7pPr>
            <a:lvl8pPr lvl="7" algn="ctr">
              <a:spcBef>
                <a:spcPts val="1600"/>
              </a:spcBef>
              <a:spcAft>
                <a:spcPts val="0"/>
              </a:spcAft>
              <a:buClr>
                <a:srgbClr val="434343"/>
              </a:buClr>
              <a:buSzPts val="1400"/>
              <a:buNone/>
              <a:defRPr>
                <a:solidFill>
                  <a:srgbClr val="434343"/>
                </a:solidFill>
              </a:defRPr>
            </a:lvl8pPr>
            <a:lvl9pPr lvl="8" algn="ctr">
              <a:spcBef>
                <a:spcPts val="1600"/>
              </a:spcBef>
              <a:spcAft>
                <a:spcPts val="1600"/>
              </a:spcAft>
              <a:buClr>
                <a:srgbClr val="434343"/>
              </a:buClr>
              <a:buSzPts val="1400"/>
              <a:buNone/>
              <a:defRPr>
                <a:solidFill>
                  <a:srgbClr val="434343"/>
                </a:solidFill>
              </a:defRPr>
            </a:lvl9pPr>
          </a:lstStyle>
          <a:p/>
        </p:txBody>
      </p:sp>
      <p:sp>
        <p:nvSpPr>
          <p:cNvPr id="258" name="Google Shape;258;p48"/>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60" name="Shape 260"/>
        <p:cNvGrpSpPr/>
        <p:nvPr/>
      </p:nvGrpSpPr>
      <p:grpSpPr>
        <a:xfrm>
          <a:off x="0" y="0"/>
          <a:ext cx="0" cy="0"/>
          <a:chOff x="0" y="0"/>
          <a:chExt cx="0" cy="0"/>
        </a:xfrm>
      </p:grpSpPr>
      <p:sp>
        <p:nvSpPr>
          <p:cNvPr id="261" name="Google Shape;261;p49"/>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algn="ctr">
              <a:spcBef>
                <a:spcPts val="0"/>
              </a:spcBef>
              <a:spcAft>
                <a:spcPts val="0"/>
              </a:spcAft>
              <a:buSzPts val="2400"/>
              <a:buChar char="●"/>
              <a:defRPr i="1" sz="2400"/>
            </a:lvl1pPr>
            <a:lvl2pPr indent="-317500" lvl="1" marL="914400" algn="ctr">
              <a:spcBef>
                <a:spcPts val="1600"/>
              </a:spcBef>
              <a:spcAft>
                <a:spcPts val="0"/>
              </a:spcAft>
              <a:buSzPts val="1400"/>
              <a:buChar char="○"/>
              <a:defRPr i="1"/>
            </a:lvl2pPr>
            <a:lvl3pPr indent="-317500" lvl="2" marL="1371600" algn="ctr">
              <a:spcBef>
                <a:spcPts val="1600"/>
              </a:spcBef>
              <a:spcAft>
                <a:spcPts val="0"/>
              </a:spcAft>
              <a:buSzPts val="1400"/>
              <a:buChar char="■"/>
              <a:defRPr i="1"/>
            </a:lvl3pPr>
            <a:lvl4pPr indent="-381000" lvl="3" marL="1828800" algn="ctr">
              <a:spcBef>
                <a:spcPts val="1600"/>
              </a:spcBef>
              <a:spcAft>
                <a:spcPts val="0"/>
              </a:spcAft>
              <a:buSzPts val="2400"/>
              <a:buChar char="●"/>
              <a:defRPr i="1" sz="2400"/>
            </a:lvl4pPr>
            <a:lvl5pPr indent="-381000" lvl="4" marL="2286000" algn="ctr">
              <a:spcBef>
                <a:spcPts val="1600"/>
              </a:spcBef>
              <a:spcAft>
                <a:spcPts val="0"/>
              </a:spcAft>
              <a:buSzPts val="2400"/>
              <a:buChar char="○"/>
              <a:defRPr i="1" sz="2400"/>
            </a:lvl5pPr>
            <a:lvl6pPr indent="-381000" lvl="5" marL="2743200" algn="ctr">
              <a:spcBef>
                <a:spcPts val="1600"/>
              </a:spcBef>
              <a:spcAft>
                <a:spcPts val="0"/>
              </a:spcAft>
              <a:buSzPts val="2400"/>
              <a:buChar char="■"/>
              <a:defRPr i="1" sz="2400"/>
            </a:lvl6pPr>
            <a:lvl7pPr indent="-381000" lvl="6" marL="3200400" algn="ctr">
              <a:spcBef>
                <a:spcPts val="1600"/>
              </a:spcBef>
              <a:spcAft>
                <a:spcPts val="0"/>
              </a:spcAft>
              <a:buSzPts val="2400"/>
              <a:buChar char="●"/>
              <a:defRPr i="1" sz="2400"/>
            </a:lvl7pPr>
            <a:lvl8pPr indent="-381000" lvl="7" marL="3657600" algn="ctr">
              <a:spcBef>
                <a:spcPts val="1600"/>
              </a:spcBef>
              <a:spcAft>
                <a:spcPts val="0"/>
              </a:spcAft>
              <a:buSzPts val="2400"/>
              <a:buChar char="○"/>
              <a:defRPr i="1" sz="2400"/>
            </a:lvl8pPr>
            <a:lvl9pPr indent="-381000" lvl="8" marL="4114800" algn="ctr">
              <a:spcBef>
                <a:spcPts val="1600"/>
              </a:spcBef>
              <a:spcAft>
                <a:spcPts val="1600"/>
              </a:spcAft>
              <a:buSzPts val="2400"/>
              <a:buChar char="■"/>
              <a:defRPr i="1" sz="2400"/>
            </a:lvl9pPr>
          </a:lstStyle>
          <a:p/>
        </p:txBody>
      </p:sp>
      <p:sp>
        <p:nvSpPr>
          <p:cNvPr id="262" name="Google Shape;262;p49"/>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63" name="Google Shape;263;p49"/>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9"/>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9"/>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9"/>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9"/>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9"/>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9"/>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9"/>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9"/>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9"/>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9"/>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9"/>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9"/>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9"/>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9"/>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9"/>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9"/>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9"/>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9"/>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9"/>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85" name="Shape 285"/>
        <p:cNvGrpSpPr/>
        <p:nvPr/>
      </p:nvGrpSpPr>
      <p:grpSpPr>
        <a:xfrm>
          <a:off x="0" y="0"/>
          <a:ext cx="0" cy="0"/>
          <a:chOff x="0" y="0"/>
          <a:chExt cx="0" cy="0"/>
        </a:xfrm>
      </p:grpSpPr>
      <p:sp>
        <p:nvSpPr>
          <p:cNvPr id="286" name="Google Shape;286;p50"/>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7" name="Google Shape;287;p50"/>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0"/>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0"/>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0"/>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0"/>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0"/>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0"/>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0"/>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0"/>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0"/>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0"/>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0"/>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0"/>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0"/>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1" name="Google Shape;301;p50"/>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2" name="Google Shape;302;p50"/>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3" name="Google Shape;303;p50"/>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4" name="Google Shape;304;p50"/>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305" name="Shape 305"/>
        <p:cNvGrpSpPr/>
        <p:nvPr/>
      </p:nvGrpSpPr>
      <p:grpSpPr>
        <a:xfrm>
          <a:off x="0" y="0"/>
          <a:ext cx="0" cy="0"/>
          <a:chOff x="0" y="0"/>
          <a:chExt cx="0" cy="0"/>
        </a:xfrm>
      </p:grpSpPr>
      <p:sp>
        <p:nvSpPr>
          <p:cNvPr id="306" name="Google Shape;306;p51"/>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7" name="Google Shape;307;p51"/>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2" Type="http://schemas.openxmlformats.org/officeDocument/2006/relationships/theme" Target="../theme/theme4.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theme" Target="../theme/theme2.xml"/><Relationship Id="rId16" Type="http://schemas.openxmlformats.org/officeDocument/2006/relationships/slideLayout" Target="../slideLayouts/slideLayout48.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64" name="Shape 164"/>
        <p:cNvGrpSpPr/>
        <p:nvPr/>
      </p:nvGrpSpPr>
      <p:grpSpPr>
        <a:xfrm>
          <a:off x="0" y="0"/>
          <a:ext cx="0" cy="0"/>
          <a:chOff x="0" y="0"/>
          <a:chExt cx="0" cy="0"/>
        </a:xfrm>
      </p:grpSpPr>
      <p:sp>
        <p:nvSpPr>
          <p:cNvPr id="165" name="Google Shape;16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66" name="Google Shape;166;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167" name="Google Shape;16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2.png"/><Relationship Id="rId6"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hyperlink" Target="https://modernadventure.com/" TargetMode="External"/><Relationship Id="rId9" Type="http://schemas.openxmlformats.org/officeDocument/2006/relationships/image" Target="../media/image15.png"/><Relationship Id="rId5" Type="http://schemas.openxmlformats.org/officeDocument/2006/relationships/hyperlink" Target="https://modernadventure.com/our-trips/" TargetMode="External"/><Relationship Id="rId6" Type="http://schemas.openxmlformats.org/officeDocument/2006/relationships/hyperlink" Target="https://modernadventure.com/our-trips/oaxaca-with-erik-anderson/" TargetMode="External"/><Relationship Id="rId7" Type="http://schemas.openxmlformats.org/officeDocument/2006/relationships/hyperlink" Target="https://modernadventure.com/our-trips/oaxaca-with-heath-ceramics/" TargetMode="External"/><Relationship Id="rId8" Type="http://schemas.openxmlformats.org/officeDocument/2006/relationships/hyperlink" Target="https://modernadventure.com/our-trips/oaxaca-with-fany-gerson/"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 Id="rId3" Type="http://schemas.openxmlformats.org/officeDocument/2006/relationships/hyperlink" Target="https://www.gracerosefarm.com/blogs/news/extending-our-season" TargetMode="External"/><Relationship Id="rId4" Type="http://schemas.openxmlformats.org/officeDocument/2006/relationships/hyperlink" Target="https://www.gracerosefarm.com/blogs/news/getting-to-know-our-customers" TargetMode="External"/><Relationship Id="rId5" Type="http://schemas.openxmlformats.org/officeDocument/2006/relationships/image" Target="../media/image17.png"/><Relationship Id="rId6"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[Client Name]</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[Month]</a:t>
            </a:r>
            <a:r>
              <a:rPr lang="en" sz="1000">
                <a:solidFill>
                  <a:schemeClr val="lt1"/>
                </a:solidFill>
                <a:latin typeface="Proxima Nova"/>
                <a:ea typeface="Proxima Nova"/>
                <a:cs typeface="Proxima Nova"/>
                <a:sym typeface="Proxima Nova"/>
              </a:rPr>
              <a:t> 2025</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5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(Backlinks) </a:t>
            </a:r>
            <a:r>
              <a:rPr lang="en" sz="1200">
                <a:solidFill>
                  <a:schemeClr val="dk1"/>
                </a:solidFill>
                <a:latin typeface="Proxima Nova"/>
                <a:ea typeface="Proxima Nova"/>
                <a:cs typeface="Proxima Nova"/>
                <a:sym typeface="Proxima Nova"/>
              </a:rPr>
              <a:t>-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(Keywords) </a:t>
            </a:r>
            <a:r>
              <a:rPr lang="en" sz="1200">
                <a:solidFill>
                  <a:schemeClr val="dk1"/>
                </a:solidFill>
                <a:latin typeface="Proxima Nova"/>
                <a:ea typeface="Proxima Nova"/>
                <a:cs typeface="Proxima Nova"/>
                <a:sym typeface="Proxima Nova"/>
              </a:rPr>
              <a:t>-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61" name="Google Shape;361;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62" name="Google Shape;362;p5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63" name="Google Shape;363;p56"/>
          <p:cNvGraphicFramePr/>
          <p:nvPr/>
        </p:nvGraphicFramePr>
        <p:xfrm>
          <a:off x="4205638" y="929363"/>
          <a:ext cx="3000000" cy="3000000"/>
        </p:xfrm>
        <a:graphic>
          <a:graphicData uri="http://schemas.openxmlformats.org/drawingml/2006/table">
            <a:tbl>
              <a:tblPr>
                <a:noFill/>
                <a:tableStyleId>{C2A3A82F-E3E7-447F-8D31-E7459E4A45D8}</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7" name="Shape 367"/>
        <p:cNvGrpSpPr/>
        <p:nvPr/>
      </p:nvGrpSpPr>
      <p:grpSpPr>
        <a:xfrm>
          <a:off x="0" y="0"/>
          <a:ext cx="0" cy="0"/>
          <a:chOff x="0" y="0"/>
          <a:chExt cx="0" cy="0"/>
        </a:xfrm>
      </p:grpSpPr>
      <p:pic>
        <p:nvPicPr>
          <p:cNvPr id="368" name="Google Shape;368;p57"/>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69" name="Google Shape;369;p57"/>
          <p:cNvSpPr txBox="1"/>
          <p:nvPr/>
        </p:nvSpPr>
        <p:spPr>
          <a:xfrm>
            <a:off x="384550" y="1195525"/>
            <a:ext cx="85848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[ACTION TO TAKE - DELETE THIS SLDIE WHEN COMPLETE]</a:t>
            </a:r>
            <a:endParaRPr b="1" sz="2400">
              <a:solidFill>
                <a:schemeClr val="lt1"/>
              </a:solidFill>
              <a:latin typeface="Proxima Nova"/>
              <a:ea typeface="Proxima Nova"/>
              <a:cs typeface="Proxima Nova"/>
              <a:sym typeface="Proxima Nova"/>
            </a:endParaRPr>
          </a:p>
        </p:txBody>
      </p:sp>
      <p:sp>
        <p:nvSpPr>
          <p:cNvPr id="370" name="Google Shape;370;p57"/>
          <p:cNvSpPr txBox="1"/>
          <p:nvPr/>
        </p:nvSpPr>
        <p:spPr>
          <a:xfrm>
            <a:off x="384550" y="1650925"/>
            <a:ext cx="7140000" cy="27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From the following set of slides (7-14), keep the slide that applies to your client’s Target Industry (what you selected in the “Getting Started” tab of the WQA, and delete all of the other “What comes out of the “WQA” - Site Sections” slides.</a:t>
            </a:r>
            <a:endParaRPr sz="2400">
              <a:solidFill>
                <a:schemeClr val="lt1"/>
              </a:solidFill>
              <a:latin typeface="Proxima Nova"/>
              <a:ea typeface="Proxima Nova"/>
              <a:cs typeface="Proxima Nova"/>
              <a:sym typeface="Proxima Nova"/>
            </a:endParaRPr>
          </a:p>
        </p:txBody>
      </p:sp>
      <p:pic>
        <p:nvPicPr>
          <p:cNvPr id="371" name="Google Shape;371;p57"/>
          <p:cNvPicPr preferRelativeResize="0"/>
          <p:nvPr/>
        </p:nvPicPr>
        <p:blipFill>
          <a:blip r:embed="rId4">
            <a:alphaModFix/>
          </a:blip>
          <a:stretch>
            <a:fillRect/>
          </a:stretch>
        </p:blipFill>
        <p:spPr>
          <a:xfrm>
            <a:off x="7029450" y="4278199"/>
            <a:ext cx="1712674" cy="403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375" name="Shape 375"/>
        <p:cNvGrpSpPr/>
        <p:nvPr/>
      </p:nvGrpSpPr>
      <p:grpSpPr>
        <a:xfrm>
          <a:off x="0" y="0"/>
          <a:ext cx="0" cy="0"/>
          <a:chOff x="0" y="0"/>
          <a:chExt cx="0" cy="0"/>
        </a:xfrm>
      </p:grpSpPr>
      <p:pic>
        <p:nvPicPr>
          <p:cNvPr id="376" name="Google Shape;376;p5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77" name="Google Shape;377;p5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79" name="Google Shape;379;p5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380" name="Google Shape;380;p58"/>
          <p:cNvGraphicFramePr/>
          <p:nvPr/>
        </p:nvGraphicFramePr>
        <p:xfrm>
          <a:off x="4264750" y="829363"/>
          <a:ext cx="3000000" cy="3000000"/>
        </p:xfrm>
        <a:graphic>
          <a:graphicData uri="http://schemas.openxmlformats.org/drawingml/2006/table">
            <a:tbl>
              <a:tblPr>
                <a:noFill/>
                <a:tableStyleId>{E62DA1B8-9445-4C41-AA5C-8D360C197F99}</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381" name="Google Shape;381;p5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85" name="Shape 385"/>
        <p:cNvGrpSpPr/>
        <p:nvPr/>
      </p:nvGrpSpPr>
      <p:grpSpPr>
        <a:xfrm>
          <a:off x="0" y="0"/>
          <a:ext cx="0" cy="0"/>
          <a:chOff x="0" y="0"/>
          <a:chExt cx="0" cy="0"/>
        </a:xfrm>
      </p:grpSpPr>
      <p:pic>
        <p:nvPicPr>
          <p:cNvPr id="386" name="Google Shape;386;p5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87" name="Google Shape;387;p5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89" name="Google Shape;389;p5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90" name="Google Shape;390;p5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91" name="Google Shape;391;p5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92" name="Google Shape;392;p59"/>
          <p:cNvGraphicFramePr/>
          <p:nvPr/>
        </p:nvGraphicFramePr>
        <p:xfrm>
          <a:off x="4205638" y="929363"/>
          <a:ext cx="3000000" cy="3000000"/>
        </p:xfrm>
        <a:graphic>
          <a:graphicData uri="http://schemas.openxmlformats.org/drawingml/2006/table">
            <a:tbl>
              <a:tblPr>
                <a:noFill/>
                <a:tableStyleId>{C2A3A82F-E3E7-447F-8D31-E7459E4A45D8}</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96" name="Shape 396"/>
        <p:cNvGrpSpPr/>
        <p:nvPr/>
      </p:nvGrpSpPr>
      <p:grpSpPr>
        <a:xfrm>
          <a:off x="0" y="0"/>
          <a:ext cx="0" cy="0"/>
          <a:chOff x="0" y="0"/>
          <a:chExt cx="0" cy="0"/>
        </a:xfrm>
      </p:grpSpPr>
      <p:pic>
        <p:nvPicPr>
          <p:cNvPr id="397" name="Google Shape;397;p6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98" name="Google Shape;398;p6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6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00" name="Google Shape;400;p6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01" name="Google Shape;401;p6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02" name="Google Shape;402;p6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OTA (Online Travel Agencies)</a:t>
            </a:r>
            <a:endParaRPr sz="1600">
              <a:solidFill>
                <a:srgbClr val="E21A6B"/>
              </a:solidFill>
              <a:latin typeface="Proxima Nova"/>
              <a:ea typeface="Proxima Nova"/>
              <a:cs typeface="Proxima Nova"/>
              <a:sym typeface="Proxima Nova"/>
            </a:endParaRPr>
          </a:p>
        </p:txBody>
      </p:sp>
      <p:graphicFrame>
        <p:nvGraphicFramePr>
          <p:cNvPr id="403" name="Google Shape;403;p60"/>
          <p:cNvGraphicFramePr/>
          <p:nvPr/>
        </p:nvGraphicFramePr>
        <p:xfrm>
          <a:off x="4205650" y="1315125"/>
          <a:ext cx="3000000" cy="3000000"/>
        </p:xfrm>
        <a:graphic>
          <a:graphicData uri="http://schemas.openxmlformats.org/drawingml/2006/table">
            <a:tbl>
              <a:tblPr>
                <a:noFill/>
                <a:tableStyleId>{C2A3A82F-E3E7-447F-8D31-E7459E4A45D8}</a:tableStyleId>
              </a:tblPr>
              <a:tblGrid>
                <a:gridCol w="973825"/>
                <a:gridCol w="35938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with search functionality for travel bookings (hotels, flights,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Search Results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Results listing page following user queries for travel products/services.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Individual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information page for a specific hotel, flight, car rental, or vacation package.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offering comprehensive guides to specific travel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Promotions/Deals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current deals, discounts, or promotions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providing travel tips, booking guides, and destination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Organizes blog content into categories for easier browsing and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helpful booking and travel planning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standalone content (e.g., booking strategies, travel hacks).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blog authors or travel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(terms, privacy policy, contact details, support).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providing answers to frequently asked customer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07" name="Shape 407"/>
        <p:cNvGrpSpPr/>
        <p:nvPr/>
      </p:nvGrpSpPr>
      <p:grpSpPr>
        <a:xfrm>
          <a:off x="0" y="0"/>
          <a:ext cx="0" cy="0"/>
          <a:chOff x="0" y="0"/>
          <a:chExt cx="0" cy="0"/>
        </a:xfrm>
      </p:grpSpPr>
      <p:pic>
        <p:nvPicPr>
          <p:cNvPr id="408" name="Google Shape;408;p6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09" name="Google Shape;409;p6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11" name="Google Shape;411;p61"/>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12" name="Google Shape;412;p6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13" name="Google Shape;413;p61"/>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Management Companies (TMC)</a:t>
            </a:r>
            <a:endParaRPr sz="1600">
              <a:solidFill>
                <a:srgbClr val="E21A6B"/>
              </a:solidFill>
              <a:latin typeface="Proxima Nova"/>
              <a:ea typeface="Proxima Nova"/>
              <a:cs typeface="Proxima Nova"/>
              <a:sym typeface="Proxima Nova"/>
            </a:endParaRPr>
          </a:p>
        </p:txBody>
      </p:sp>
      <p:graphicFrame>
        <p:nvGraphicFramePr>
          <p:cNvPr id="414" name="Google Shape;414;p61"/>
          <p:cNvGraphicFramePr/>
          <p:nvPr/>
        </p:nvGraphicFramePr>
        <p:xfrm>
          <a:off x="4196575" y="1200825"/>
          <a:ext cx="3000000" cy="3000000"/>
        </p:xfrm>
        <a:graphic>
          <a:graphicData uri="http://schemas.openxmlformats.org/drawingml/2006/table">
            <a:tbl>
              <a:tblPr>
                <a:noFill/>
                <a:tableStyleId>{C2A3A82F-E3E7-447F-8D31-E7459E4A45D8}</a:tableStyleId>
              </a:tblPr>
              <a:tblGrid>
                <a:gridCol w="973825"/>
                <a:gridCol w="35938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providing overview of services, key benefits, and client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describing specific TMC services (e.g., corporate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Industry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showing expertise within specific industries (e.g., tech, healthcare).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Management Platform</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describing software platforms or tools provided for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Client Success Story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Case studies or success stories highlighting client achievements through the TMC.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covering topics relevant to managed travel and industry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posts into common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resources offering industry insights, travel policy templates,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key destinations served, including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highlighting individual contributors or authors of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Company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background on the TMC company, team, history, and values.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necessary details like privacy policies, FAQs,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Contact / Booking Inquiry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pages/forms for booking or service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18" name="Shape 418"/>
        <p:cNvGrpSpPr/>
        <p:nvPr/>
      </p:nvGrpSpPr>
      <p:grpSpPr>
        <a:xfrm>
          <a:off x="0" y="0"/>
          <a:ext cx="0" cy="0"/>
          <a:chOff x="0" y="0"/>
          <a:chExt cx="0" cy="0"/>
        </a:xfrm>
      </p:grpSpPr>
      <p:pic>
        <p:nvPicPr>
          <p:cNvPr id="419" name="Google Shape;419;p62"/>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20" name="Google Shape;420;p62"/>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62"/>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22" name="Google Shape;422;p62"/>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23" name="Google Shape;423;p62"/>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24" name="Google Shape;424;p62"/>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DMO (Destination Marketing Organizations)</a:t>
            </a:r>
            <a:endParaRPr sz="1600">
              <a:solidFill>
                <a:srgbClr val="E21A6B"/>
              </a:solidFill>
              <a:latin typeface="Proxima Nova"/>
              <a:ea typeface="Proxima Nova"/>
              <a:cs typeface="Proxima Nova"/>
              <a:sym typeface="Proxima Nova"/>
            </a:endParaRPr>
          </a:p>
        </p:txBody>
      </p:sp>
      <p:graphicFrame>
        <p:nvGraphicFramePr>
          <p:cNvPr id="425" name="Google Shape;425;p62"/>
          <p:cNvGraphicFramePr/>
          <p:nvPr/>
        </p:nvGraphicFramePr>
        <p:xfrm>
          <a:off x="4214750" y="836225"/>
          <a:ext cx="3000000" cy="3000000"/>
        </p:xfrm>
        <a:graphic>
          <a:graphicData uri="http://schemas.openxmlformats.org/drawingml/2006/table">
            <a:tbl>
              <a:tblPr>
                <a:noFill/>
                <a:tableStyleId>{C2A3A82F-E3E7-447F-8D31-E7459E4A45D8}</a:tableStyleId>
              </a:tblPr>
              <a:tblGrid>
                <a:gridCol w="1475050"/>
                <a:gridCol w="30926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landing page showcasing highlights of the destination, news, and featured events.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Broad introduction to the destination covering general travel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Region/Subregion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subregions within the main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 Calendar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events, festivals, and seasonal activities within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Things to Do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listing of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Accommodation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Listings or overviews of lodging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Business Directory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Directory of local businesses relevant to tourists.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featuring destination highlights, experiences, and local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content by topic or interest.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Itinerary Ideas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Recommended itineraries or travel routes.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collections showcasing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Press Releases/Media</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updates, announcements, and media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creators or local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site policies, contacts, and general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29" name="Shape 429"/>
        <p:cNvGrpSpPr/>
        <p:nvPr/>
      </p:nvGrpSpPr>
      <p:grpSpPr>
        <a:xfrm>
          <a:off x="0" y="0"/>
          <a:ext cx="0" cy="0"/>
          <a:chOff x="0" y="0"/>
          <a:chExt cx="0" cy="0"/>
        </a:xfrm>
      </p:grpSpPr>
      <p:pic>
        <p:nvPicPr>
          <p:cNvPr id="430" name="Google Shape;430;p6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31" name="Google Shape;431;p6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33" name="Google Shape;433;p6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34" name="Google Shape;434;p6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35" name="Google Shape;435;p6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Hotels, Resorts &amp; Casinos</a:t>
            </a:r>
            <a:endParaRPr sz="1600">
              <a:solidFill>
                <a:srgbClr val="E21A6B"/>
              </a:solidFill>
              <a:latin typeface="Proxima Nova"/>
              <a:ea typeface="Proxima Nova"/>
              <a:cs typeface="Proxima Nova"/>
              <a:sym typeface="Proxima Nova"/>
            </a:endParaRPr>
          </a:p>
        </p:txBody>
      </p:sp>
      <p:graphicFrame>
        <p:nvGraphicFramePr>
          <p:cNvPr id="436" name="Google Shape;436;p63"/>
          <p:cNvGraphicFramePr/>
          <p:nvPr/>
        </p:nvGraphicFramePr>
        <p:xfrm>
          <a:off x="4121350" y="1036250"/>
          <a:ext cx="3000000" cy="3000000"/>
        </p:xfrm>
        <a:graphic>
          <a:graphicData uri="http://schemas.openxmlformats.org/drawingml/2006/table">
            <a:tbl>
              <a:tblPr>
                <a:noFill/>
                <a:tableStyleId>{C2A3A82F-E3E7-447F-8D31-E7459E4A45D8}</a:tableStyleId>
              </a:tblPr>
              <a:tblGrid>
                <a:gridCol w="1043000"/>
                <a:gridCol w="37336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highlighting the property, key amenities, and booking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Room/Accommodation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Specific page detailing each room type or accommodation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Amenities/Facilities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available hotel amenities or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Dining/Restaurant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on-site dining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Entertainment &amp; Casino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specifically detailing entertainment venues or casino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Offers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Promotional offers, discounts, and bundled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the surrounding area or attractions near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Events &amp; Meetings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Facilities and services offered for events, conferences, or weddings.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hotel news, travel advice, and local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 and videos showcasing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(e.g., policies, terms).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content creators or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40" name="Shape 440"/>
        <p:cNvGrpSpPr/>
        <p:nvPr/>
      </p:nvGrpSpPr>
      <p:grpSpPr>
        <a:xfrm>
          <a:off x="0" y="0"/>
          <a:ext cx="0" cy="0"/>
          <a:chOff x="0" y="0"/>
          <a:chExt cx="0" cy="0"/>
        </a:xfrm>
      </p:grpSpPr>
      <p:pic>
        <p:nvPicPr>
          <p:cNvPr id="441" name="Google Shape;441;p64"/>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42" name="Google Shape;442;p64"/>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4"/>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44" name="Google Shape;444;p64"/>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45" name="Google Shape;445;p6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46" name="Google Shape;446;p64"/>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Vacation Rentals</a:t>
            </a:r>
            <a:endParaRPr sz="1600">
              <a:solidFill>
                <a:srgbClr val="E21A6B"/>
              </a:solidFill>
              <a:latin typeface="Proxima Nova"/>
              <a:ea typeface="Proxima Nova"/>
              <a:cs typeface="Proxima Nova"/>
              <a:sym typeface="Proxima Nova"/>
            </a:endParaRPr>
          </a:p>
        </p:txBody>
      </p:sp>
      <p:graphicFrame>
        <p:nvGraphicFramePr>
          <p:cNvPr id="447" name="Google Shape;447;p64"/>
          <p:cNvGraphicFramePr/>
          <p:nvPr/>
        </p:nvGraphicFramePr>
        <p:xfrm>
          <a:off x="4084975" y="943650"/>
          <a:ext cx="3000000" cy="3000000"/>
        </p:xfrm>
        <a:graphic>
          <a:graphicData uri="http://schemas.openxmlformats.org/drawingml/2006/table">
            <a:tbl>
              <a:tblPr>
                <a:noFill/>
                <a:tableStyleId>{C2A3A82F-E3E7-447F-8D31-E7459E4A45D8}</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showcasing featured rentals, locations, and easy search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detailed pages for specific rental properties.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rentals by type (e.g., beachfront, mountain cabin, city apartment).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pages about rental destinations highlighting local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Host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 pages detailing rental property hosts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Policies /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outlining rental policies, terms, and guidelines.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offering travel tips, rental guides, and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posts into clear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guides specific to rental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answering common guest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pages (e.g., privacy policy, terms of service, contact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showcasing authors or contributors of site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galleries showcasing property interiors, exteriors, and surrounding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51" name="Shape 451"/>
        <p:cNvGrpSpPr/>
        <p:nvPr/>
      </p:nvGrpSpPr>
      <p:grpSpPr>
        <a:xfrm>
          <a:off x="0" y="0"/>
          <a:ext cx="0" cy="0"/>
          <a:chOff x="0" y="0"/>
          <a:chExt cx="0" cy="0"/>
        </a:xfrm>
      </p:grpSpPr>
      <p:pic>
        <p:nvPicPr>
          <p:cNvPr id="452" name="Google Shape;452;p65"/>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53" name="Google Shape;453;p65"/>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5"/>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55" name="Google Shape;455;p65"/>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56" name="Google Shape;456;p6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57" name="Google Shape;457;p65"/>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Multi-Day Tours</a:t>
            </a:r>
            <a:endParaRPr sz="1600">
              <a:solidFill>
                <a:srgbClr val="E21A6B"/>
              </a:solidFill>
              <a:latin typeface="Proxima Nova"/>
              <a:ea typeface="Proxima Nova"/>
              <a:cs typeface="Proxima Nova"/>
              <a:sym typeface="Proxima Nova"/>
            </a:endParaRPr>
          </a:p>
        </p:txBody>
      </p:sp>
      <p:graphicFrame>
        <p:nvGraphicFramePr>
          <p:cNvPr id="458" name="Google Shape;458;p65"/>
          <p:cNvGraphicFramePr/>
          <p:nvPr/>
        </p:nvGraphicFramePr>
        <p:xfrm>
          <a:off x="4084975" y="842963"/>
          <a:ext cx="3000000" cy="3000000"/>
        </p:xfrm>
        <a:graphic>
          <a:graphicData uri="http://schemas.openxmlformats.org/drawingml/2006/table">
            <a:tbl>
              <a:tblPr>
                <a:noFill/>
                <a:tableStyleId>{C2A3A82F-E3E7-447F-8D31-E7459E4A45D8}</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Overview page showcasing multi-day tours, featured trips, and customer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individual multi-day tour details including itinerary, inclusions, pricing.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categorizing tours by region, duration, or theme (adventure, cultural, family,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daily breakdown of activities for each tour.</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Departure Schedule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Schedule of upcoming tour departures and availability.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Stories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customer experiences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informational pages about tour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guides (packing lists, preparation advice, travel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about destinations, experiences, travel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articles by theme or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(privacy policy, booking terms, cancellation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showcasing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Photos/videos highlighting experiences from tours.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62" name="Shape 462"/>
        <p:cNvGrpSpPr/>
        <p:nvPr/>
      </p:nvGrpSpPr>
      <p:grpSpPr>
        <a:xfrm>
          <a:off x="0" y="0"/>
          <a:ext cx="0" cy="0"/>
          <a:chOff x="0" y="0"/>
          <a:chExt cx="0" cy="0"/>
        </a:xfrm>
      </p:grpSpPr>
      <p:pic>
        <p:nvPicPr>
          <p:cNvPr id="463" name="Google Shape;463;p6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64" name="Google Shape;464;p6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66" name="Google Shape;466;p6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67" name="Google Shape;467;p6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68" name="Google Shape;468;p6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Charter Company</a:t>
            </a:r>
            <a:endParaRPr sz="1600">
              <a:solidFill>
                <a:srgbClr val="E21A6B"/>
              </a:solidFill>
              <a:latin typeface="Proxima Nova"/>
              <a:ea typeface="Proxima Nova"/>
              <a:cs typeface="Proxima Nova"/>
              <a:sym typeface="Proxima Nova"/>
            </a:endParaRPr>
          </a:p>
        </p:txBody>
      </p:sp>
      <p:graphicFrame>
        <p:nvGraphicFramePr>
          <p:cNvPr id="469" name="Google Shape;469;p66"/>
          <p:cNvGraphicFramePr/>
          <p:nvPr/>
        </p:nvGraphicFramePr>
        <p:xfrm>
          <a:off x="4084975" y="644025"/>
          <a:ext cx="3000000" cy="3000000"/>
        </p:xfrm>
        <a:graphic>
          <a:graphicData uri="http://schemas.openxmlformats.org/drawingml/2006/table">
            <a:tbl>
              <a:tblPr>
                <a:noFill/>
                <a:tableStyleId>{C2A3A82F-E3E7-447F-8D31-E7459E4A45D8}</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Landing page highlighting fleet options, popular charter routes, and booking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detailing each charter service offered (aircraft, yacht, buses).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Fleet Detail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each specific vessel or vehicle in the fleet.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Route/Itinerary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pages for charter routes, itineraries, or popular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destinations accessible via charters.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clearly outlining pricing structures and charter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Testimonials/Reviews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displaying reviews and customer feedback.</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Safety Information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content covering safety protocols and certifications.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sharing charter tips, destination highlights, or company news.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for organizing blog posts into clear topics.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guides providing FAQs, booking tips, and travel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 (privacy policy, terms of service, contact).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contributors to the site.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content showcasing the fleet, destinations, or charter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73" name="Shape 473"/>
        <p:cNvGrpSpPr/>
        <p:nvPr/>
      </p:nvGrpSpPr>
      <p:grpSpPr>
        <a:xfrm>
          <a:off x="0" y="0"/>
          <a:ext cx="0" cy="0"/>
          <a:chOff x="0" y="0"/>
          <a:chExt cx="0" cy="0"/>
        </a:xfrm>
      </p:grpSpPr>
      <p:pic>
        <p:nvPicPr>
          <p:cNvPr id="474" name="Google Shape;474;p6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75" name="Google Shape;475;p6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77" name="Google Shape;477;p67"/>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78" name="Google Shape;478;p6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79" name="Google Shape;479;p67"/>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Media Publishers</a:t>
            </a:r>
            <a:endParaRPr sz="1600">
              <a:solidFill>
                <a:srgbClr val="E21A6B"/>
              </a:solidFill>
              <a:latin typeface="Proxima Nova"/>
              <a:ea typeface="Proxima Nova"/>
              <a:cs typeface="Proxima Nova"/>
              <a:sym typeface="Proxima Nova"/>
            </a:endParaRPr>
          </a:p>
        </p:txBody>
      </p:sp>
      <p:graphicFrame>
        <p:nvGraphicFramePr>
          <p:cNvPr id="480" name="Google Shape;480;p67"/>
          <p:cNvGraphicFramePr/>
          <p:nvPr/>
        </p:nvGraphicFramePr>
        <p:xfrm>
          <a:off x="4081475" y="772200"/>
          <a:ext cx="3000000" cy="3000000"/>
        </p:xfrm>
        <a:graphic>
          <a:graphicData uri="http://schemas.openxmlformats.org/drawingml/2006/table">
            <a:tbl>
              <a:tblPr>
                <a:noFill/>
                <a:tableStyleId>{C2A3A82F-E3E7-447F-8D31-E7459E4A45D8}</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content hub highlighting recent articles, trending content, and featured stories.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Article/Post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or editorial content pieces about travel destinations, tips, or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Article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articles based on common themes or topics (destinations, guides,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and inspirational guides covering various travel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providing practical travel advice, hacks, and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Special Feature / Editorial Series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series or featured stories on specific themes or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Video/Media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specifically for video-based content or multimedia presentations.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contributing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Sponsored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Clearly marked pages featuring sponsored or promotional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Organization of blog posts into clear topic-based groups.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Newsletter/Subscription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encouraging subscription or sign-up for newsletters and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content (terms, privacy policy, contact details).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Kit/Advertise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containing advertising options, rates, and media information for sponsors.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84" name="Shape 484"/>
        <p:cNvGrpSpPr/>
        <p:nvPr/>
      </p:nvGrpSpPr>
      <p:grpSpPr>
        <a:xfrm>
          <a:off x="0" y="0"/>
          <a:ext cx="0" cy="0"/>
          <a:chOff x="0" y="0"/>
          <a:chExt cx="0" cy="0"/>
        </a:xfrm>
      </p:grpSpPr>
      <p:pic>
        <p:nvPicPr>
          <p:cNvPr id="485" name="Google Shape;485;p6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86" name="Google Shape;486;p6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88" name="Google Shape;488;p6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89" name="Google Shape;489;p6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90" name="Google Shape;490;p68"/>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Ancillaries</a:t>
            </a:r>
            <a:endParaRPr sz="1600">
              <a:solidFill>
                <a:srgbClr val="E21A6B"/>
              </a:solidFill>
              <a:latin typeface="Proxima Nova"/>
              <a:ea typeface="Proxima Nova"/>
              <a:cs typeface="Proxima Nova"/>
              <a:sym typeface="Proxima Nova"/>
            </a:endParaRPr>
          </a:p>
        </p:txBody>
      </p:sp>
      <p:graphicFrame>
        <p:nvGraphicFramePr>
          <p:cNvPr id="491" name="Google Shape;491;p68"/>
          <p:cNvGraphicFramePr/>
          <p:nvPr/>
        </p:nvGraphicFramePr>
        <p:xfrm>
          <a:off x="4081475" y="752825"/>
          <a:ext cx="3000000" cy="3000000"/>
        </p:xfrm>
        <a:graphic>
          <a:graphicData uri="http://schemas.openxmlformats.org/drawingml/2006/table">
            <a:tbl>
              <a:tblPr>
                <a:noFill/>
                <a:tableStyleId>{C2A3A82F-E3E7-447F-8D31-E7459E4A45D8}</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highlighting ancillary products, search and selection tools, and featured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specific ancillary products (insurance plans, SIM cards,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Grouping pages by ancillary product types or coverage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Coverage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detailing product applicability by destination or region.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Comparison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enabling users to compare ancillary products side-by-side.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 &amp; Discounts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featuring current promotions, deals, or special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How-To Guide &amp; FAQ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detailed instructions, FAQs, and support for ancillary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customer inquiries, contact information, and support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travel safety, connectivity tips, and product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to organize blog articles.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pages providing detailed advice or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(terms of service, privacy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95" name="Shape 495"/>
        <p:cNvGrpSpPr/>
        <p:nvPr/>
      </p:nvGrpSpPr>
      <p:grpSpPr>
        <a:xfrm>
          <a:off x="0" y="0"/>
          <a:ext cx="0" cy="0"/>
          <a:chOff x="0" y="0"/>
          <a:chExt cx="0" cy="0"/>
        </a:xfrm>
      </p:grpSpPr>
      <p:pic>
        <p:nvPicPr>
          <p:cNvPr id="496" name="Google Shape;496;p6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97" name="Google Shape;497;p6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99" name="Google Shape;499;p6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00" name="Google Shape;500;p6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01" name="Google Shape;501;p6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Ground Transportation</a:t>
            </a:r>
            <a:endParaRPr sz="1600">
              <a:solidFill>
                <a:srgbClr val="E21A6B"/>
              </a:solidFill>
              <a:latin typeface="Proxima Nova"/>
              <a:ea typeface="Proxima Nova"/>
              <a:cs typeface="Proxima Nova"/>
              <a:sym typeface="Proxima Nova"/>
            </a:endParaRPr>
          </a:p>
        </p:txBody>
      </p:sp>
      <p:graphicFrame>
        <p:nvGraphicFramePr>
          <p:cNvPr id="502" name="Google Shape;502;p69"/>
          <p:cNvGraphicFramePr/>
          <p:nvPr/>
        </p:nvGraphicFramePr>
        <p:xfrm>
          <a:off x="4157675" y="881063"/>
          <a:ext cx="3000000" cy="3000000"/>
        </p:xfrm>
        <a:graphic>
          <a:graphicData uri="http://schemas.openxmlformats.org/drawingml/2006/table">
            <a:tbl>
              <a:tblPr>
                <a:noFill/>
                <a:tableStyleId>{C2A3A82F-E3E7-447F-8D31-E7459E4A45D8}</a:tableStyleId>
              </a:tblPr>
              <a:tblGrid>
                <a:gridCol w="1154200"/>
                <a:gridCol w="35861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06" name="Shape 506"/>
        <p:cNvGrpSpPr/>
        <p:nvPr/>
      </p:nvGrpSpPr>
      <p:grpSpPr>
        <a:xfrm>
          <a:off x="0" y="0"/>
          <a:ext cx="0" cy="0"/>
          <a:chOff x="0" y="0"/>
          <a:chExt cx="0" cy="0"/>
        </a:xfrm>
      </p:grpSpPr>
      <p:pic>
        <p:nvPicPr>
          <p:cNvPr id="507" name="Google Shape;507;p7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08" name="Google Shape;508;p7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10" name="Google Shape;510;p7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11" name="Google Shape;511;p7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12" name="Google Shape;512;p7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Ecom (Travel Gear, Clothing &amp; Products)</a:t>
            </a:r>
            <a:endParaRPr sz="1600">
              <a:solidFill>
                <a:srgbClr val="E21A6B"/>
              </a:solidFill>
              <a:latin typeface="Proxima Nova"/>
              <a:ea typeface="Proxima Nova"/>
              <a:cs typeface="Proxima Nova"/>
              <a:sym typeface="Proxima Nova"/>
            </a:endParaRPr>
          </a:p>
        </p:txBody>
      </p:sp>
      <p:graphicFrame>
        <p:nvGraphicFramePr>
          <p:cNvPr id="513" name="Google Shape;513;p70"/>
          <p:cNvGraphicFramePr/>
          <p:nvPr/>
        </p:nvGraphicFramePr>
        <p:xfrm>
          <a:off x="4157675" y="819825"/>
          <a:ext cx="3000000" cy="3000000"/>
        </p:xfrm>
        <a:graphic>
          <a:graphicData uri="http://schemas.openxmlformats.org/drawingml/2006/table">
            <a:tbl>
              <a:tblPr>
                <a:noFill/>
                <a:tableStyleId>{C2A3A82F-E3E7-447F-8D31-E7459E4A45D8}</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17" name="Shape 517"/>
        <p:cNvGrpSpPr/>
        <p:nvPr/>
      </p:nvGrpSpPr>
      <p:grpSpPr>
        <a:xfrm>
          <a:off x="0" y="0"/>
          <a:ext cx="0" cy="0"/>
          <a:chOff x="0" y="0"/>
          <a:chExt cx="0" cy="0"/>
        </a:xfrm>
      </p:grpSpPr>
      <p:pic>
        <p:nvPicPr>
          <p:cNvPr id="518" name="Google Shape;518;p7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19" name="Google Shape;519;p7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521" name="Google Shape;521;p71"/>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522" name="Google Shape;522;p7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523" name="Google Shape;523;p71"/>
          <p:cNvGraphicFramePr/>
          <p:nvPr/>
        </p:nvGraphicFramePr>
        <p:xfrm>
          <a:off x="4119000" y="143575"/>
          <a:ext cx="3000000" cy="3000000"/>
        </p:xfrm>
        <a:graphic>
          <a:graphicData uri="http://schemas.openxmlformats.org/drawingml/2006/table">
            <a:tbl>
              <a:tblPr>
                <a:noFill/>
                <a:tableStyleId>{E62DA1B8-9445-4C41-AA5C-8D360C197F99}</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27" name="Shape 527"/>
        <p:cNvGrpSpPr/>
        <p:nvPr/>
      </p:nvGrpSpPr>
      <p:grpSpPr>
        <a:xfrm>
          <a:off x="0" y="0"/>
          <a:ext cx="0" cy="0"/>
          <a:chOff x="0" y="0"/>
          <a:chExt cx="0" cy="0"/>
        </a:xfrm>
      </p:grpSpPr>
      <p:sp>
        <p:nvSpPr>
          <p:cNvPr id="528" name="Google Shape;528;p72"/>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29" name="Google Shape;529;p72"/>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30" name="Google Shape;530;p72"/>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the structure of the clients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focusing in areas/producing too much content in categories that don’t produce bookings?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too heavy in pages that shouldn’t be indexed?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Or are they structuring their site well, and their appears to be a healthy number of Lead Gen/Product pages, in addition to Resources and Blog Posts?</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31" name="Google Shape;531;p72"/>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32" name="Google Shape;532;p72"/>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Site Structure</a:t>
            </a:r>
            <a:endParaRPr/>
          </a:p>
        </p:txBody>
      </p:sp>
      <p:pic>
        <p:nvPicPr>
          <p:cNvPr id="533" name="Google Shape;533;p72" title="Chart"/>
          <p:cNvPicPr preferRelativeResize="0"/>
          <p:nvPr/>
        </p:nvPicPr>
        <p:blipFill>
          <a:blip r:embed="rId4">
            <a:alphaModFix/>
          </a:blip>
          <a:stretch>
            <a:fillRect/>
          </a:stretch>
        </p:blipFill>
        <p:spPr>
          <a:xfrm>
            <a:off x="279625" y="1124513"/>
            <a:ext cx="5319024" cy="328892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37" name="Shape 537"/>
        <p:cNvGrpSpPr/>
        <p:nvPr/>
      </p:nvGrpSpPr>
      <p:grpSpPr>
        <a:xfrm>
          <a:off x="0" y="0"/>
          <a:ext cx="0" cy="0"/>
          <a:chOff x="0" y="0"/>
          <a:chExt cx="0" cy="0"/>
        </a:xfrm>
      </p:grpSpPr>
      <p:sp>
        <p:nvSpPr>
          <p:cNvPr id="538" name="Google Shape;538;p73"/>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39" name="Google Shape;539;p73"/>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40" name="Google Shape;540;p73"/>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accessibility of their site crawl:</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t>
            </a:r>
            <a:r>
              <a:rPr lang="en" sz="1100">
                <a:solidFill>
                  <a:schemeClr val="dk1"/>
                </a:solidFill>
                <a:latin typeface="Proxima Nova"/>
                <a:ea typeface="Proxima Nova"/>
                <a:cs typeface="Proxima Nova"/>
                <a:sym typeface="Proxima Nova"/>
              </a:rPr>
              <a:t>only</a:t>
            </a:r>
            <a:r>
              <a:rPr lang="en" sz="1100">
                <a:solidFill>
                  <a:schemeClr val="dk1"/>
                </a:solidFill>
                <a:latin typeface="Proxima Nova"/>
                <a:ea typeface="Proxima Nova"/>
                <a:cs typeface="Proxima Nova"/>
                <a:sym typeface="Proxima Nova"/>
              </a:rPr>
              <a:t> 200 Status pages (rare but possible), this slide may be useless, and you may not need to have a chart/highlight this on its own slide. Consider mentioning this in another slide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301s - call this out, and provide context on why this is an issue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404s, explain the significance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 large number of Forbidden responses or Time Out Status, explain this issue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41" name="Google Shape;541;p73"/>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42" name="Google Shape;542;p73"/>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Status Codes Heading</a:t>
            </a:r>
            <a:endParaRPr/>
          </a:p>
        </p:txBody>
      </p:sp>
      <p:pic>
        <p:nvPicPr>
          <p:cNvPr id="543" name="Google Shape;543;p73" title="Chart"/>
          <p:cNvPicPr preferRelativeResize="0"/>
          <p:nvPr/>
        </p:nvPicPr>
        <p:blipFill>
          <a:blip r:embed="rId4">
            <a:alphaModFix/>
          </a:blip>
          <a:stretch>
            <a:fillRect/>
          </a:stretch>
        </p:blipFill>
        <p:spPr>
          <a:xfrm>
            <a:off x="307825" y="1030650"/>
            <a:ext cx="4815951" cy="30822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47" name="Shape 547"/>
        <p:cNvGrpSpPr/>
        <p:nvPr/>
      </p:nvGrpSpPr>
      <p:grpSpPr>
        <a:xfrm>
          <a:off x="0" y="0"/>
          <a:ext cx="0" cy="0"/>
          <a:chOff x="0" y="0"/>
          <a:chExt cx="0" cy="0"/>
        </a:xfrm>
      </p:grpSpPr>
      <p:sp>
        <p:nvSpPr>
          <p:cNvPr id="548" name="Google Shape;548;p74"/>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49" name="Google Shape;549;p74"/>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50" name="Google Shape;550;p74"/>
          <p:cNvSpPr txBox="1"/>
          <p:nvPr/>
        </p:nvSpPr>
        <p:spPr>
          <a:xfrm>
            <a:off x="6020200" y="1986425"/>
            <a:ext cx="2811300" cy="24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Provide insights into the </a:t>
            </a:r>
            <a:r>
              <a:rPr lang="en" sz="1100">
                <a:solidFill>
                  <a:schemeClr val="dk1"/>
                </a:solidFill>
                <a:latin typeface="Proxima Nova"/>
                <a:ea typeface="Proxima Nova"/>
                <a:cs typeface="Proxima Nova"/>
                <a:sym typeface="Proxima Nova"/>
              </a:rPr>
              <a:t>distribution</a:t>
            </a:r>
            <a:r>
              <a:rPr lang="en" sz="1100">
                <a:solidFill>
                  <a:schemeClr val="dk1"/>
                </a:solidFill>
                <a:latin typeface="Proxima Nova"/>
                <a:ea typeface="Proxima Nova"/>
                <a:cs typeface="Proxima Nova"/>
                <a:sym typeface="Proxima Nova"/>
              </a:rPr>
              <a:t> of backlinks across various sections of the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how Link Authority gaps could be strong causes of underperformance.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if there is l</a:t>
            </a:r>
            <a:r>
              <a:rPr lang="en" sz="1100" u="sng">
                <a:solidFill>
                  <a:schemeClr val="dk1"/>
                </a:solidFill>
                <a:latin typeface="Proxima Nova"/>
                <a:ea typeface="Proxima Nova"/>
                <a:cs typeface="Proxima Nova"/>
                <a:sym typeface="Proxima Nova"/>
              </a:rPr>
              <a:t>arge link gap for areas of the site that drive bookings</a:t>
            </a:r>
            <a:r>
              <a:rPr lang="en" sz="1100">
                <a:solidFill>
                  <a:schemeClr val="dk1"/>
                </a:solidFill>
                <a:latin typeface="Proxima Nova"/>
                <a:ea typeface="Proxima Nova"/>
                <a:cs typeface="Proxima Nova"/>
                <a:sym typeface="Proxima Nova"/>
              </a:rPr>
              <a:t>, if applicable.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If possible/applicable, reference Link Gap findings from the Sales Proposal to identify notable gaps (Ex. if target term needs as many backlinks as an entire section of the client’s site currently has.</a:t>
            </a:r>
            <a:endParaRPr sz="1100">
              <a:solidFill>
                <a:schemeClr val="dk1"/>
              </a:solidFill>
              <a:latin typeface="Proxima Nova"/>
              <a:ea typeface="Proxima Nova"/>
              <a:cs typeface="Proxima Nova"/>
              <a:sym typeface="Proxima Nova"/>
            </a:endParaRPr>
          </a:p>
        </p:txBody>
      </p:sp>
      <p:sp>
        <p:nvSpPr>
          <p:cNvPr id="551" name="Google Shape;551;p74"/>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Authority Overview</a:t>
            </a:r>
            <a:endParaRPr sz="1200">
              <a:solidFill>
                <a:schemeClr val="lt1"/>
              </a:solidFill>
              <a:latin typeface="Proxima Nova Extrabold"/>
              <a:ea typeface="Proxima Nova Extrabold"/>
              <a:cs typeface="Proxima Nova Extrabold"/>
              <a:sym typeface="Proxima Nova Extrabold"/>
            </a:endParaRPr>
          </a:p>
        </p:txBody>
      </p:sp>
      <p:sp>
        <p:nvSpPr>
          <p:cNvPr id="552" name="Google Shape;552;p74"/>
          <p:cNvSpPr txBox="1"/>
          <p:nvPr/>
        </p:nvSpPr>
        <p:spPr>
          <a:xfrm>
            <a:off x="6020200" y="112452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Backlinks by Category</a:t>
            </a:r>
            <a:endParaRPr/>
          </a:p>
        </p:txBody>
      </p:sp>
      <p:pic>
        <p:nvPicPr>
          <p:cNvPr id="553" name="Google Shape;553;p74" title="Chart"/>
          <p:cNvPicPr preferRelativeResize="0"/>
          <p:nvPr/>
        </p:nvPicPr>
        <p:blipFill>
          <a:blip r:embed="rId4">
            <a:alphaModFix/>
          </a:blip>
          <a:stretch>
            <a:fillRect/>
          </a:stretch>
        </p:blipFill>
        <p:spPr>
          <a:xfrm>
            <a:off x="515900" y="1159025"/>
            <a:ext cx="4720626" cy="30212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57" name="Shape 557"/>
        <p:cNvGrpSpPr/>
        <p:nvPr/>
      </p:nvGrpSpPr>
      <p:grpSpPr>
        <a:xfrm>
          <a:off x="0" y="0"/>
          <a:ext cx="0" cy="0"/>
          <a:chOff x="0" y="0"/>
          <a:chExt cx="0" cy="0"/>
        </a:xfrm>
      </p:grpSpPr>
      <p:sp>
        <p:nvSpPr>
          <p:cNvPr id="558" name="Google Shape;558;p75"/>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59" name="Google Shape;559;p75"/>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60" name="Google Shape;560;p75"/>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organic traffic by site section.</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What section is bringing in the most traffic? Is this branded or non-branded?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Does performance by site section correlate with the number of pages in each </a:t>
            </a:r>
            <a:r>
              <a:rPr lang="en" sz="1100">
                <a:solidFill>
                  <a:schemeClr val="dk1"/>
                </a:solidFill>
                <a:latin typeface="Proxima Nova"/>
                <a:ea typeface="Proxima Nova"/>
                <a:cs typeface="Proxima Nova"/>
                <a:sym typeface="Proxima Nova"/>
              </a:rPr>
              <a:t>section</a:t>
            </a:r>
            <a:r>
              <a:rPr lang="en" sz="1100">
                <a:solidFill>
                  <a:schemeClr val="dk1"/>
                </a:solidFill>
                <a:latin typeface="Proxima Nova"/>
                <a:ea typeface="Proxima Nova"/>
                <a:cs typeface="Proxima Nova"/>
                <a:sym typeface="Proxima Nova"/>
              </a:rPr>
              <a:t>?</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61" name="Google Shape;561;p75"/>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Traffic</a:t>
            </a:r>
            <a:endParaRPr sz="1200">
              <a:solidFill>
                <a:schemeClr val="lt1"/>
              </a:solidFill>
              <a:latin typeface="Proxima Nova Extrabold"/>
              <a:ea typeface="Proxima Nova Extrabold"/>
              <a:cs typeface="Proxima Nova Extrabold"/>
              <a:sym typeface="Proxima Nova Extrabold"/>
            </a:endParaRPr>
          </a:p>
        </p:txBody>
      </p:sp>
      <p:sp>
        <p:nvSpPr>
          <p:cNvPr id="562" name="Google Shape;562;p75"/>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Sessions by Category</a:t>
            </a:r>
            <a:endParaRPr/>
          </a:p>
        </p:txBody>
      </p:sp>
      <p:pic>
        <p:nvPicPr>
          <p:cNvPr id="563" name="Google Shape;563;p75"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EEEEE"/>
        </a:solidFill>
      </p:bgPr>
    </p:bg>
    <p:spTree>
      <p:nvGrpSpPr>
        <p:cNvPr id="567" name="Shape 567"/>
        <p:cNvGrpSpPr/>
        <p:nvPr/>
      </p:nvGrpSpPr>
      <p:grpSpPr>
        <a:xfrm>
          <a:off x="0" y="0"/>
          <a:ext cx="0" cy="0"/>
          <a:chOff x="0" y="0"/>
          <a:chExt cx="0" cy="0"/>
        </a:xfrm>
      </p:grpSpPr>
      <p:sp>
        <p:nvSpPr>
          <p:cNvPr id="568" name="Google Shape;568;p76"/>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69" name="Google Shape;569;p76"/>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70" name="Google Shape;570;p76"/>
          <p:cNvSpPr txBox="1"/>
          <p:nvPr/>
        </p:nvSpPr>
        <p:spPr>
          <a:xfrm>
            <a:off x="6020200" y="2426350"/>
            <a:ext cx="2811300" cy="19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Number of URLs in the XML Sitemap vs Number of Indexable URLs that are not. </a:t>
            </a:r>
            <a:endParaRPr sz="1100">
              <a:solidFill>
                <a:schemeClr val="dk1"/>
              </a:solidFill>
              <a:latin typeface="Proxima Nova"/>
              <a:ea typeface="Proxima Nova"/>
              <a:cs typeface="Proxima Nova"/>
              <a:sym typeface="Proxima Nova"/>
            </a:endParaRPr>
          </a:p>
        </p:txBody>
      </p:sp>
      <p:sp>
        <p:nvSpPr>
          <p:cNvPr id="571" name="Google Shape;571;p76"/>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72" name="Google Shape;572;p76"/>
          <p:cNvSpPr txBox="1"/>
          <p:nvPr/>
        </p:nvSpPr>
        <p:spPr>
          <a:xfrm>
            <a:off x="6020200" y="1124525"/>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Indexable URLs vs URLs in the XML Sitemap</a:t>
            </a:r>
            <a:endParaRPr/>
          </a:p>
        </p:txBody>
      </p:sp>
      <p:pic>
        <p:nvPicPr>
          <p:cNvPr id="573" name="Google Shape;573;p76"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77" name="Shape 577"/>
        <p:cNvGrpSpPr/>
        <p:nvPr/>
      </p:nvGrpSpPr>
      <p:grpSpPr>
        <a:xfrm>
          <a:off x="0" y="0"/>
          <a:ext cx="0" cy="0"/>
          <a:chOff x="0" y="0"/>
          <a:chExt cx="0" cy="0"/>
        </a:xfrm>
      </p:grpSpPr>
      <p:sp>
        <p:nvSpPr>
          <p:cNvPr id="578" name="Google Shape;578;p77"/>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79" name="Google Shape;579;p77"/>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80" name="Google Shape;580;p77"/>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a:t>
            </a:r>
            <a:r>
              <a:rPr lang="en" sz="1100">
                <a:solidFill>
                  <a:schemeClr val="dk1"/>
                </a:solidFill>
                <a:latin typeface="Proxima Nova"/>
                <a:ea typeface="Proxima Nova"/>
                <a:cs typeface="Proxima Nova"/>
                <a:sym typeface="Proxima Nova"/>
              </a:rPr>
              <a:t>hat</a:t>
            </a:r>
            <a:r>
              <a:rPr lang="en" sz="1100">
                <a:solidFill>
                  <a:schemeClr val="dk1"/>
                </a:solidFill>
                <a:latin typeface="Proxima Nova"/>
                <a:ea typeface="Proxima Nova"/>
                <a:cs typeface="Proxima Nova"/>
                <a:sym typeface="Proxima Nova"/>
              </a:rPr>
              <a:t> sections of the site are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revenue generation split up between several page types, or is there a select few responsible for generating revenue from organic?</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any of their blogs at this time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For the top 5 pages generating revenue, is there a page generating a significant amount in comparison to the entire site?</a:t>
            </a:r>
            <a:endParaRPr sz="1100">
              <a:solidFill>
                <a:schemeClr val="dk1"/>
              </a:solidFill>
              <a:latin typeface="Proxima Nova"/>
              <a:ea typeface="Proxima Nova"/>
              <a:cs typeface="Proxima Nova"/>
              <a:sym typeface="Proxima Nova"/>
            </a:endParaRPr>
          </a:p>
        </p:txBody>
      </p:sp>
      <p:sp>
        <p:nvSpPr>
          <p:cNvPr id="581" name="Google Shape;581;p77"/>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82" name="Google Shape;582;p77"/>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Revenue Heading</a:t>
            </a:r>
            <a:endParaRPr/>
          </a:p>
        </p:txBody>
      </p:sp>
      <p:graphicFrame>
        <p:nvGraphicFramePr>
          <p:cNvPr id="583" name="Google Shape;583;p77"/>
          <p:cNvGraphicFramePr/>
          <p:nvPr/>
        </p:nvGraphicFramePr>
        <p:xfrm>
          <a:off x="170575" y="3115775"/>
          <a:ext cx="3000000" cy="3000000"/>
        </p:xfrm>
        <a:graphic>
          <a:graphicData uri="http://schemas.openxmlformats.org/drawingml/2006/table">
            <a:tbl>
              <a:tblPr>
                <a:noFill/>
                <a:tableStyleId>{C2A3A82F-E3E7-447F-8D31-E7459E4A45D8}</a:tableStyleId>
              </a:tblPr>
              <a:tblGrid>
                <a:gridCol w="3932025"/>
                <a:gridCol w="1268075"/>
              </a:tblGrid>
              <a:tr h="340050">
                <a:tc>
                  <a:txBody>
                    <a:bodyPr/>
                    <a:lstStyle/>
                    <a:p>
                      <a:pPr indent="0" lvl="0" marL="0" rtl="0" algn="l">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Top 5 Pages by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c>
                  <a:txBody>
                    <a:bodyPr/>
                    <a:lstStyle/>
                    <a:p>
                      <a:pPr indent="0" lvl="0" marL="0" rtl="0" algn="ctr">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Purchase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4"/>
                        </a:rPr>
                        <a:t>https://modernadventure.com/</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$43,900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5"/>
                        </a:rPr>
                        <a:t>https://modernadventure.com/our-trips/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6"/>
                        </a:rPr>
                        <a:t>https://modernadventure.com/our-trips/oaxaca-with-erik-anderson/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7"/>
                        </a:rPr>
                        <a:t>https://modernadventure.com/our-trips/oaxaca-with-heath-ceramics/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8"/>
                        </a:rPr>
                        <a:t>https://modernadventure.com/our-trips/oaxaca-with-fany-gerson/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pic>
        <p:nvPicPr>
          <p:cNvPr id="584" name="Google Shape;584;p77" title="Chart"/>
          <p:cNvPicPr preferRelativeResize="0"/>
          <p:nvPr/>
        </p:nvPicPr>
        <p:blipFill>
          <a:blip r:embed="rId9">
            <a:alphaModFix/>
          </a:blip>
          <a:stretch>
            <a:fillRect/>
          </a:stretch>
        </p:blipFill>
        <p:spPr>
          <a:xfrm>
            <a:off x="170575" y="664700"/>
            <a:ext cx="5273841" cy="223258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88" name="Shape 588"/>
        <p:cNvGrpSpPr/>
        <p:nvPr/>
      </p:nvGrpSpPr>
      <p:grpSpPr>
        <a:xfrm>
          <a:off x="0" y="0"/>
          <a:ext cx="0" cy="0"/>
          <a:chOff x="0" y="0"/>
          <a:chExt cx="0" cy="0"/>
        </a:xfrm>
      </p:grpSpPr>
      <p:sp>
        <p:nvSpPr>
          <p:cNvPr id="589" name="Google Shape;589;p78"/>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90" name="Google Shape;590;p78"/>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91" name="Google Shape;591;p78"/>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Of the sections of the site driving revenue from organic, how many pages are actually driving revenue? What percentage?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it a select few pages that are actually ranking and driving revenue, or is it well mixed?</a:t>
            </a:r>
            <a:endParaRPr sz="1100">
              <a:solidFill>
                <a:schemeClr val="dk1"/>
              </a:solidFill>
              <a:latin typeface="Proxima Nova"/>
              <a:ea typeface="Proxima Nova"/>
              <a:cs typeface="Proxima Nova"/>
              <a:sym typeface="Proxima Nova"/>
            </a:endParaRPr>
          </a:p>
        </p:txBody>
      </p:sp>
      <p:sp>
        <p:nvSpPr>
          <p:cNvPr id="592" name="Google Shape;592;p78"/>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93" name="Google Shape;593;p78"/>
          <p:cNvSpPr txBox="1"/>
          <p:nvPr/>
        </p:nvSpPr>
        <p:spPr>
          <a:xfrm>
            <a:off x="6020200" y="1124525"/>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F00D68"/>
                </a:solidFill>
                <a:latin typeface="Proxima Nova"/>
                <a:ea typeface="Proxima Nova"/>
                <a:cs typeface="Proxima Nova"/>
                <a:sym typeface="Proxima Nova"/>
              </a:rPr>
              <a:t>Pages Driving Revenue</a:t>
            </a:r>
            <a:endParaRPr sz="1300"/>
          </a:p>
        </p:txBody>
      </p:sp>
      <p:pic>
        <p:nvPicPr>
          <p:cNvPr id="594" name="Google Shape;594;p78" title="Chart"/>
          <p:cNvPicPr preferRelativeResize="0"/>
          <p:nvPr/>
        </p:nvPicPr>
        <p:blipFill>
          <a:blip r:embed="rId4">
            <a:alphaModFix/>
          </a:blip>
          <a:stretch>
            <a:fillRect/>
          </a:stretch>
        </p:blipFill>
        <p:spPr>
          <a:xfrm>
            <a:off x="170565" y="690600"/>
            <a:ext cx="5273862" cy="22326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598" name="Shape 598"/>
        <p:cNvGrpSpPr/>
        <p:nvPr/>
      </p:nvGrpSpPr>
      <p:grpSpPr>
        <a:xfrm>
          <a:off x="0" y="0"/>
          <a:ext cx="0" cy="0"/>
          <a:chOff x="0" y="0"/>
          <a:chExt cx="0" cy="0"/>
        </a:xfrm>
      </p:grpSpPr>
      <p:sp>
        <p:nvSpPr>
          <p:cNvPr id="599" name="Google Shape;599;p79"/>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9"/>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01" name="Google Shape;601;p79"/>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Next slide will correlate site sections to phases of the Traveler Intent Journey, to help identify where the client’s site is meeting content goals, and where there are large gaps in the customer journey.</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602" name="Google Shape;602;p79"/>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03" name="Google Shape;603;p79"/>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07" name="Shape 607"/>
        <p:cNvGrpSpPr/>
        <p:nvPr/>
      </p:nvGrpSpPr>
      <p:grpSpPr>
        <a:xfrm>
          <a:off x="0" y="0"/>
          <a:ext cx="0" cy="0"/>
          <a:chOff x="0" y="0"/>
          <a:chExt cx="0" cy="0"/>
        </a:xfrm>
      </p:grpSpPr>
      <p:sp>
        <p:nvSpPr>
          <p:cNvPr id="608" name="Google Shape;608;p80"/>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80"/>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10" name="Google Shape;610;p80"/>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 301 URLs and XX 404 links found on the website.</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Give the action task to either replace or remove URL.</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Very strong backlink profile with 99% of DoFollow links pointed at the homepage (XXX links).</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rgbClr val="E21A6B"/>
                </a:solidFill>
                <a:latin typeface="Proxima Nova"/>
                <a:ea typeface="Proxima Nova"/>
                <a:cs typeface="Proxima Nova"/>
                <a:sym typeface="Proxima Nova"/>
              </a:rPr>
              <a:t>We identified the following items  for direct action:</a:t>
            </a:r>
            <a:endParaRPr sz="1200">
              <a:solidFill>
                <a:srgbClr val="E21A6B"/>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Remove the URL</a:t>
            </a:r>
            <a:endParaRPr sz="1200">
              <a:solidFill>
                <a:schemeClr val="dk1"/>
              </a:solidFill>
              <a:latin typeface="Proxima Nova"/>
              <a:ea typeface="Proxima Nova"/>
              <a:cs typeface="Proxima Nova"/>
              <a:sym typeface="Proxima Nova"/>
            </a:endParaRPr>
          </a:p>
          <a:p>
            <a:pPr indent="-304800" lvl="1" marL="9144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3">
                  <a:extLst>
                    <a:ext uri="{A12FA001-AC4F-418D-AE19-62706E023703}">
                      <ahyp:hlinkClr val="tx"/>
                    </a:ext>
                  </a:extLst>
                </a:hlinkClick>
              </a:rPr>
              <a:t>https://www.gracerosefarm.com/blogs/news/extending-our-season</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Replace the URL</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4">
                  <a:extLst>
                    <a:ext uri="{A12FA001-AC4F-418D-AE19-62706E023703}">
                      <ahyp:hlinkClr val="tx"/>
                    </a:ext>
                  </a:extLst>
                </a:hlinkClick>
              </a:rPr>
              <a:t>https://www.gracerosefarm.com/blogs/news/getting-to-know-our-customers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Optimize On-Page SEO</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Product Category pages and important website pages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Content Analysis</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70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Blog posts targeting highly search topics</a:t>
            </a:r>
            <a:endParaRPr sz="1200">
              <a:solidFill>
                <a:schemeClr val="dk1"/>
              </a:solidFill>
              <a:latin typeface="Proxima Nova"/>
              <a:ea typeface="Proxima Nova"/>
              <a:cs typeface="Proxima Nova"/>
              <a:sym typeface="Proxima Nova"/>
            </a:endParaRPr>
          </a:p>
        </p:txBody>
      </p:sp>
      <p:pic>
        <p:nvPicPr>
          <p:cNvPr id="611" name="Google Shape;611;p80"/>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612" name="Google Shape;612;p80"/>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16" name="Shape 616"/>
        <p:cNvGrpSpPr/>
        <p:nvPr/>
      </p:nvGrpSpPr>
      <p:grpSpPr>
        <a:xfrm>
          <a:off x="0" y="0"/>
          <a:ext cx="0" cy="0"/>
          <a:chOff x="0" y="0"/>
          <a:chExt cx="0" cy="0"/>
        </a:xfrm>
      </p:grpSpPr>
      <p:sp>
        <p:nvSpPr>
          <p:cNvPr id="617" name="Google Shape;617;p81"/>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81"/>
          <p:cNvSpPr txBox="1"/>
          <p:nvPr>
            <p:ph type="title"/>
          </p:nvPr>
        </p:nvSpPr>
        <p:spPr>
          <a:xfrm>
            <a:off x="313100" y="1998025"/>
            <a:ext cx="2451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What’s next?</a:t>
            </a:r>
            <a:endParaRPr b="1" sz="2400">
              <a:solidFill>
                <a:srgbClr val="FFFFFF"/>
              </a:solidFill>
              <a:latin typeface="Proxima Nova"/>
              <a:ea typeface="Proxima Nova"/>
              <a:cs typeface="Proxima Nova"/>
              <a:sym typeface="Proxima Nova"/>
            </a:endParaRPr>
          </a:p>
        </p:txBody>
      </p:sp>
      <p:sp>
        <p:nvSpPr>
          <p:cNvPr id="619" name="Google Shape;619;p81"/>
          <p:cNvSpPr txBox="1"/>
          <p:nvPr/>
        </p:nvSpPr>
        <p:spPr>
          <a:xfrm>
            <a:off x="2875500" y="342900"/>
            <a:ext cx="4947000" cy="4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Improving existing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URL Actions</a:t>
            </a:r>
            <a:r>
              <a:rPr lang="en" sz="1200">
                <a:solidFill>
                  <a:schemeClr val="dk1"/>
                </a:solidFill>
                <a:latin typeface="Proxima Nova"/>
                <a:ea typeface="Proxima Nova"/>
                <a:cs typeface="Proxima Nova"/>
                <a:sym typeface="Proxima Nova"/>
              </a:rPr>
              <a:t>: Implement technical changes (no index, 301 redirect,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Keyword Research</a:t>
            </a:r>
            <a:r>
              <a:rPr lang="en" sz="1200">
                <a:solidFill>
                  <a:schemeClr val="dk1"/>
                </a:solidFill>
                <a:latin typeface="Proxima Nova"/>
                <a:ea typeface="Proxima Nova"/>
                <a:cs typeface="Proxima Nova"/>
                <a:sym typeface="Proxima Nova"/>
              </a:rPr>
              <a:t>: Intent mapping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On-Page Recommendations</a:t>
            </a:r>
            <a:r>
              <a:rPr lang="en" sz="1200">
                <a:solidFill>
                  <a:schemeClr val="dk1"/>
                </a:solidFill>
                <a:latin typeface="Proxima Nova"/>
                <a:ea typeface="Proxima Nova"/>
                <a:cs typeface="Proxima Nova"/>
                <a:sym typeface="Proxima Nova"/>
              </a:rPr>
              <a:t>:  Improvements (titles, metas, internal links, body text, schema)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Content Analysis</a:t>
            </a:r>
            <a:r>
              <a:rPr lang="en" sz="1200">
                <a:solidFill>
                  <a:schemeClr val="dk1"/>
                </a:solidFill>
                <a:latin typeface="Proxima Nova"/>
                <a:ea typeface="Proxima Nova"/>
                <a:cs typeface="Proxima Nova"/>
                <a:sym typeface="Proxima Nova"/>
              </a:rPr>
              <a:t>: Improve and update blog post pages with potential to rank for high volume keywords and to merge pages with very similar content</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i="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Creating new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[Replace or remove this section as needed]</a:t>
            </a:r>
            <a:endParaRPr b="1" sz="1200">
              <a:solidFill>
                <a:schemeClr val="dk1"/>
              </a:solidFill>
              <a:latin typeface="Proxima Nova"/>
              <a:ea typeface="Proxima Nova"/>
              <a:cs typeface="Proxima Nova"/>
              <a:sym typeface="Proxima Nova"/>
            </a:endParaRPr>
          </a:p>
        </p:txBody>
      </p:sp>
      <p:pic>
        <p:nvPicPr>
          <p:cNvPr id="620" name="Google Shape;620;p81"/>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21" name="Google Shape;621;p81"/>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25" name="Shape 625"/>
        <p:cNvGrpSpPr/>
        <p:nvPr/>
      </p:nvGrpSpPr>
      <p:grpSpPr>
        <a:xfrm>
          <a:off x="0" y="0"/>
          <a:ext cx="0" cy="0"/>
          <a:chOff x="0" y="0"/>
          <a:chExt cx="0" cy="0"/>
        </a:xfrm>
      </p:grpSpPr>
      <p:sp>
        <p:nvSpPr>
          <p:cNvPr id="626" name="Google Shape;626;p82"/>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627" name="Google Shape;627;p82"/>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628" name="Google Shape;628;p82"/>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629" name="Google Shape;629;p82"/>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