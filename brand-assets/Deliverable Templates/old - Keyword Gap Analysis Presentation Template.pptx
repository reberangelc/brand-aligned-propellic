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Proxima Nova"/>
      <p:regular r:id="rId17"/>
      <p:bold r:id="rId18"/>
      <p:italic r:id="rId19"/>
      <p:boldItalic r:id="rId20"/>
    </p:embeddedFont>
    <p:embeddedFont>
      <p:font typeface="Proxima Nova Extrabold"/>
      <p:bold r:id="rId21"/>
    </p:embeddedFont>
    <p:embeddedFont>
      <p:font typeface="Proxima Nova Semibold"/>
      <p:regular r:id="rId22"/>
      <p:bold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59C8A3C-3F84-4F2D-840A-E27BBBD3F1F0}">
  <a:tblStyle styleId="{D59C8A3C-3F84-4F2D-840A-E27BBBD3F1F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ProximaNova-boldItalic.fntdata"/><Relationship Id="rId11" Type="http://schemas.openxmlformats.org/officeDocument/2006/relationships/slide" Target="slides/slide6.xml"/><Relationship Id="rId22" Type="http://schemas.openxmlformats.org/officeDocument/2006/relationships/font" Target="fonts/ProximaNovaSemibold-regular.fntdata"/><Relationship Id="rId10" Type="http://schemas.openxmlformats.org/officeDocument/2006/relationships/slide" Target="slides/slide5.xml"/><Relationship Id="rId21" Type="http://schemas.openxmlformats.org/officeDocument/2006/relationships/font" Target="fonts/ProximaNovaExtrabold-bold.fntdata"/><Relationship Id="rId13" Type="http://schemas.openxmlformats.org/officeDocument/2006/relationships/slide" Target="slides/slide8.xml"/><Relationship Id="rId24" Type="http://schemas.openxmlformats.org/officeDocument/2006/relationships/font" Target="fonts/ProximaNovaSemibold-boldItalic.fntdata"/><Relationship Id="rId12" Type="http://schemas.openxmlformats.org/officeDocument/2006/relationships/slide" Target="slides/slide7.xml"/><Relationship Id="rId23" Type="http://schemas.openxmlformats.org/officeDocument/2006/relationships/font" Target="fonts/ProximaNovaSemibold-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ProximaNova-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ProximaNova-italic.fntdata"/><Relationship Id="rId6" Type="http://schemas.openxmlformats.org/officeDocument/2006/relationships/slide" Target="slides/slide1.xml"/><Relationship Id="rId18" Type="http://schemas.openxmlformats.org/officeDocument/2006/relationships/font" Target="fonts/ProximaNova-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8f9ad671c9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8f9ad671c9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13aea3b34d8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13aea3b34d8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8f9ad671c9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8f9ad671c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13aea3b34d8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13aea3b34d8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13a59da7b9e_0_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13a59da7b9e_0_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13aea3b34d8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13aea3b34d8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3a59da7b9e_0_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13a59da7b9e_0_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Slide does not require edits - this step is used during hte presentation to segway to the Google Sheets deliverable, and walk the client through how to use it].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8f9ad671c9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8f9ad671c9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ed22b947e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ed22b947e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1bbeb3f7a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1bbeb3f7a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3a59da7b9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13a59da7b9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3.png"/><Relationship Id="rId5"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3.png"/><Relationship Id="rId5"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2731950"/>
            <a:ext cx="8520600" cy="72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b="1" lang="en" sz="4420">
                <a:solidFill>
                  <a:schemeClr val="lt1"/>
                </a:solidFill>
                <a:latin typeface="Proxima Nova"/>
                <a:ea typeface="Proxima Nova"/>
                <a:cs typeface="Proxima Nova"/>
                <a:sym typeface="Proxima Nova"/>
              </a:rPr>
              <a:t>Keyword Gap Analysis</a:t>
            </a:r>
            <a:endParaRPr b="1" sz="4420">
              <a:solidFill>
                <a:schemeClr val="lt1"/>
              </a:solidFill>
              <a:latin typeface="Proxima Nova"/>
              <a:ea typeface="Proxima Nova"/>
              <a:cs typeface="Proxima Nova"/>
              <a:sym typeface="Proxima Nova"/>
            </a:endParaRPr>
          </a:p>
        </p:txBody>
      </p:sp>
      <p:sp>
        <p:nvSpPr>
          <p:cNvPr id="55" name="Google Shape;55;p13"/>
          <p:cNvSpPr txBox="1"/>
          <p:nvPr>
            <p:ph idx="1" type="subTitle"/>
          </p:nvPr>
        </p:nvSpPr>
        <p:spPr>
          <a:xfrm>
            <a:off x="311700" y="3553075"/>
            <a:ext cx="5407500" cy="450600"/>
          </a:xfrm>
          <a:prstGeom prst="rect">
            <a:avLst/>
          </a:prstGeom>
        </p:spPr>
        <p:txBody>
          <a:bodyPr anchorCtr="0" anchor="t" bIns="91425" lIns="91425" spcFirstLastPara="1" rIns="91425" wrap="square" tIns="91425">
            <a:normAutofit/>
          </a:bodyPr>
          <a:lstStyle/>
          <a:p>
            <a:pPr indent="0" lvl="0" marL="0" rtl="0" algn="l">
              <a:lnSpc>
                <a:spcPct val="80000"/>
              </a:lnSpc>
              <a:spcBef>
                <a:spcPts val="0"/>
              </a:spcBef>
              <a:spcAft>
                <a:spcPts val="0"/>
              </a:spcAft>
              <a:buSzPts val="1018"/>
              <a:buNone/>
            </a:pPr>
            <a:r>
              <a:rPr lang="en" sz="2028">
                <a:solidFill>
                  <a:schemeClr val="lt1"/>
                </a:solidFill>
                <a:latin typeface="Proxima Nova"/>
                <a:ea typeface="Proxima Nova"/>
                <a:cs typeface="Proxima Nova"/>
                <a:sym typeface="Proxima Nova"/>
              </a:rPr>
              <a:t>Interactive Competitive Intelligence</a:t>
            </a:r>
            <a:endParaRPr sz="2028">
              <a:solidFill>
                <a:schemeClr val="lt1"/>
              </a:solidFill>
              <a:latin typeface="Proxima Nova"/>
              <a:ea typeface="Proxima Nova"/>
              <a:cs typeface="Proxima Nova"/>
              <a:sym typeface="Proxima Nova"/>
            </a:endParaRPr>
          </a:p>
        </p:txBody>
      </p:sp>
      <p:pic>
        <p:nvPicPr>
          <p:cNvPr id="56" name="Google Shape;56;p13"/>
          <p:cNvPicPr preferRelativeResize="0"/>
          <p:nvPr/>
        </p:nvPicPr>
        <p:blipFill>
          <a:blip r:embed="rId3">
            <a:alphaModFix/>
          </a:blip>
          <a:stretch>
            <a:fillRect/>
          </a:stretch>
        </p:blipFill>
        <p:spPr>
          <a:xfrm>
            <a:off x="402174" y="713560"/>
            <a:ext cx="1598936" cy="376532"/>
          </a:xfrm>
          <a:prstGeom prst="rect">
            <a:avLst/>
          </a:prstGeom>
          <a:noFill/>
          <a:ln>
            <a:noFill/>
          </a:ln>
        </p:spPr>
      </p:pic>
      <p:pic>
        <p:nvPicPr>
          <p:cNvPr id="57" name="Google Shape;57;p13"/>
          <p:cNvPicPr preferRelativeResize="0"/>
          <p:nvPr/>
        </p:nvPicPr>
        <p:blipFill>
          <a:blip r:embed="rId4">
            <a:alphaModFix/>
          </a:blip>
          <a:stretch>
            <a:fillRect/>
          </a:stretch>
        </p:blipFill>
        <p:spPr>
          <a:xfrm>
            <a:off x="2554961" y="645775"/>
            <a:ext cx="512113" cy="512100"/>
          </a:xfrm>
          <a:prstGeom prst="rect">
            <a:avLst/>
          </a:prstGeom>
          <a:noFill/>
          <a:ln>
            <a:noFill/>
          </a:ln>
        </p:spPr>
      </p:pic>
      <p:sp>
        <p:nvSpPr>
          <p:cNvPr id="58" name="Google Shape;58;p13"/>
          <p:cNvSpPr txBox="1"/>
          <p:nvPr>
            <p:ph idx="1" type="subTitle"/>
          </p:nvPr>
        </p:nvSpPr>
        <p:spPr>
          <a:xfrm>
            <a:off x="2068440" y="713548"/>
            <a:ext cx="419100" cy="376500"/>
          </a:xfrm>
          <a:prstGeom prst="rect">
            <a:avLst/>
          </a:prstGeom>
        </p:spPr>
        <p:txBody>
          <a:bodyPr anchorCtr="0" anchor="t" bIns="91425" lIns="91425" spcFirstLastPara="1" rIns="91425" wrap="square" tIns="91425">
            <a:normAutofit fontScale="62500" lnSpcReduction="20000"/>
          </a:bodyPr>
          <a:lstStyle/>
          <a:p>
            <a:pPr indent="0" lvl="0" marL="0" rtl="0" algn="ctr">
              <a:spcBef>
                <a:spcPts val="0"/>
              </a:spcBef>
              <a:spcAft>
                <a:spcPts val="0"/>
              </a:spcAft>
              <a:buNone/>
            </a:pPr>
            <a:r>
              <a:rPr lang="en" sz="2300">
                <a:solidFill>
                  <a:schemeClr val="lt1"/>
                </a:solidFill>
                <a:latin typeface="Proxima Nova Semibold"/>
                <a:ea typeface="Proxima Nova Semibold"/>
                <a:cs typeface="Proxima Nova Semibold"/>
                <a:sym typeface="Proxima Nova Semibold"/>
              </a:rPr>
              <a:t>x</a:t>
            </a:r>
            <a:endParaRPr sz="2300">
              <a:solidFill>
                <a:schemeClr val="lt1"/>
              </a:solidFill>
              <a:latin typeface="Proxima Nova Semibold"/>
              <a:ea typeface="Proxima Nova Semibold"/>
              <a:cs typeface="Proxima Nova Semibold"/>
              <a:sym typeface="Proxima Nova Semibold"/>
            </a:endParaRPr>
          </a:p>
        </p:txBody>
      </p:sp>
      <p:pic>
        <p:nvPicPr>
          <p:cNvPr id="59" name="Google Shape;59;p13"/>
          <p:cNvPicPr preferRelativeResize="0"/>
          <p:nvPr/>
        </p:nvPicPr>
        <p:blipFill rotWithShape="1">
          <a:blip r:embed="rId5">
            <a:alphaModFix/>
          </a:blip>
          <a:srcRect b="0" l="21581" r="0" t="21210"/>
          <a:stretch/>
        </p:blipFill>
        <p:spPr>
          <a:xfrm flipH="1" rot="7">
            <a:off x="7397650" y="-85322"/>
            <a:ext cx="2879850" cy="528974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3" name="Shape 63"/>
        <p:cNvGrpSpPr/>
        <p:nvPr/>
      </p:nvGrpSpPr>
      <p:grpSpPr>
        <a:xfrm>
          <a:off x="0" y="0"/>
          <a:ext cx="0" cy="0"/>
          <a:chOff x="0" y="0"/>
          <a:chExt cx="0" cy="0"/>
        </a:xfrm>
      </p:grpSpPr>
      <p:sp>
        <p:nvSpPr>
          <p:cNvPr id="64" name="Google Shape;64;p14"/>
          <p:cNvSpPr txBox="1"/>
          <p:nvPr>
            <p:ph type="title"/>
          </p:nvPr>
        </p:nvSpPr>
        <p:spPr>
          <a:xfrm>
            <a:off x="311700" y="6367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E21A6B"/>
                </a:solidFill>
                <a:latin typeface="Proxima Nova"/>
                <a:ea typeface="Proxima Nova"/>
                <a:cs typeface="Proxima Nova"/>
                <a:sym typeface="Proxima Nova"/>
              </a:rPr>
              <a:t>The Concept</a:t>
            </a:r>
            <a:endParaRPr b="1">
              <a:solidFill>
                <a:srgbClr val="E21A6B"/>
              </a:solidFill>
              <a:latin typeface="Proxima Nova"/>
              <a:ea typeface="Proxima Nova"/>
              <a:cs typeface="Proxima Nova"/>
              <a:sym typeface="Proxima Nova"/>
            </a:endParaRPr>
          </a:p>
        </p:txBody>
      </p:sp>
      <p:sp>
        <p:nvSpPr>
          <p:cNvPr id="65" name="Google Shape;65;p14"/>
          <p:cNvSpPr txBox="1"/>
          <p:nvPr>
            <p:ph idx="1" type="body"/>
          </p:nvPr>
        </p:nvSpPr>
        <p:spPr>
          <a:xfrm>
            <a:off x="311700" y="1283500"/>
            <a:ext cx="4260300" cy="2447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In most markets, there are organizations who have “been there, and done that.” While sometimes, that can be considered a disadvantage, we see it differently. </a:t>
            </a:r>
            <a:endParaRPr sz="1200">
              <a:solidFill>
                <a:schemeClr val="lt1"/>
              </a:solidFill>
              <a:latin typeface="Proxima Nova"/>
              <a:ea typeface="Proxima Nova"/>
              <a:cs typeface="Proxima Nova"/>
              <a:sym typeface="Proxima Nova"/>
            </a:endParaRPr>
          </a:p>
          <a:p>
            <a:pPr indent="0" lvl="0" marL="0" rtl="0" algn="l">
              <a:spcBef>
                <a:spcPts val="1200"/>
              </a:spcBef>
              <a:spcAft>
                <a:spcPts val="0"/>
              </a:spcAft>
              <a:buNone/>
            </a:pPr>
            <a:r>
              <a:rPr lang="en" sz="1200">
                <a:solidFill>
                  <a:schemeClr val="lt1"/>
                </a:solidFill>
                <a:latin typeface="Proxima Nova"/>
                <a:ea typeface="Proxima Nova"/>
                <a:cs typeface="Proxima Nova"/>
                <a:sym typeface="Proxima Nova"/>
              </a:rPr>
              <a:t>The Keyword Gap Analysis works to uncover what is working for a strategically-selected set of industry search competitors, and the final deliverable allows us to uncover keyword opportunities we otherwise would have missed. </a:t>
            </a:r>
            <a:endParaRPr sz="1200">
              <a:solidFill>
                <a:schemeClr val="lt1"/>
              </a:solidFill>
              <a:latin typeface="Proxima Nova"/>
              <a:ea typeface="Proxima Nova"/>
              <a:cs typeface="Proxima Nova"/>
              <a:sym typeface="Proxima Nova"/>
            </a:endParaRPr>
          </a:p>
          <a:p>
            <a:pPr indent="0" lvl="0" marL="0" rtl="0" algn="l">
              <a:spcBef>
                <a:spcPts val="1200"/>
              </a:spcBef>
              <a:spcAft>
                <a:spcPts val="1200"/>
              </a:spcAft>
              <a:buNone/>
            </a:pPr>
            <a:r>
              <a:rPr lang="en" sz="1200">
                <a:solidFill>
                  <a:schemeClr val="lt1"/>
                </a:solidFill>
                <a:latin typeface="Proxima Nova"/>
                <a:ea typeface="Proxima Nova"/>
                <a:cs typeface="Proxima Nova"/>
                <a:sym typeface="Proxima Nova"/>
              </a:rPr>
              <a:t>These keywords will drive strategy for new content for your website - from resource pages to product and service pages. </a:t>
            </a:r>
            <a:endParaRPr sz="1200">
              <a:solidFill>
                <a:schemeClr val="lt1"/>
              </a:solidFill>
              <a:latin typeface="Proxima Nova"/>
              <a:ea typeface="Proxima Nova"/>
              <a:cs typeface="Proxima Nova"/>
              <a:sym typeface="Proxima Nova"/>
            </a:endParaRPr>
          </a:p>
        </p:txBody>
      </p:sp>
      <p:pic>
        <p:nvPicPr>
          <p:cNvPr id="66" name="Google Shape;66;p14"/>
          <p:cNvPicPr preferRelativeResize="0"/>
          <p:nvPr/>
        </p:nvPicPr>
        <p:blipFill>
          <a:blip r:embed="rId3">
            <a:alphaModFix/>
          </a:blip>
          <a:stretch>
            <a:fillRect/>
          </a:stretch>
        </p:blipFill>
        <p:spPr>
          <a:xfrm>
            <a:off x="5064150" y="1653800"/>
            <a:ext cx="3951244" cy="2867274"/>
          </a:xfrm>
          <a:prstGeom prst="rect">
            <a:avLst/>
          </a:prstGeom>
          <a:noFill/>
          <a:ln>
            <a:noFill/>
          </a:ln>
        </p:spPr>
      </p:pic>
      <p:pic>
        <p:nvPicPr>
          <p:cNvPr id="67" name="Google Shape;67;p14"/>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 name="Shape 71"/>
        <p:cNvGrpSpPr/>
        <p:nvPr/>
      </p:nvGrpSpPr>
      <p:grpSpPr>
        <a:xfrm>
          <a:off x="0" y="0"/>
          <a:ext cx="0" cy="0"/>
          <a:chOff x="0" y="0"/>
          <a:chExt cx="0" cy="0"/>
        </a:xfrm>
      </p:grpSpPr>
      <p:sp>
        <p:nvSpPr>
          <p:cNvPr id="72" name="Google Shape;72;p15"/>
          <p:cNvSpPr/>
          <p:nvPr/>
        </p:nvSpPr>
        <p:spPr>
          <a:xfrm rot="5400000">
            <a:off x="3864900" y="-135725"/>
            <a:ext cx="1392900" cy="9165300"/>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5"/>
          <p:cNvSpPr txBox="1"/>
          <p:nvPr>
            <p:ph type="title"/>
          </p:nvPr>
        </p:nvSpPr>
        <p:spPr>
          <a:xfrm>
            <a:off x="311700" y="6367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891"/>
              <a:buNone/>
            </a:pPr>
            <a:r>
              <a:rPr b="1" lang="en" sz="2518">
                <a:solidFill>
                  <a:srgbClr val="E21A6B"/>
                </a:solidFill>
                <a:latin typeface="Proxima Nova"/>
                <a:ea typeface="Proxima Nova"/>
                <a:cs typeface="Proxima Nova"/>
                <a:sym typeface="Proxima Nova"/>
              </a:rPr>
              <a:t>Your Competition</a:t>
            </a:r>
            <a:endParaRPr b="1" sz="2518">
              <a:solidFill>
                <a:srgbClr val="E21A6B"/>
              </a:solidFill>
              <a:latin typeface="Proxima Nova"/>
              <a:ea typeface="Proxima Nova"/>
              <a:cs typeface="Proxima Nova"/>
              <a:sym typeface="Proxima Nova"/>
            </a:endParaRPr>
          </a:p>
        </p:txBody>
      </p:sp>
      <p:sp>
        <p:nvSpPr>
          <p:cNvPr id="74" name="Google Shape;74;p15"/>
          <p:cNvSpPr txBox="1"/>
          <p:nvPr>
            <p:ph idx="1" type="body"/>
          </p:nvPr>
        </p:nvSpPr>
        <p:spPr>
          <a:xfrm>
            <a:off x="311700" y="1174075"/>
            <a:ext cx="8520600" cy="3225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688"/>
              <a:buNone/>
            </a:pPr>
            <a:r>
              <a:rPr lang="en" sz="1238">
                <a:solidFill>
                  <a:schemeClr val="lt1"/>
                </a:solidFill>
                <a:latin typeface="Proxima Nova"/>
                <a:ea typeface="Proxima Nova"/>
                <a:cs typeface="Proxima Nova"/>
                <a:sym typeface="Proxima Nova"/>
              </a:rPr>
              <a:t>We agreed on a select set of competitors. At a high-level, here are their metrics:</a:t>
            </a:r>
            <a:endParaRPr sz="1238">
              <a:solidFill>
                <a:schemeClr val="lt1"/>
              </a:solidFill>
              <a:latin typeface="Proxima Nova"/>
              <a:ea typeface="Proxima Nova"/>
              <a:cs typeface="Proxima Nova"/>
              <a:sym typeface="Proxima Nova"/>
            </a:endParaRPr>
          </a:p>
        </p:txBody>
      </p:sp>
      <p:sp>
        <p:nvSpPr>
          <p:cNvPr id="75" name="Google Shape;75;p15"/>
          <p:cNvSpPr/>
          <p:nvPr/>
        </p:nvSpPr>
        <p:spPr>
          <a:xfrm>
            <a:off x="575913" y="1859925"/>
            <a:ext cx="1177800" cy="2679300"/>
          </a:xfrm>
          <a:prstGeom prst="rect">
            <a:avLst/>
          </a:prstGeom>
          <a:solidFill>
            <a:schemeClr val="lt1"/>
          </a:solidFill>
          <a:ln cap="flat" cmpd="sng" w="9525">
            <a:solidFill>
              <a:srgbClr val="E21A6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Proxima Nova"/>
                <a:ea typeface="Proxima Nova"/>
                <a:cs typeface="Proxima Nova"/>
                <a:sym typeface="Proxima Nova"/>
              </a:rPr>
              <a:t>You</a:t>
            </a:r>
            <a:endParaRPr>
              <a:latin typeface="Proxima Nova"/>
              <a:ea typeface="Proxima Nova"/>
              <a:cs typeface="Proxima Nova"/>
              <a:sym typeface="Proxima Nova"/>
            </a:endParaRPr>
          </a:p>
        </p:txBody>
      </p:sp>
      <p:sp>
        <p:nvSpPr>
          <p:cNvPr id="76" name="Google Shape;76;p15"/>
          <p:cNvSpPr/>
          <p:nvPr/>
        </p:nvSpPr>
        <p:spPr>
          <a:xfrm>
            <a:off x="1938788" y="1859925"/>
            <a:ext cx="1177800" cy="2679300"/>
          </a:xfrm>
          <a:prstGeom prst="rect">
            <a:avLst/>
          </a:prstGeom>
          <a:solidFill>
            <a:schemeClr val="lt1"/>
          </a:solidFill>
          <a:ln cap="flat" cmpd="sng" w="9525">
            <a:solidFill>
              <a:srgbClr val="E21A6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Proxima Nova"/>
                <a:ea typeface="Proxima Nova"/>
                <a:cs typeface="Proxima Nova"/>
                <a:sym typeface="Proxima Nova"/>
              </a:rPr>
              <a:t>Comp 1</a:t>
            </a:r>
            <a:endParaRPr>
              <a:latin typeface="Proxima Nova"/>
              <a:ea typeface="Proxima Nova"/>
              <a:cs typeface="Proxima Nova"/>
              <a:sym typeface="Proxima Nova"/>
            </a:endParaRPr>
          </a:p>
        </p:txBody>
      </p:sp>
      <p:sp>
        <p:nvSpPr>
          <p:cNvPr id="77" name="Google Shape;77;p15"/>
          <p:cNvSpPr/>
          <p:nvPr/>
        </p:nvSpPr>
        <p:spPr>
          <a:xfrm>
            <a:off x="3301663" y="1859925"/>
            <a:ext cx="1177800" cy="2679300"/>
          </a:xfrm>
          <a:prstGeom prst="rect">
            <a:avLst/>
          </a:prstGeom>
          <a:solidFill>
            <a:schemeClr val="lt1"/>
          </a:solidFill>
          <a:ln cap="flat" cmpd="sng" w="9525">
            <a:solidFill>
              <a:srgbClr val="E21A6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Proxima Nova"/>
                <a:ea typeface="Proxima Nova"/>
                <a:cs typeface="Proxima Nova"/>
                <a:sym typeface="Proxima Nova"/>
              </a:rPr>
              <a:t>Comp 2</a:t>
            </a:r>
            <a:endParaRPr>
              <a:latin typeface="Proxima Nova"/>
              <a:ea typeface="Proxima Nova"/>
              <a:cs typeface="Proxima Nova"/>
              <a:sym typeface="Proxima Nova"/>
            </a:endParaRPr>
          </a:p>
        </p:txBody>
      </p:sp>
      <p:sp>
        <p:nvSpPr>
          <p:cNvPr id="78" name="Google Shape;78;p15"/>
          <p:cNvSpPr/>
          <p:nvPr/>
        </p:nvSpPr>
        <p:spPr>
          <a:xfrm>
            <a:off x="4664538" y="1859925"/>
            <a:ext cx="1177800" cy="2679300"/>
          </a:xfrm>
          <a:prstGeom prst="rect">
            <a:avLst/>
          </a:prstGeom>
          <a:solidFill>
            <a:schemeClr val="lt1"/>
          </a:solidFill>
          <a:ln cap="flat" cmpd="sng" w="9525">
            <a:solidFill>
              <a:srgbClr val="E21A6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Proxima Nova"/>
                <a:ea typeface="Proxima Nova"/>
                <a:cs typeface="Proxima Nova"/>
                <a:sym typeface="Proxima Nova"/>
              </a:rPr>
              <a:t>Comp 3</a:t>
            </a:r>
            <a:endParaRPr>
              <a:latin typeface="Proxima Nova"/>
              <a:ea typeface="Proxima Nova"/>
              <a:cs typeface="Proxima Nova"/>
              <a:sym typeface="Proxima Nova"/>
            </a:endParaRPr>
          </a:p>
        </p:txBody>
      </p:sp>
      <p:sp>
        <p:nvSpPr>
          <p:cNvPr id="79" name="Google Shape;79;p15"/>
          <p:cNvSpPr/>
          <p:nvPr/>
        </p:nvSpPr>
        <p:spPr>
          <a:xfrm>
            <a:off x="6027413" y="1859925"/>
            <a:ext cx="1177800" cy="2679300"/>
          </a:xfrm>
          <a:prstGeom prst="rect">
            <a:avLst/>
          </a:prstGeom>
          <a:solidFill>
            <a:schemeClr val="lt1"/>
          </a:solidFill>
          <a:ln cap="flat" cmpd="sng" w="9525">
            <a:solidFill>
              <a:srgbClr val="E21A6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Proxima Nova"/>
                <a:ea typeface="Proxima Nova"/>
                <a:cs typeface="Proxima Nova"/>
                <a:sym typeface="Proxima Nova"/>
              </a:rPr>
              <a:t>Comp 4</a:t>
            </a:r>
            <a:endParaRPr>
              <a:latin typeface="Proxima Nova"/>
              <a:ea typeface="Proxima Nova"/>
              <a:cs typeface="Proxima Nova"/>
              <a:sym typeface="Proxima Nova"/>
            </a:endParaRPr>
          </a:p>
        </p:txBody>
      </p:sp>
      <p:sp>
        <p:nvSpPr>
          <p:cNvPr id="80" name="Google Shape;80;p15"/>
          <p:cNvSpPr/>
          <p:nvPr/>
        </p:nvSpPr>
        <p:spPr>
          <a:xfrm>
            <a:off x="7390288" y="1859925"/>
            <a:ext cx="1177800" cy="2679300"/>
          </a:xfrm>
          <a:prstGeom prst="rect">
            <a:avLst/>
          </a:prstGeom>
          <a:solidFill>
            <a:schemeClr val="lt1"/>
          </a:solidFill>
          <a:ln cap="flat" cmpd="sng" w="9525">
            <a:solidFill>
              <a:srgbClr val="E21A6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Proxima Nova"/>
                <a:ea typeface="Proxima Nova"/>
                <a:cs typeface="Proxima Nova"/>
                <a:sym typeface="Proxima Nova"/>
              </a:rPr>
              <a:t>Comp 5</a:t>
            </a:r>
            <a:endParaRPr>
              <a:latin typeface="Proxima Nova"/>
              <a:ea typeface="Proxima Nova"/>
              <a:cs typeface="Proxima Nova"/>
              <a:sym typeface="Proxima Nova"/>
            </a:endParaRPr>
          </a:p>
        </p:txBody>
      </p:sp>
      <p:sp>
        <p:nvSpPr>
          <p:cNvPr id="81" name="Google Shape;81;p15"/>
          <p:cNvSpPr/>
          <p:nvPr/>
        </p:nvSpPr>
        <p:spPr>
          <a:xfrm>
            <a:off x="698588" y="2265000"/>
            <a:ext cx="899700" cy="613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Proxima Nova"/>
                <a:ea typeface="Proxima Nova"/>
                <a:cs typeface="Proxima Nova"/>
                <a:sym typeface="Proxima Nova"/>
              </a:rPr>
              <a:t>Logo</a:t>
            </a:r>
            <a:endParaRPr>
              <a:latin typeface="Proxima Nova"/>
              <a:ea typeface="Proxima Nova"/>
              <a:cs typeface="Proxima Nova"/>
              <a:sym typeface="Proxima Nova"/>
            </a:endParaRPr>
          </a:p>
        </p:txBody>
      </p:sp>
      <p:sp>
        <p:nvSpPr>
          <p:cNvPr id="82" name="Google Shape;82;p15"/>
          <p:cNvSpPr/>
          <p:nvPr/>
        </p:nvSpPr>
        <p:spPr>
          <a:xfrm>
            <a:off x="2077838" y="2265000"/>
            <a:ext cx="899700" cy="613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Proxima Nova"/>
                <a:ea typeface="Proxima Nova"/>
                <a:cs typeface="Proxima Nova"/>
                <a:sym typeface="Proxima Nova"/>
              </a:rPr>
              <a:t>Logo</a:t>
            </a:r>
            <a:endParaRPr>
              <a:latin typeface="Proxima Nova"/>
              <a:ea typeface="Proxima Nova"/>
              <a:cs typeface="Proxima Nova"/>
              <a:sym typeface="Proxima Nova"/>
            </a:endParaRPr>
          </a:p>
        </p:txBody>
      </p:sp>
      <p:sp>
        <p:nvSpPr>
          <p:cNvPr id="83" name="Google Shape;83;p15"/>
          <p:cNvSpPr/>
          <p:nvPr/>
        </p:nvSpPr>
        <p:spPr>
          <a:xfrm>
            <a:off x="3440713" y="2265000"/>
            <a:ext cx="899700" cy="613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Proxima Nova"/>
                <a:ea typeface="Proxima Nova"/>
                <a:cs typeface="Proxima Nova"/>
                <a:sym typeface="Proxima Nova"/>
              </a:rPr>
              <a:t>Logo</a:t>
            </a:r>
            <a:endParaRPr>
              <a:latin typeface="Proxima Nova"/>
              <a:ea typeface="Proxima Nova"/>
              <a:cs typeface="Proxima Nova"/>
              <a:sym typeface="Proxima Nova"/>
            </a:endParaRPr>
          </a:p>
        </p:txBody>
      </p:sp>
      <p:sp>
        <p:nvSpPr>
          <p:cNvPr id="84" name="Google Shape;84;p15"/>
          <p:cNvSpPr/>
          <p:nvPr/>
        </p:nvSpPr>
        <p:spPr>
          <a:xfrm>
            <a:off x="4795400" y="2265000"/>
            <a:ext cx="899700" cy="613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Proxima Nova"/>
                <a:ea typeface="Proxima Nova"/>
                <a:cs typeface="Proxima Nova"/>
                <a:sym typeface="Proxima Nova"/>
              </a:rPr>
              <a:t>Logo</a:t>
            </a:r>
            <a:endParaRPr>
              <a:latin typeface="Proxima Nova"/>
              <a:ea typeface="Proxima Nova"/>
              <a:cs typeface="Proxima Nova"/>
              <a:sym typeface="Proxima Nova"/>
            </a:endParaRPr>
          </a:p>
        </p:txBody>
      </p:sp>
      <p:sp>
        <p:nvSpPr>
          <p:cNvPr id="85" name="Google Shape;85;p15"/>
          <p:cNvSpPr/>
          <p:nvPr/>
        </p:nvSpPr>
        <p:spPr>
          <a:xfrm>
            <a:off x="6174650" y="2265000"/>
            <a:ext cx="899700" cy="613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Proxima Nova"/>
                <a:ea typeface="Proxima Nova"/>
                <a:cs typeface="Proxima Nova"/>
                <a:sym typeface="Proxima Nova"/>
              </a:rPr>
              <a:t>Logo</a:t>
            </a:r>
            <a:endParaRPr>
              <a:latin typeface="Proxima Nova"/>
              <a:ea typeface="Proxima Nova"/>
              <a:cs typeface="Proxima Nova"/>
              <a:sym typeface="Proxima Nova"/>
            </a:endParaRPr>
          </a:p>
        </p:txBody>
      </p:sp>
      <p:sp>
        <p:nvSpPr>
          <p:cNvPr id="86" name="Google Shape;86;p15"/>
          <p:cNvSpPr/>
          <p:nvPr/>
        </p:nvSpPr>
        <p:spPr>
          <a:xfrm>
            <a:off x="7537525" y="2265000"/>
            <a:ext cx="899700" cy="613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Proxima Nova"/>
                <a:ea typeface="Proxima Nova"/>
                <a:cs typeface="Proxima Nova"/>
                <a:sym typeface="Proxima Nova"/>
              </a:rPr>
              <a:t>Logo</a:t>
            </a:r>
            <a:endParaRPr>
              <a:latin typeface="Proxima Nova"/>
              <a:ea typeface="Proxima Nova"/>
              <a:cs typeface="Proxima Nova"/>
              <a:sym typeface="Proxima Nova"/>
            </a:endParaRPr>
          </a:p>
        </p:txBody>
      </p:sp>
      <p:sp>
        <p:nvSpPr>
          <p:cNvPr id="87" name="Google Shape;87;p15"/>
          <p:cNvSpPr/>
          <p:nvPr/>
        </p:nvSpPr>
        <p:spPr>
          <a:xfrm>
            <a:off x="698588" y="2998100"/>
            <a:ext cx="899700" cy="322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latin typeface="Proxima Nova"/>
                <a:ea typeface="Proxima Nova"/>
                <a:cs typeface="Proxima Nova"/>
                <a:sym typeface="Proxima Nova"/>
              </a:rPr>
              <a:t>1.5k Visitors/mo</a:t>
            </a:r>
            <a:endParaRPr sz="700">
              <a:latin typeface="Proxima Nova"/>
              <a:ea typeface="Proxima Nova"/>
              <a:cs typeface="Proxima Nova"/>
              <a:sym typeface="Proxima Nova"/>
            </a:endParaRPr>
          </a:p>
        </p:txBody>
      </p:sp>
      <p:sp>
        <p:nvSpPr>
          <p:cNvPr id="88" name="Google Shape;88;p15"/>
          <p:cNvSpPr/>
          <p:nvPr/>
        </p:nvSpPr>
        <p:spPr>
          <a:xfrm>
            <a:off x="2077840" y="2998100"/>
            <a:ext cx="899700" cy="322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Proxima Nova"/>
                <a:ea typeface="Proxima Nova"/>
                <a:cs typeface="Proxima Nova"/>
                <a:sym typeface="Proxima Nova"/>
              </a:rPr>
              <a:t>1.5k Visitors/mo</a:t>
            </a:r>
            <a:endParaRPr sz="1000">
              <a:solidFill>
                <a:schemeClr val="dk1"/>
              </a:solidFill>
              <a:latin typeface="Proxima Nova"/>
              <a:ea typeface="Proxima Nova"/>
              <a:cs typeface="Proxima Nova"/>
              <a:sym typeface="Proxima Nova"/>
            </a:endParaRPr>
          </a:p>
        </p:txBody>
      </p:sp>
      <p:sp>
        <p:nvSpPr>
          <p:cNvPr id="89" name="Google Shape;89;p15"/>
          <p:cNvSpPr/>
          <p:nvPr/>
        </p:nvSpPr>
        <p:spPr>
          <a:xfrm>
            <a:off x="3440717" y="2998100"/>
            <a:ext cx="899700" cy="322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Proxima Nova"/>
                <a:ea typeface="Proxima Nova"/>
                <a:cs typeface="Proxima Nova"/>
                <a:sym typeface="Proxima Nova"/>
              </a:rPr>
              <a:t>1.5k Visitors/mo</a:t>
            </a:r>
            <a:endParaRPr sz="1000">
              <a:solidFill>
                <a:schemeClr val="dk1"/>
              </a:solidFill>
              <a:latin typeface="Proxima Nova"/>
              <a:ea typeface="Proxima Nova"/>
              <a:cs typeface="Proxima Nova"/>
              <a:sym typeface="Proxima Nova"/>
            </a:endParaRPr>
          </a:p>
        </p:txBody>
      </p:sp>
      <p:sp>
        <p:nvSpPr>
          <p:cNvPr id="90" name="Google Shape;90;p15"/>
          <p:cNvSpPr/>
          <p:nvPr/>
        </p:nvSpPr>
        <p:spPr>
          <a:xfrm>
            <a:off x="4795407" y="2998100"/>
            <a:ext cx="899700" cy="322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Proxima Nova"/>
                <a:ea typeface="Proxima Nova"/>
                <a:cs typeface="Proxima Nova"/>
                <a:sym typeface="Proxima Nova"/>
              </a:rPr>
              <a:t>1.5k Visitors/mo</a:t>
            </a:r>
            <a:endParaRPr sz="1000">
              <a:solidFill>
                <a:schemeClr val="dk1"/>
              </a:solidFill>
              <a:latin typeface="Proxima Nova"/>
              <a:ea typeface="Proxima Nova"/>
              <a:cs typeface="Proxima Nova"/>
              <a:sym typeface="Proxima Nova"/>
            </a:endParaRPr>
          </a:p>
        </p:txBody>
      </p:sp>
      <p:sp>
        <p:nvSpPr>
          <p:cNvPr id="91" name="Google Shape;91;p15"/>
          <p:cNvSpPr/>
          <p:nvPr/>
        </p:nvSpPr>
        <p:spPr>
          <a:xfrm>
            <a:off x="6174659" y="2998100"/>
            <a:ext cx="899700" cy="322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Proxima Nova"/>
                <a:ea typeface="Proxima Nova"/>
                <a:cs typeface="Proxima Nova"/>
                <a:sym typeface="Proxima Nova"/>
              </a:rPr>
              <a:t>1.5k Visitors/mo</a:t>
            </a:r>
            <a:endParaRPr sz="1000">
              <a:solidFill>
                <a:schemeClr val="dk1"/>
              </a:solidFill>
              <a:latin typeface="Proxima Nova"/>
              <a:ea typeface="Proxima Nova"/>
              <a:cs typeface="Proxima Nova"/>
              <a:sym typeface="Proxima Nova"/>
            </a:endParaRPr>
          </a:p>
        </p:txBody>
      </p:sp>
      <p:sp>
        <p:nvSpPr>
          <p:cNvPr id="92" name="Google Shape;92;p15"/>
          <p:cNvSpPr/>
          <p:nvPr/>
        </p:nvSpPr>
        <p:spPr>
          <a:xfrm>
            <a:off x="7537536" y="2998100"/>
            <a:ext cx="899700" cy="322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Proxima Nova"/>
                <a:ea typeface="Proxima Nova"/>
                <a:cs typeface="Proxima Nova"/>
                <a:sym typeface="Proxima Nova"/>
              </a:rPr>
              <a:t>1.5k Visitors/mo</a:t>
            </a:r>
            <a:endParaRPr sz="1000">
              <a:solidFill>
                <a:schemeClr val="dk1"/>
              </a:solidFill>
              <a:latin typeface="Proxima Nova"/>
              <a:ea typeface="Proxima Nova"/>
              <a:cs typeface="Proxima Nova"/>
              <a:sym typeface="Proxima Nova"/>
            </a:endParaRPr>
          </a:p>
        </p:txBody>
      </p:sp>
      <p:sp>
        <p:nvSpPr>
          <p:cNvPr id="93" name="Google Shape;93;p15"/>
          <p:cNvSpPr/>
          <p:nvPr/>
        </p:nvSpPr>
        <p:spPr>
          <a:xfrm>
            <a:off x="698588" y="3440200"/>
            <a:ext cx="899700" cy="322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Proxima Nova"/>
                <a:ea typeface="Proxima Nova"/>
                <a:cs typeface="Proxima Nova"/>
                <a:sym typeface="Proxima Nova"/>
              </a:rPr>
              <a:t>2.8k Keywords</a:t>
            </a:r>
            <a:endParaRPr sz="1000">
              <a:latin typeface="Proxima Nova"/>
              <a:ea typeface="Proxima Nova"/>
              <a:cs typeface="Proxima Nova"/>
              <a:sym typeface="Proxima Nova"/>
            </a:endParaRPr>
          </a:p>
        </p:txBody>
      </p:sp>
      <p:sp>
        <p:nvSpPr>
          <p:cNvPr id="94" name="Google Shape;94;p15"/>
          <p:cNvSpPr/>
          <p:nvPr/>
        </p:nvSpPr>
        <p:spPr>
          <a:xfrm>
            <a:off x="2077840" y="3440200"/>
            <a:ext cx="899700" cy="322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Proxima Nova"/>
                <a:ea typeface="Proxima Nova"/>
                <a:cs typeface="Proxima Nova"/>
                <a:sym typeface="Proxima Nova"/>
              </a:rPr>
              <a:t>2.8k Keywords</a:t>
            </a:r>
            <a:endParaRPr sz="1000">
              <a:solidFill>
                <a:schemeClr val="dk1"/>
              </a:solidFill>
              <a:latin typeface="Proxima Nova"/>
              <a:ea typeface="Proxima Nova"/>
              <a:cs typeface="Proxima Nova"/>
              <a:sym typeface="Proxima Nova"/>
            </a:endParaRPr>
          </a:p>
        </p:txBody>
      </p:sp>
      <p:sp>
        <p:nvSpPr>
          <p:cNvPr id="95" name="Google Shape;95;p15"/>
          <p:cNvSpPr/>
          <p:nvPr/>
        </p:nvSpPr>
        <p:spPr>
          <a:xfrm>
            <a:off x="3440717" y="3440200"/>
            <a:ext cx="899700" cy="322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Proxima Nova"/>
                <a:ea typeface="Proxima Nova"/>
                <a:cs typeface="Proxima Nova"/>
                <a:sym typeface="Proxima Nova"/>
              </a:rPr>
              <a:t>2.8k Keywords</a:t>
            </a:r>
            <a:endParaRPr sz="1000">
              <a:solidFill>
                <a:schemeClr val="dk1"/>
              </a:solidFill>
              <a:latin typeface="Proxima Nova"/>
              <a:ea typeface="Proxima Nova"/>
              <a:cs typeface="Proxima Nova"/>
              <a:sym typeface="Proxima Nova"/>
            </a:endParaRPr>
          </a:p>
        </p:txBody>
      </p:sp>
      <p:sp>
        <p:nvSpPr>
          <p:cNvPr id="96" name="Google Shape;96;p15"/>
          <p:cNvSpPr/>
          <p:nvPr/>
        </p:nvSpPr>
        <p:spPr>
          <a:xfrm>
            <a:off x="4795407" y="3440200"/>
            <a:ext cx="899700" cy="322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Proxima Nova"/>
                <a:ea typeface="Proxima Nova"/>
                <a:cs typeface="Proxima Nova"/>
                <a:sym typeface="Proxima Nova"/>
              </a:rPr>
              <a:t>2.8k Keywords</a:t>
            </a:r>
            <a:endParaRPr sz="1000">
              <a:solidFill>
                <a:schemeClr val="dk1"/>
              </a:solidFill>
              <a:latin typeface="Proxima Nova"/>
              <a:ea typeface="Proxima Nova"/>
              <a:cs typeface="Proxima Nova"/>
              <a:sym typeface="Proxima Nova"/>
            </a:endParaRPr>
          </a:p>
        </p:txBody>
      </p:sp>
      <p:sp>
        <p:nvSpPr>
          <p:cNvPr id="97" name="Google Shape;97;p15"/>
          <p:cNvSpPr/>
          <p:nvPr/>
        </p:nvSpPr>
        <p:spPr>
          <a:xfrm>
            <a:off x="6174659" y="3440200"/>
            <a:ext cx="899700" cy="322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Proxima Nova"/>
                <a:ea typeface="Proxima Nova"/>
                <a:cs typeface="Proxima Nova"/>
                <a:sym typeface="Proxima Nova"/>
              </a:rPr>
              <a:t>2.8k Keywords</a:t>
            </a:r>
            <a:endParaRPr sz="1000">
              <a:solidFill>
                <a:schemeClr val="dk1"/>
              </a:solidFill>
              <a:latin typeface="Proxima Nova"/>
              <a:ea typeface="Proxima Nova"/>
              <a:cs typeface="Proxima Nova"/>
              <a:sym typeface="Proxima Nova"/>
            </a:endParaRPr>
          </a:p>
        </p:txBody>
      </p:sp>
      <p:sp>
        <p:nvSpPr>
          <p:cNvPr id="98" name="Google Shape;98;p15"/>
          <p:cNvSpPr/>
          <p:nvPr/>
        </p:nvSpPr>
        <p:spPr>
          <a:xfrm>
            <a:off x="7537536" y="3440200"/>
            <a:ext cx="899700" cy="322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Proxima Nova"/>
                <a:ea typeface="Proxima Nova"/>
                <a:cs typeface="Proxima Nova"/>
                <a:sym typeface="Proxima Nova"/>
              </a:rPr>
              <a:t>2.8k Keywords</a:t>
            </a:r>
            <a:endParaRPr sz="1000">
              <a:solidFill>
                <a:schemeClr val="dk1"/>
              </a:solidFill>
              <a:latin typeface="Proxima Nova"/>
              <a:ea typeface="Proxima Nova"/>
              <a:cs typeface="Proxima Nova"/>
              <a:sym typeface="Proxima Nova"/>
            </a:endParaRPr>
          </a:p>
        </p:txBody>
      </p:sp>
      <p:sp>
        <p:nvSpPr>
          <p:cNvPr id="99" name="Google Shape;99;p15"/>
          <p:cNvSpPr/>
          <p:nvPr/>
        </p:nvSpPr>
        <p:spPr>
          <a:xfrm>
            <a:off x="698588" y="3882300"/>
            <a:ext cx="899700" cy="322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600">
                <a:latin typeface="Proxima Nova"/>
                <a:ea typeface="Proxima Nova"/>
                <a:cs typeface="Proxima Nova"/>
                <a:sym typeface="Proxima Nova"/>
              </a:rPr>
              <a:t>300 Top-3 Keywords</a:t>
            </a:r>
            <a:endParaRPr sz="600">
              <a:latin typeface="Proxima Nova"/>
              <a:ea typeface="Proxima Nova"/>
              <a:cs typeface="Proxima Nova"/>
              <a:sym typeface="Proxima Nova"/>
            </a:endParaRPr>
          </a:p>
        </p:txBody>
      </p:sp>
      <p:sp>
        <p:nvSpPr>
          <p:cNvPr id="100" name="Google Shape;100;p15"/>
          <p:cNvSpPr/>
          <p:nvPr/>
        </p:nvSpPr>
        <p:spPr>
          <a:xfrm>
            <a:off x="2077840" y="3882300"/>
            <a:ext cx="899700" cy="322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Proxima Nova"/>
                <a:ea typeface="Proxima Nova"/>
                <a:cs typeface="Proxima Nova"/>
                <a:sym typeface="Proxima Nova"/>
              </a:rPr>
              <a:t>300 Top-3 Keywords</a:t>
            </a:r>
            <a:endParaRPr sz="6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600">
              <a:solidFill>
                <a:schemeClr val="dk1"/>
              </a:solidFill>
              <a:latin typeface="Proxima Nova"/>
              <a:ea typeface="Proxima Nova"/>
              <a:cs typeface="Proxima Nova"/>
              <a:sym typeface="Proxima Nova"/>
            </a:endParaRPr>
          </a:p>
        </p:txBody>
      </p:sp>
      <p:sp>
        <p:nvSpPr>
          <p:cNvPr id="101" name="Google Shape;101;p15"/>
          <p:cNvSpPr/>
          <p:nvPr/>
        </p:nvSpPr>
        <p:spPr>
          <a:xfrm>
            <a:off x="3440717" y="3882300"/>
            <a:ext cx="899700" cy="322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Proxima Nova"/>
                <a:ea typeface="Proxima Nova"/>
                <a:cs typeface="Proxima Nova"/>
                <a:sym typeface="Proxima Nova"/>
              </a:rPr>
              <a:t>300 Top-3 Keywords</a:t>
            </a:r>
            <a:endParaRPr sz="1000">
              <a:solidFill>
                <a:schemeClr val="dk1"/>
              </a:solidFill>
              <a:latin typeface="Proxima Nova"/>
              <a:ea typeface="Proxima Nova"/>
              <a:cs typeface="Proxima Nova"/>
              <a:sym typeface="Proxima Nova"/>
            </a:endParaRPr>
          </a:p>
        </p:txBody>
      </p:sp>
      <p:sp>
        <p:nvSpPr>
          <p:cNvPr id="102" name="Google Shape;102;p15"/>
          <p:cNvSpPr/>
          <p:nvPr/>
        </p:nvSpPr>
        <p:spPr>
          <a:xfrm>
            <a:off x="4795407" y="3882300"/>
            <a:ext cx="899700" cy="322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Proxima Nova"/>
                <a:ea typeface="Proxima Nova"/>
                <a:cs typeface="Proxima Nova"/>
                <a:sym typeface="Proxima Nova"/>
              </a:rPr>
              <a:t>300 Top-3 Keywords</a:t>
            </a:r>
            <a:endParaRPr sz="1000">
              <a:solidFill>
                <a:schemeClr val="dk1"/>
              </a:solidFill>
              <a:latin typeface="Proxima Nova"/>
              <a:ea typeface="Proxima Nova"/>
              <a:cs typeface="Proxima Nova"/>
              <a:sym typeface="Proxima Nova"/>
            </a:endParaRPr>
          </a:p>
        </p:txBody>
      </p:sp>
      <p:sp>
        <p:nvSpPr>
          <p:cNvPr id="103" name="Google Shape;103;p15"/>
          <p:cNvSpPr/>
          <p:nvPr/>
        </p:nvSpPr>
        <p:spPr>
          <a:xfrm>
            <a:off x="6174659" y="3882300"/>
            <a:ext cx="899700" cy="322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Proxima Nova"/>
                <a:ea typeface="Proxima Nova"/>
                <a:cs typeface="Proxima Nova"/>
                <a:sym typeface="Proxima Nova"/>
              </a:rPr>
              <a:t>300 Top-3 Keywords</a:t>
            </a:r>
            <a:endParaRPr sz="1000">
              <a:solidFill>
                <a:schemeClr val="dk1"/>
              </a:solidFill>
              <a:latin typeface="Proxima Nova"/>
              <a:ea typeface="Proxima Nova"/>
              <a:cs typeface="Proxima Nova"/>
              <a:sym typeface="Proxima Nova"/>
            </a:endParaRPr>
          </a:p>
        </p:txBody>
      </p:sp>
      <p:sp>
        <p:nvSpPr>
          <p:cNvPr id="104" name="Google Shape;104;p15"/>
          <p:cNvSpPr/>
          <p:nvPr/>
        </p:nvSpPr>
        <p:spPr>
          <a:xfrm>
            <a:off x="7537536" y="3882300"/>
            <a:ext cx="899700" cy="322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Proxima Nova"/>
                <a:ea typeface="Proxima Nova"/>
                <a:cs typeface="Proxima Nova"/>
                <a:sym typeface="Proxima Nova"/>
              </a:rPr>
              <a:t>300 Top-3 Keywords</a:t>
            </a:r>
            <a:endParaRPr sz="1000">
              <a:solidFill>
                <a:schemeClr val="dk1"/>
              </a:solidFill>
              <a:latin typeface="Proxima Nova"/>
              <a:ea typeface="Proxima Nova"/>
              <a:cs typeface="Proxima Nova"/>
              <a:sym typeface="Proxima Nova"/>
            </a:endParaRPr>
          </a:p>
        </p:txBody>
      </p:sp>
      <p:pic>
        <p:nvPicPr>
          <p:cNvPr id="105" name="Google Shape;105;p15"/>
          <p:cNvPicPr preferRelativeResize="0"/>
          <p:nvPr/>
        </p:nvPicPr>
        <p:blipFill rotWithShape="1">
          <a:blip r:embed="rId3">
            <a:alphaModFix/>
          </a:blip>
          <a:srcRect b="0" l="0" r="0" t="0"/>
          <a:stretch/>
        </p:blipFill>
        <p:spPr>
          <a:xfrm>
            <a:off x="8432975" y="250200"/>
            <a:ext cx="465000" cy="393814"/>
          </a:xfrm>
          <a:prstGeom prst="rect">
            <a:avLst/>
          </a:prstGeom>
          <a:noFill/>
          <a:ln>
            <a:noFill/>
          </a:ln>
        </p:spPr>
      </p:pic>
      <p:pic>
        <p:nvPicPr>
          <p:cNvPr id="106" name="Google Shape;106;p15"/>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110" name="Shape 110"/>
        <p:cNvGrpSpPr/>
        <p:nvPr/>
      </p:nvGrpSpPr>
      <p:grpSpPr>
        <a:xfrm>
          <a:off x="0" y="0"/>
          <a:ext cx="0" cy="0"/>
          <a:chOff x="0" y="0"/>
          <a:chExt cx="0" cy="0"/>
        </a:xfrm>
      </p:grpSpPr>
      <p:pic>
        <p:nvPicPr>
          <p:cNvPr id="111" name="Google Shape;111;p16"/>
          <p:cNvPicPr preferRelativeResize="0"/>
          <p:nvPr/>
        </p:nvPicPr>
        <p:blipFill rotWithShape="1">
          <a:blip r:embed="rId3">
            <a:alphaModFix/>
          </a:blip>
          <a:srcRect b="0" l="21581" r="0" t="21210"/>
          <a:stretch/>
        </p:blipFill>
        <p:spPr>
          <a:xfrm flipH="1" rot="8763944">
            <a:off x="-257753" y="3306967"/>
            <a:ext cx="3515956" cy="5976892"/>
          </a:xfrm>
          <a:prstGeom prst="rect">
            <a:avLst/>
          </a:prstGeom>
          <a:noFill/>
          <a:ln>
            <a:noFill/>
          </a:ln>
        </p:spPr>
      </p:pic>
      <p:sp>
        <p:nvSpPr>
          <p:cNvPr id="112" name="Google Shape;112;p16"/>
          <p:cNvSpPr/>
          <p:nvPr/>
        </p:nvSpPr>
        <p:spPr>
          <a:xfrm>
            <a:off x="6429375" y="-42850"/>
            <a:ext cx="2714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6"/>
          <p:cNvSpPr txBox="1"/>
          <p:nvPr>
            <p:ph type="title"/>
          </p:nvPr>
        </p:nvSpPr>
        <p:spPr>
          <a:xfrm>
            <a:off x="279550" y="1093775"/>
            <a:ext cx="4156800" cy="913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022">
                <a:solidFill>
                  <a:schemeClr val="lt1"/>
                </a:solidFill>
                <a:latin typeface="Proxima Nova"/>
                <a:ea typeface="Proxima Nova"/>
                <a:cs typeface="Proxima Nova"/>
                <a:sym typeface="Proxima Nova"/>
              </a:rPr>
              <a:t>The Process</a:t>
            </a:r>
            <a:br>
              <a:rPr b="1" lang="en">
                <a:solidFill>
                  <a:schemeClr val="lt1"/>
                </a:solidFill>
                <a:latin typeface="Proxima Nova"/>
                <a:ea typeface="Proxima Nova"/>
                <a:cs typeface="Proxima Nova"/>
                <a:sym typeface="Proxima Nova"/>
              </a:rPr>
            </a:br>
            <a:r>
              <a:rPr b="1" lang="en" sz="2244">
                <a:solidFill>
                  <a:schemeClr val="lt1"/>
                </a:solidFill>
                <a:latin typeface="Proxima Nova"/>
                <a:ea typeface="Proxima Nova"/>
                <a:cs typeface="Proxima Nova"/>
                <a:sym typeface="Proxima Nova"/>
              </a:rPr>
              <a:t>Step 1: Gathering The Data</a:t>
            </a:r>
            <a:endParaRPr b="1" sz="2244">
              <a:solidFill>
                <a:schemeClr val="lt1"/>
              </a:solidFill>
              <a:latin typeface="Proxima Nova"/>
              <a:ea typeface="Proxima Nova"/>
              <a:cs typeface="Proxima Nova"/>
              <a:sym typeface="Proxima Nova"/>
            </a:endParaRPr>
          </a:p>
        </p:txBody>
      </p:sp>
      <p:sp>
        <p:nvSpPr>
          <p:cNvPr id="114" name="Google Shape;114;p16"/>
          <p:cNvSpPr txBox="1"/>
          <p:nvPr>
            <p:ph idx="1" type="body"/>
          </p:nvPr>
        </p:nvSpPr>
        <p:spPr>
          <a:xfrm>
            <a:off x="279550" y="2126300"/>
            <a:ext cx="3941400" cy="263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We start by scraping a list of keywords your competitors are ranking for. </a:t>
            </a:r>
            <a:endParaRPr sz="1200">
              <a:solidFill>
                <a:schemeClr val="lt1"/>
              </a:solidFill>
              <a:latin typeface="Proxima Nova"/>
              <a:ea typeface="Proxima Nova"/>
              <a:cs typeface="Proxima Nova"/>
              <a:sym typeface="Proxima Nova"/>
            </a:endParaRPr>
          </a:p>
          <a:p>
            <a:pPr indent="0" lvl="0" marL="0" rtl="0" algn="l">
              <a:spcBef>
                <a:spcPts val="1200"/>
              </a:spcBef>
              <a:spcAft>
                <a:spcPts val="0"/>
              </a:spcAft>
              <a:buNone/>
            </a:pPr>
            <a:r>
              <a:rPr lang="en" sz="1200">
                <a:solidFill>
                  <a:schemeClr val="lt1"/>
                </a:solidFill>
                <a:latin typeface="Proxima Nova"/>
                <a:ea typeface="Proxima Nova"/>
                <a:cs typeface="Proxima Nova"/>
                <a:sym typeface="Proxima Nova"/>
              </a:rPr>
              <a:t>We take your competitor rankings and blend that with your rankings to create a </a:t>
            </a:r>
            <a:r>
              <a:rPr lang="en" sz="1200">
                <a:solidFill>
                  <a:schemeClr val="lt1"/>
                </a:solidFill>
                <a:latin typeface="Proxima Nova"/>
                <a:ea typeface="Proxima Nova"/>
                <a:cs typeface="Proxima Nova"/>
                <a:sym typeface="Proxima Nova"/>
              </a:rPr>
              <a:t>comparative</a:t>
            </a:r>
            <a:r>
              <a:rPr lang="en" sz="1200">
                <a:solidFill>
                  <a:schemeClr val="lt1"/>
                </a:solidFill>
                <a:latin typeface="Proxima Nova"/>
                <a:ea typeface="Proxima Nova"/>
                <a:cs typeface="Proxima Nova"/>
                <a:sym typeface="Proxima Nova"/>
              </a:rPr>
              <a:t> report. </a:t>
            </a:r>
            <a:endParaRPr sz="1200">
              <a:solidFill>
                <a:schemeClr val="lt1"/>
              </a:solidFill>
              <a:latin typeface="Proxima Nova"/>
              <a:ea typeface="Proxima Nova"/>
              <a:cs typeface="Proxima Nova"/>
              <a:sym typeface="Proxima Nova"/>
            </a:endParaRPr>
          </a:p>
          <a:p>
            <a:pPr indent="0" lvl="0" marL="0" rtl="0" algn="l">
              <a:spcBef>
                <a:spcPts val="1200"/>
              </a:spcBef>
              <a:spcAft>
                <a:spcPts val="1200"/>
              </a:spcAft>
              <a:buNone/>
            </a:pPr>
            <a:r>
              <a:rPr lang="en" sz="1200">
                <a:solidFill>
                  <a:schemeClr val="lt1"/>
                </a:solidFill>
                <a:latin typeface="Proxima Nova"/>
                <a:ea typeface="Proxima Nova"/>
                <a:cs typeface="Proxima Nova"/>
                <a:sym typeface="Proxima Nova"/>
              </a:rPr>
              <a:t>We use this data to sort keywords for which you’re not currently ranking well.</a:t>
            </a:r>
            <a:endParaRPr sz="1200">
              <a:solidFill>
                <a:schemeClr val="lt1"/>
              </a:solidFill>
              <a:latin typeface="Proxima Nova"/>
              <a:ea typeface="Proxima Nova"/>
              <a:cs typeface="Proxima Nova"/>
              <a:sym typeface="Proxima Nova"/>
            </a:endParaRPr>
          </a:p>
        </p:txBody>
      </p:sp>
      <p:pic>
        <p:nvPicPr>
          <p:cNvPr id="115" name="Google Shape;115;p16"/>
          <p:cNvPicPr preferRelativeResize="0"/>
          <p:nvPr/>
        </p:nvPicPr>
        <p:blipFill>
          <a:blip r:embed="rId4">
            <a:alphaModFix/>
          </a:blip>
          <a:stretch>
            <a:fillRect/>
          </a:stretch>
        </p:blipFill>
        <p:spPr>
          <a:xfrm>
            <a:off x="4572000" y="1111350"/>
            <a:ext cx="4267198" cy="3498655"/>
          </a:xfrm>
          <a:prstGeom prst="rect">
            <a:avLst/>
          </a:prstGeom>
          <a:noFill/>
          <a:ln cap="flat" cmpd="sng" w="76200">
            <a:solidFill>
              <a:schemeClr val="dk1"/>
            </a:solidFill>
            <a:prstDash val="solid"/>
            <a:round/>
            <a:headEnd len="sm" w="sm" type="none"/>
            <a:tailEnd len="sm" w="sm" type="none"/>
          </a:ln>
        </p:spPr>
      </p:pic>
      <p:pic>
        <p:nvPicPr>
          <p:cNvPr id="116" name="Google Shape;116;p16"/>
          <p:cNvPicPr preferRelativeResize="0"/>
          <p:nvPr/>
        </p:nvPicPr>
        <p:blipFill rotWithShape="1">
          <a:blip r:embed="rId5">
            <a:alphaModFix/>
          </a:blip>
          <a:srcRect b="0" l="0" r="0" t="0"/>
          <a:stretch/>
        </p:blipFill>
        <p:spPr>
          <a:xfrm>
            <a:off x="8432975" y="250200"/>
            <a:ext cx="465000" cy="39381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120" name="Shape 120"/>
        <p:cNvGrpSpPr/>
        <p:nvPr/>
      </p:nvGrpSpPr>
      <p:grpSpPr>
        <a:xfrm>
          <a:off x="0" y="0"/>
          <a:ext cx="0" cy="0"/>
          <a:chOff x="0" y="0"/>
          <a:chExt cx="0" cy="0"/>
        </a:xfrm>
      </p:grpSpPr>
      <p:sp>
        <p:nvSpPr>
          <p:cNvPr id="121" name="Google Shape;121;p17"/>
          <p:cNvSpPr/>
          <p:nvPr/>
        </p:nvSpPr>
        <p:spPr>
          <a:xfrm>
            <a:off x="6429375" y="-42850"/>
            <a:ext cx="2714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7"/>
          <p:cNvSpPr txBox="1"/>
          <p:nvPr>
            <p:ph type="title"/>
          </p:nvPr>
        </p:nvSpPr>
        <p:spPr>
          <a:xfrm>
            <a:off x="279550" y="1093775"/>
            <a:ext cx="4938900" cy="913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022">
                <a:solidFill>
                  <a:schemeClr val="lt1"/>
                </a:solidFill>
                <a:latin typeface="Proxima Nova"/>
                <a:ea typeface="Proxima Nova"/>
                <a:cs typeface="Proxima Nova"/>
                <a:sym typeface="Proxima Nova"/>
              </a:rPr>
              <a:t>The Process</a:t>
            </a:r>
            <a:br>
              <a:rPr b="1" lang="en">
                <a:solidFill>
                  <a:schemeClr val="lt1"/>
                </a:solidFill>
                <a:latin typeface="Proxima Nova"/>
                <a:ea typeface="Proxima Nova"/>
                <a:cs typeface="Proxima Nova"/>
                <a:sym typeface="Proxima Nova"/>
              </a:rPr>
            </a:br>
            <a:r>
              <a:rPr b="1" lang="en" sz="2222">
                <a:solidFill>
                  <a:schemeClr val="lt1"/>
                </a:solidFill>
                <a:latin typeface="Proxima Nova"/>
                <a:ea typeface="Proxima Nova"/>
                <a:cs typeface="Proxima Nova"/>
                <a:sym typeface="Proxima Nova"/>
              </a:rPr>
              <a:t>Step 2: </a:t>
            </a:r>
            <a:r>
              <a:rPr b="1" lang="en" sz="2222">
                <a:solidFill>
                  <a:schemeClr val="lt1"/>
                </a:solidFill>
                <a:latin typeface="Proxima Nova"/>
                <a:ea typeface="Proxima Nova"/>
                <a:cs typeface="Proxima Nova"/>
                <a:sym typeface="Proxima Nova"/>
              </a:rPr>
              <a:t>Cleanup &amp; Analysis</a:t>
            </a:r>
            <a:endParaRPr b="1" sz="2222">
              <a:solidFill>
                <a:schemeClr val="lt1"/>
              </a:solidFill>
              <a:latin typeface="Proxima Nova"/>
              <a:ea typeface="Proxima Nova"/>
              <a:cs typeface="Proxima Nova"/>
              <a:sym typeface="Proxima Nova"/>
            </a:endParaRPr>
          </a:p>
        </p:txBody>
      </p:sp>
      <p:sp>
        <p:nvSpPr>
          <p:cNvPr id="123" name="Google Shape;123;p17"/>
          <p:cNvSpPr txBox="1"/>
          <p:nvPr>
            <p:ph idx="1" type="body"/>
          </p:nvPr>
        </p:nvSpPr>
        <p:spPr>
          <a:xfrm>
            <a:off x="279550" y="2126300"/>
            <a:ext cx="3941400" cy="263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200">
                <a:solidFill>
                  <a:schemeClr val="lt1"/>
                </a:solidFill>
                <a:latin typeface="Proxima Nova"/>
                <a:ea typeface="Proxima Nova"/>
                <a:cs typeface="Proxima Nova"/>
                <a:sym typeface="Proxima Nova"/>
              </a:rPr>
              <a:t>After we have the data available, we manually check each keyword and discard those which are not relevant. </a:t>
            </a:r>
            <a:endParaRPr sz="1200">
              <a:solidFill>
                <a:schemeClr val="lt1"/>
              </a:solidFill>
              <a:latin typeface="Proxima Nova"/>
              <a:ea typeface="Proxima Nova"/>
              <a:cs typeface="Proxima Nova"/>
              <a:sym typeface="Proxima Nova"/>
            </a:endParaRPr>
          </a:p>
          <a:p>
            <a:pPr indent="0" lvl="0" marL="0" rtl="0" algn="l">
              <a:spcBef>
                <a:spcPts val="1200"/>
              </a:spcBef>
              <a:spcAft>
                <a:spcPts val="0"/>
              </a:spcAft>
              <a:buClr>
                <a:schemeClr val="dk1"/>
              </a:buClr>
              <a:buSzPts val="1100"/>
              <a:buFont typeface="Arial"/>
              <a:buNone/>
            </a:pPr>
            <a:r>
              <a:rPr lang="en" sz="1200">
                <a:solidFill>
                  <a:schemeClr val="lt1"/>
                </a:solidFill>
                <a:latin typeface="Proxima Nova"/>
                <a:ea typeface="Proxima Nova"/>
                <a:cs typeface="Proxima Nova"/>
                <a:sym typeface="Proxima Nova"/>
              </a:rPr>
              <a:t>We then go through the refined keyword list to perform an analysis on how your keyword rankings currently stack up against your competitors, and identify where there are opportunities.</a:t>
            </a:r>
            <a:endParaRPr sz="1200">
              <a:solidFill>
                <a:schemeClr val="lt1"/>
              </a:solidFill>
              <a:latin typeface="Proxima Nova"/>
              <a:ea typeface="Proxima Nova"/>
              <a:cs typeface="Proxima Nova"/>
              <a:sym typeface="Proxima Nova"/>
            </a:endParaRPr>
          </a:p>
          <a:p>
            <a:pPr indent="0" lvl="0" marL="0" rtl="0" algn="l">
              <a:spcBef>
                <a:spcPts val="1200"/>
              </a:spcBef>
              <a:spcAft>
                <a:spcPts val="1200"/>
              </a:spcAft>
              <a:buNone/>
            </a:pPr>
            <a:r>
              <a:t/>
            </a:r>
            <a:endParaRPr sz="1200">
              <a:solidFill>
                <a:schemeClr val="lt1"/>
              </a:solidFill>
              <a:latin typeface="Proxima Nova"/>
              <a:ea typeface="Proxima Nova"/>
              <a:cs typeface="Proxima Nova"/>
              <a:sym typeface="Proxima Nova"/>
            </a:endParaRPr>
          </a:p>
        </p:txBody>
      </p:sp>
      <p:pic>
        <p:nvPicPr>
          <p:cNvPr id="124" name="Google Shape;124;p17"/>
          <p:cNvPicPr preferRelativeResize="0"/>
          <p:nvPr/>
        </p:nvPicPr>
        <p:blipFill rotWithShape="1">
          <a:blip r:embed="rId3">
            <a:alphaModFix/>
          </a:blip>
          <a:srcRect b="0" l="0" r="0" t="0"/>
          <a:stretch/>
        </p:blipFill>
        <p:spPr>
          <a:xfrm>
            <a:off x="8432975" y="250200"/>
            <a:ext cx="465000" cy="393814"/>
          </a:xfrm>
          <a:prstGeom prst="rect">
            <a:avLst/>
          </a:prstGeom>
          <a:noFill/>
          <a:ln>
            <a:noFill/>
          </a:ln>
        </p:spPr>
      </p:pic>
      <p:pic>
        <p:nvPicPr>
          <p:cNvPr id="125" name="Google Shape;125;p17"/>
          <p:cNvPicPr preferRelativeResize="0"/>
          <p:nvPr/>
        </p:nvPicPr>
        <p:blipFill rotWithShape="1">
          <a:blip r:embed="rId4">
            <a:alphaModFix/>
          </a:blip>
          <a:srcRect b="9996" l="0" r="0" t="3760"/>
          <a:stretch/>
        </p:blipFill>
        <p:spPr>
          <a:xfrm>
            <a:off x="4572000" y="1111350"/>
            <a:ext cx="4267197" cy="3498656"/>
          </a:xfrm>
          <a:prstGeom prst="rect">
            <a:avLst/>
          </a:prstGeom>
          <a:noFill/>
          <a:ln cap="flat" cmpd="sng" w="76200">
            <a:solidFill>
              <a:schemeClr val="dk1"/>
            </a:solidFill>
            <a:prstDash val="solid"/>
            <a:round/>
            <a:headEnd len="sm" w="sm" type="none"/>
            <a:tailEnd len="sm" w="sm" type="none"/>
          </a:ln>
        </p:spPr>
      </p:pic>
      <p:pic>
        <p:nvPicPr>
          <p:cNvPr id="126" name="Google Shape;126;p17"/>
          <p:cNvPicPr preferRelativeResize="0"/>
          <p:nvPr/>
        </p:nvPicPr>
        <p:blipFill rotWithShape="1">
          <a:blip r:embed="rId5">
            <a:alphaModFix/>
          </a:blip>
          <a:srcRect b="0" l="21581" r="0" t="21210"/>
          <a:stretch/>
        </p:blipFill>
        <p:spPr>
          <a:xfrm flipH="1" rot="8763944">
            <a:off x="-257753" y="3306967"/>
            <a:ext cx="3515956" cy="597689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0" name="Shape 130"/>
        <p:cNvGrpSpPr/>
        <p:nvPr/>
      </p:nvGrpSpPr>
      <p:grpSpPr>
        <a:xfrm>
          <a:off x="0" y="0"/>
          <a:ext cx="0" cy="0"/>
          <a:chOff x="0" y="0"/>
          <a:chExt cx="0" cy="0"/>
        </a:xfrm>
      </p:grpSpPr>
      <p:sp>
        <p:nvSpPr>
          <p:cNvPr id="131" name="Google Shape;131;p18"/>
          <p:cNvSpPr/>
          <p:nvPr/>
        </p:nvSpPr>
        <p:spPr>
          <a:xfrm rot="4823503">
            <a:off x="3917162" y="-343454"/>
            <a:ext cx="2284446" cy="10499308"/>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2" name="Google Shape;132;p18"/>
          <p:cNvPicPr preferRelativeResize="0"/>
          <p:nvPr/>
        </p:nvPicPr>
        <p:blipFill>
          <a:blip r:embed="rId3">
            <a:alphaModFix/>
          </a:blip>
          <a:stretch>
            <a:fillRect/>
          </a:stretch>
        </p:blipFill>
        <p:spPr>
          <a:xfrm rot="2910547">
            <a:off x="6869994" y="2316794"/>
            <a:ext cx="2209960" cy="4446787"/>
          </a:xfrm>
          <a:prstGeom prst="rect">
            <a:avLst/>
          </a:prstGeom>
          <a:noFill/>
          <a:ln>
            <a:noFill/>
          </a:ln>
        </p:spPr>
      </p:pic>
      <p:sp>
        <p:nvSpPr>
          <p:cNvPr id="133" name="Google Shape;133;p18"/>
          <p:cNvSpPr txBox="1"/>
          <p:nvPr>
            <p:ph type="title"/>
          </p:nvPr>
        </p:nvSpPr>
        <p:spPr>
          <a:xfrm>
            <a:off x="593850" y="2239500"/>
            <a:ext cx="4056600" cy="66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420">
                <a:solidFill>
                  <a:srgbClr val="E21A6B"/>
                </a:solidFill>
                <a:latin typeface="Proxima Nova"/>
                <a:ea typeface="Proxima Nova"/>
                <a:cs typeface="Proxima Nova"/>
                <a:sym typeface="Proxima Nova"/>
              </a:rPr>
              <a:t>What We Learned</a:t>
            </a:r>
            <a:endParaRPr b="1" sz="3420">
              <a:solidFill>
                <a:srgbClr val="E21A6B"/>
              </a:solidFill>
              <a:latin typeface="Proxima Nova"/>
              <a:ea typeface="Proxima Nova"/>
              <a:cs typeface="Proxima Nova"/>
              <a:sym typeface="Proxima Nova"/>
            </a:endParaRPr>
          </a:p>
        </p:txBody>
      </p:sp>
      <p:pic>
        <p:nvPicPr>
          <p:cNvPr id="134" name="Google Shape;134;p18"/>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pic>
        <p:nvPicPr>
          <p:cNvPr id="135" name="Google Shape;135;p18"/>
          <p:cNvPicPr preferRelativeResize="0"/>
          <p:nvPr/>
        </p:nvPicPr>
        <p:blipFill>
          <a:blip r:embed="rId5">
            <a:alphaModFix/>
          </a:blip>
          <a:stretch>
            <a:fillRect/>
          </a:stretch>
        </p:blipFill>
        <p:spPr>
          <a:xfrm>
            <a:off x="4802850" y="1683657"/>
            <a:ext cx="4341149" cy="3013543"/>
          </a:xfrm>
          <a:prstGeom prst="rect">
            <a:avLst/>
          </a:prstGeom>
          <a:noFill/>
          <a:ln>
            <a:noFill/>
          </a:ln>
        </p:spPr>
      </p:pic>
      <p:sp>
        <p:nvSpPr>
          <p:cNvPr id="136" name="Google Shape;136;p18"/>
          <p:cNvSpPr/>
          <p:nvPr/>
        </p:nvSpPr>
        <p:spPr>
          <a:xfrm rot="4823503">
            <a:off x="2229752" y="-4392734"/>
            <a:ext cx="2284446" cy="7511117"/>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0" name="Shape 140"/>
        <p:cNvGrpSpPr/>
        <p:nvPr/>
      </p:nvGrpSpPr>
      <p:grpSpPr>
        <a:xfrm>
          <a:off x="0" y="0"/>
          <a:ext cx="0" cy="0"/>
          <a:chOff x="0" y="0"/>
          <a:chExt cx="0" cy="0"/>
        </a:xfrm>
      </p:grpSpPr>
      <p:sp>
        <p:nvSpPr>
          <p:cNvPr id="141" name="Google Shape;141;p19"/>
          <p:cNvSpPr/>
          <p:nvPr/>
        </p:nvSpPr>
        <p:spPr>
          <a:xfrm rot="4823503">
            <a:off x="3917162" y="-343454"/>
            <a:ext cx="2284446" cy="10499308"/>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2" name="Google Shape;142;p19"/>
          <p:cNvPicPr preferRelativeResize="0"/>
          <p:nvPr/>
        </p:nvPicPr>
        <p:blipFill>
          <a:blip r:embed="rId3">
            <a:alphaModFix/>
          </a:blip>
          <a:stretch>
            <a:fillRect/>
          </a:stretch>
        </p:blipFill>
        <p:spPr>
          <a:xfrm rot="2910547">
            <a:off x="6869994" y="2316794"/>
            <a:ext cx="2209960" cy="4446787"/>
          </a:xfrm>
          <a:prstGeom prst="rect">
            <a:avLst/>
          </a:prstGeom>
          <a:noFill/>
          <a:ln>
            <a:noFill/>
          </a:ln>
        </p:spPr>
      </p:pic>
      <p:sp>
        <p:nvSpPr>
          <p:cNvPr id="143" name="Google Shape;143;p19"/>
          <p:cNvSpPr txBox="1"/>
          <p:nvPr>
            <p:ph type="title"/>
          </p:nvPr>
        </p:nvSpPr>
        <p:spPr>
          <a:xfrm>
            <a:off x="593850" y="2239500"/>
            <a:ext cx="4056600" cy="66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420">
                <a:solidFill>
                  <a:srgbClr val="E21A6B"/>
                </a:solidFill>
                <a:latin typeface="Proxima Nova"/>
                <a:ea typeface="Proxima Nova"/>
                <a:cs typeface="Proxima Nova"/>
                <a:sym typeface="Proxima Nova"/>
              </a:rPr>
              <a:t>How To Use Gap Analysis</a:t>
            </a:r>
            <a:endParaRPr b="1" sz="3420">
              <a:solidFill>
                <a:srgbClr val="E21A6B"/>
              </a:solidFill>
              <a:latin typeface="Proxima Nova"/>
              <a:ea typeface="Proxima Nova"/>
              <a:cs typeface="Proxima Nova"/>
              <a:sym typeface="Proxima Nova"/>
            </a:endParaRPr>
          </a:p>
        </p:txBody>
      </p:sp>
      <p:pic>
        <p:nvPicPr>
          <p:cNvPr id="144" name="Google Shape;144;p19"/>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pic>
        <p:nvPicPr>
          <p:cNvPr id="145" name="Google Shape;145;p19"/>
          <p:cNvPicPr preferRelativeResize="0"/>
          <p:nvPr/>
        </p:nvPicPr>
        <p:blipFill>
          <a:blip r:embed="rId5">
            <a:alphaModFix/>
          </a:blip>
          <a:stretch>
            <a:fillRect/>
          </a:stretch>
        </p:blipFill>
        <p:spPr>
          <a:xfrm>
            <a:off x="4802850" y="1683657"/>
            <a:ext cx="4341149" cy="3013543"/>
          </a:xfrm>
          <a:prstGeom prst="rect">
            <a:avLst/>
          </a:prstGeom>
          <a:noFill/>
          <a:ln>
            <a:noFill/>
          </a:ln>
        </p:spPr>
      </p:pic>
      <p:sp>
        <p:nvSpPr>
          <p:cNvPr id="146" name="Google Shape;146;p19"/>
          <p:cNvSpPr/>
          <p:nvPr/>
        </p:nvSpPr>
        <p:spPr>
          <a:xfrm rot="4823503">
            <a:off x="2229752" y="-4392734"/>
            <a:ext cx="2284446" cy="7511117"/>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150" name="Shape 150"/>
        <p:cNvGrpSpPr/>
        <p:nvPr/>
      </p:nvGrpSpPr>
      <p:grpSpPr>
        <a:xfrm>
          <a:off x="0" y="0"/>
          <a:ext cx="0" cy="0"/>
          <a:chOff x="0" y="0"/>
          <a:chExt cx="0" cy="0"/>
        </a:xfrm>
      </p:grpSpPr>
      <p:sp>
        <p:nvSpPr>
          <p:cNvPr id="151" name="Google Shape;151;p20"/>
          <p:cNvSpPr/>
          <p:nvPr/>
        </p:nvSpPr>
        <p:spPr>
          <a:xfrm>
            <a:off x="6429375" y="-42850"/>
            <a:ext cx="2714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0"/>
          <p:cNvSpPr txBox="1"/>
          <p:nvPr>
            <p:ph type="title"/>
          </p:nvPr>
        </p:nvSpPr>
        <p:spPr>
          <a:xfrm>
            <a:off x="279550" y="1093775"/>
            <a:ext cx="4938900" cy="91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222">
                <a:solidFill>
                  <a:schemeClr val="lt1"/>
                </a:solidFill>
                <a:latin typeface="Proxima Nova"/>
                <a:ea typeface="Proxima Nova"/>
                <a:cs typeface="Proxima Nova"/>
                <a:sym typeface="Proxima Nova"/>
              </a:rPr>
              <a:t>Main Takeways</a:t>
            </a:r>
            <a:endParaRPr b="1" sz="2222">
              <a:solidFill>
                <a:schemeClr val="lt1"/>
              </a:solidFill>
              <a:latin typeface="Proxima Nova"/>
              <a:ea typeface="Proxima Nova"/>
              <a:cs typeface="Proxima Nova"/>
              <a:sym typeface="Proxima Nova"/>
            </a:endParaRPr>
          </a:p>
        </p:txBody>
      </p:sp>
      <p:sp>
        <p:nvSpPr>
          <p:cNvPr id="153" name="Google Shape;153;p20"/>
          <p:cNvSpPr txBox="1"/>
          <p:nvPr>
            <p:ph idx="1" type="body"/>
          </p:nvPr>
        </p:nvSpPr>
        <p:spPr>
          <a:xfrm>
            <a:off x="279550" y="1756100"/>
            <a:ext cx="3941400" cy="30063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In this slide, please record some of your main takeaways from the KW Gap Analysis.</a:t>
            </a:r>
            <a:endParaRPr sz="1200">
              <a:solidFill>
                <a:schemeClr val="lt1"/>
              </a:solidFill>
              <a:latin typeface="Proxima Nova"/>
              <a:ea typeface="Proxima Nova"/>
              <a:cs typeface="Proxima Nova"/>
              <a:sym typeface="Proxima Nova"/>
            </a:endParaRPr>
          </a:p>
          <a:p>
            <a:pPr indent="0" lvl="0" marL="0" rtl="0" algn="l">
              <a:spcBef>
                <a:spcPts val="1200"/>
              </a:spcBef>
              <a:spcAft>
                <a:spcPts val="0"/>
              </a:spcAft>
              <a:buNone/>
            </a:pPr>
            <a:r>
              <a:rPr lang="en" sz="1200">
                <a:solidFill>
                  <a:schemeClr val="lt1"/>
                </a:solidFill>
                <a:latin typeface="Proxima Nova"/>
                <a:ea typeface="Proxima Nova"/>
                <a:cs typeface="Proxima Nova"/>
                <a:sym typeface="Proxima Nova"/>
              </a:rPr>
              <a:t>This can include anything from</a:t>
            </a:r>
            <a:endParaRPr sz="1200">
              <a:solidFill>
                <a:schemeClr val="lt1"/>
              </a:solidFill>
              <a:latin typeface="Proxima Nova"/>
              <a:ea typeface="Proxima Nova"/>
              <a:cs typeface="Proxima Nova"/>
              <a:sym typeface="Proxima Nova"/>
            </a:endParaRPr>
          </a:p>
          <a:p>
            <a:pPr indent="-304800" lvl="0" marL="457200" rtl="0" algn="l">
              <a:spcBef>
                <a:spcPts val="1200"/>
              </a:spcBef>
              <a:spcAft>
                <a:spcPts val="0"/>
              </a:spcAft>
              <a:buClr>
                <a:schemeClr val="lt1"/>
              </a:buClr>
              <a:buSzPts val="1200"/>
              <a:buFont typeface="Proxima Nova"/>
              <a:buChar char="●"/>
            </a:pPr>
            <a:r>
              <a:rPr lang="en" sz="1200">
                <a:solidFill>
                  <a:schemeClr val="lt1"/>
                </a:solidFill>
                <a:latin typeface="Proxima Nova"/>
                <a:ea typeface="Proxima Nova"/>
                <a:cs typeface="Proxima Nova"/>
                <a:sym typeface="Proxima Nova"/>
              </a:rPr>
              <a:t>What keywords competitors rank in the top 10 positions for, that your client does not</a:t>
            </a:r>
            <a:endParaRPr sz="1200">
              <a:solidFill>
                <a:schemeClr val="lt1"/>
              </a:solidFill>
              <a:latin typeface="Proxima Nova"/>
              <a:ea typeface="Proxima Nova"/>
              <a:cs typeface="Proxima Nova"/>
              <a:sym typeface="Proxima Nova"/>
            </a:endParaRPr>
          </a:p>
          <a:p>
            <a:pPr indent="-304800" lvl="0" marL="457200" rtl="0" algn="l">
              <a:spcBef>
                <a:spcPts val="0"/>
              </a:spcBef>
              <a:spcAft>
                <a:spcPts val="0"/>
              </a:spcAft>
              <a:buClr>
                <a:schemeClr val="lt1"/>
              </a:buClr>
              <a:buSzPts val="1200"/>
              <a:buFont typeface="Proxima Nova"/>
              <a:buChar char="●"/>
            </a:pPr>
            <a:r>
              <a:rPr lang="en" sz="1200">
                <a:solidFill>
                  <a:schemeClr val="lt1"/>
                </a:solidFill>
                <a:latin typeface="Proxima Nova"/>
                <a:ea typeface="Proxima Nova"/>
                <a:cs typeface="Proxima Nova"/>
                <a:sym typeface="Proxima Nova"/>
              </a:rPr>
              <a:t>Keywords that are valuable for future content</a:t>
            </a:r>
            <a:endParaRPr sz="1200">
              <a:solidFill>
                <a:schemeClr val="lt1"/>
              </a:solidFill>
              <a:latin typeface="Proxima Nova"/>
              <a:ea typeface="Proxima Nova"/>
              <a:cs typeface="Proxima Nova"/>
              <a:sym typeface="Proxima Nova"/>
            </a:endParaRPr>
          </a:p>
          <a:p>
            <a:pPr indent="-304800" lvl="0" marL="457200" rtl="0" algn="l">
              <a:spcBef>
                <a:spcPts val="0"/>
              </a:spcBef>
              <a:spcAft>
                <a:spcPts val="0"/>
              </a:spcAft>
              <a:buClr>
                <a:schemeClr val="lt1"/>
              </a:buClr>
              <a:buSzPts val="1200"/>
              <a:buFont typeface="Proxima Nova"/>
              <a:buChar char="●"/>
            </a:pPr>
            <a:r>
              <a:rPr lang="en" sz="1200">
                <a:solidFill>
                  <a:schemeClr val="lt1"/>
                </a:solidFill>
                <a:latin typeface="Proxima Nova"/>
                <a:ea typeface="Proxima Nova"/>
                <a:cs typeface="Proxima Nova"/>
                <a:sym typeface="Proxima Nova"/>
              </a:rPr>
              <a:t>Keywords that the client does rank well for</a:t>
            </a:r>
            <a:endParaRPr sz="1200">
              <a:solidFill>
                <a:schemeClr val="lt1"/>
              </a:solidFill>
              <a:latin typeface="Proxima Nova"/>
              <a:ea typeface="Proxima Nova"/>
              <a:cs typeface="Proxima Nova"/>
              <a:sym typeface="Proxima Nova"/>
            </a:endParaRPr>
          </a:p>
          <a:p>
            <a:pPr indent="-304800" lvl="0" marL="457200" rtl="0" algn="l">
              <a:spcBef>
                <a:spcPts val="0"/>
              </a:spcBef>
              <a:spcAft>
                <a:spcPts val="0"/>
              </a:spcAft>
              <a:buClr>
                <a:schemeClr val="lt1"/>
              </a:buClr>
              <a:buSzPts val="1200"/>
              <a:buFont typeface="Proxima Nova"/>
              <a:buChar char="●"/>
            </a:pPr>
            <a:r>
              <a:rPr lang="en" sz="1200">
                <a:solidFill>
                  <a:schemeClr val="lt1"/>
                </a:solidFill>
                <a:latin typeface="Proxima Nova"/>
                <a:ea typeface="Proxima Nova"/>
                <a:cs typeface="Proxima Nova"/>
                <a:sym typeface="Proxima Nova"/>
              </a:rPr>
              <a:t>Keywords that you do not see as opportunities, and should be avoided</a:t>
            </a:r>
            <a:endParaRPr sz="1200">
              <a:solidFill>
                <a:schemeClr val="lt1"/>
              </a:solidFill>
              <a:latin typeface="Proxima Nova"/>
              <a:ea typeface="Proxima Nova"/>
              <a:cs typeface="Proxima Nova"/>
              <a:sym typeface="Proxima Nova"/>
            </a:endParaRPr>
          </a:p>
          <a:p>
            <a:pPr indent="-304800" lvl="0" marL="457200" rtl="0" algn="l">
              <a:spcBef>
                <a:spcPts val="0"/>
              </a:spcBef>
              <a:spcAft>
                <a:spcPts val="0"/>
              </a:spcAft>
              <a:buClr>
                <a:schemeClr val="lt1"/>
              </a:buClr>
              <a:buSzPts val="1200"/>
              <a:buFont typeface="Proxima Nova"/>
              <a:buChar char="●"/>
            </a:pPr>
            <a:r>
              <a:rPr lang="en" sz="1200">
                <a:solidFill>
                  <a:schemeClr val="lt1"/>
                </a:solidFill>
                <a:latin typeface="Proxima Nova"/>
                <a:ea typeface="Proxima Nova"/>
                <a:cs typeface="Proxima Nova"/>
                <a:sym typeface="Proxima Nova"/>
              </a:rPr>
              <a:t>Overall verticals/themes you see potential for creating content</a:t>
            </a:r>
            <a:endParaRPr sz="1200">
              <a:solidFill>
                <a:schemeClr val="lt1"/>
              </a:solidFill>
              <a:latin typeface="Proxima Nova"/>
              <a:ea typeface="Proxima Nova"/>
              <a:cs typeface="Proxima Nova"/>
              <a:sym typeface="Proxima Nova"/>
            </a:endParaRPr>
          </a:p>
          <a:p>
            <a:pPr indent="0" lvl="0" marL="0" rtl="0" algn="l">
              <a:spcBef>
                <a:spcPts val="1200"/>
              </a:spcBef>
              <a:spcAft>
                <a:spcPts val="1200"/>
              </a:spcAft>
              <a:buNone/>
            </a:pPr>
            <a:r>
              <a:rPr lang="en" sz="1200">
                <a:solidFill>
                  <a:schemeClr val="lt1"/>
                </a:solidFill>
                <a:latin typeface="Proxima Nova"/>
                <a:ea typeface="Proxima Nova"/>
                <a:cs typeface="Proxima Nova"/>
                <a:sym typeface="Proxima Nova"/>
              </a:rPr>
              <a:t>Please duplicate this slide as needed to create a presentation for your main takeaways.</a:t>
            </a:r>
            <a:endParaRPr sz="1200">
              <a:solidFill>
                <a:schemeClr val="lt1"/>
              </a:solidFill>
              <a:latin typeface="Proxima Nova"/>
              <a:ea typeface="Proxima Nova"/>
              <a:cs typeface="Proxima Nova"/>
              <a:sym typeface="Proxima Nova"/>
            </a:endParaRPr>
          </a:p>
        </p:txBody>
      </p:sp>
      <p:pic>
        <p:nvPicPr>
          <p:cNvPr id="154" name="Google Shape;154;p20"/>
          <p:cNvPicPr preferRelativeResize="0"/>
          <p:nvPr/>
        </p:nvPicPr>
        <p:blipFill rotWithShape="1">
          <a:blip r:embed="rId3">
            <a:alphaModFix/>
          </a:blip>
          <a:srcRect b="0" l="0" r="0" t="0"/>
          <a:stretch/>
        </p:blipFill>
        <p:spPr>
          <a:xfrm>
            <a:off x="8432975" y="250200"/>
            <a:ext cx="465000" cy="393814"/>
          </a:xfrm>
          <a:prstGeom prst="rect">
            <a:avLst/>
          </a:prstGeom>
          <a:noFill/>
          <a:ln>
            <a:noFill/>
          </a:ln>
        </p:spPr>
      </p:pic>
      <p:pic>
        <p:nvPicPr>
          <p:cNvPr id="155" name="Google Shape;155;p20"/>
          <p:cNvPicPr preferRelativeResize="0"/>
          <p:nvPr/>
        </p:nvPicPr>
        <p:blipFill rotWithShape="1">
          <a:blip r:embed="rId4">
            <a:alphaModFix/>
          </a:blip>
          <a:srcRect b="0" l="21581" r="0" t="21210"/>
          <a:stretch/>
        </p:blipFill>
        <p:spPr>
          <a:xfrm flipH="1" rot="8763944">
            <a:off x="-257753" y="3306967"/>
            <a:ext cx="3515956" cy="597689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159" name="Shape 159"/>
        <p:cNvGrpSpPr/>
        <p:nvPr/>
      </p:nvGrpSpPr>
      <p:grpSpPr>
        <a:xfrm>
          <a:off x="0" y="0"/>
          <a:ext cx="0" cy="0"/>
          <a:chOff x="0" y="0"/>
          <a:chExt cx="0" cy="0"/>
        </a:xfrm>
      </p:grpSpPr>
      <p:sp>
        <p:nvSpPr>
          <p:cNvPr id="160" name="Google Shape;160;p21"/>
          <p:cNvSpPr/>
          <p:nvPr/>
        </p:nvSpPr>
        <p:spPr>
          <a:xfrm>
            <a:off x="6429375" y="-42850"/>
            <a:ext cx="2714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1"/>
          <p:cNvSpPr txBox="1"/>
          <p:nvPr>
            <p:ph type="title"/>
          </p:nvPr>
        </p:nvSpPr>
        <p:spPr>
          <a:xfrm>
            <a:off x="279550" y="284900"/>
            <a:ext cx="4938900" cy="550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022">
                <a:solidFill>
                  <a:schemeClr val="lt1"/>
                </a:solidFill>
                <a:latin typeface="Proxima Nova"/>
                <a:ea typeface="Proxima Nova"/>
                <a:cs typeface="Proxima Nova"/>
                <a:sym typeface="Proxima Nova"/>
              </a:rPr>
              <a:t>Keyword Gaps and Opportunities</a:t>
            </a:r>
            <a:endParaRPr b="1" sz="2222">
              <a:solidFill>
                <a:schemeClr val="lt1"/>
              </a:solidFill>
              <a:latin typeface="Proxima Nova"/>
              <a:ea typeface="Proxima Nova"/>
              <a:cs typeface="Proxima Nova"/>
              <a:sym typeface="Proxima Nova"/>
            </a:endParaRPr>
          </a:p>
        </p:txBody>
      </p:sp>
      <p:pic>
        <p:nvPicPr>
          <p:cNvPr id="162" name="Google Shape;162;p21"/>
          <p:cNvPicPr preferRelativeResize="0"/>
          <p:nvPr/>
        </p:nvPicPr>
        <p:blipFill rotWithShape="1">
          <a:blip r:embed="rId3">
            <a:alphaModFix/>
          </a:blip>
          <a:srcRect b="0" l="21581" r="0" t="21210"/>
          <a:stretch/>
        </p:blipFill>
        <p:spPr>
          <a:xfrm flipH="1" rot="8763944">
            <a:off x="-257753" y="3306967"/>
            <a:ext cx="3515956" cy="5976892"/>
          </a:xfrm>
          <a:prstGeom prst="rect">
            <a:avLst/>
          </a:prstGeom>
          <a:noFill/>
          <a:ln>
            <a:noFill/>
          </a:ln>
        </p:spPr>
      </p:pic>
      <p:pic>
        <p:nvPicPr>
          <p:cNvPr id="163" name="Google Shape;163;p21"/>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164" name="Google Shape;164;p21"/>
          <p:cNvSpPr txBox="1"/>
          <p:nvPr>
            <p:ph idx="1" type="body"/>
          </p:nvPr>
        </p:nvSpPr>
        <p:spPr>
          <a:xfrm>
            <a:off x="279550" y="726825"/>
            <a:ext cx="5760900" cy="107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The following table contains keywords [Client] currently ranks at the bottom or just outside of the first page of search results. If any of the following terms are valuable, our SEO efforts will be put towards optimizing content &amp; building authority for these low-hanging fruit to get them to the page 1:</a:t>
            </a:r>
            <a:endParaRPr sz="1200">
              <a:solidFill>
                <a:schemeClr val="lt1"/>
              </a:solidFill>
              <a:latin typeface="Proxima Nova"/>
              <a:ea typeface="Proxima Nova"/>
              <a:cs typeface="Proxima Nova"/>
              <a:sym typeface="Proxima Nova"/>
            </a:endParaRPr>
          </a:p>
          <a:p>
            <a:pPr indent="0" lvl="0" marL="0" rtl="0" algn="l">
              <a:spcBef>
                <a:spcPts val="1200"/>
              </a:spcBef>
              <a:spcAft>
                <a:spcPts val="1200"/>
              </a:spcAft>
              <a:buNone/>
            </a:pPr>
            <a:r>
              <a:t/>
            </a:r>
            <a:endParaRPr sz="1200">
              <a:solidFill>
                <a:schemeClr val="lt1"/>
              </a:solidFill>
              <a:latin typeface="Proxima Nova"/>
              <a:ea typeface="Proxima Nova"/>
              <a:cs typeface="Proxima Nova"/>
              <a:sym typeface="Proxima Nova"/>
            </a:endParaRPr>
          </a:p>
        </p:txBody>
      </p:sp>
      <p:graphicFrame>
        <p:nvGraphicFramePr>
          <p:cNvPr id="165" name="Google Shape;165;p21"/>
          <p:cNvGraphicFramePr/>
          <p:nvPr/>
        </p:nvGraphicFramePr>
        <p:xfrm>
          <a:off x="398575" y="1862500"/>
          <a:ext cx="3000000" cy="3000000"/>
        </p:xfrm>
        <a:graphic>
          <a:graphicData uri="http://schemas.openxmlformats.org/drawingml/2006/table">
            <a:tbl>
              <a:tblPr>
                <a:noFill/>
                <a:tableStyleId>{D59C8A3C-3F84-4F2D-840A-E27BBBD3F1F0}</a:tableStyleId>
              </a:tblPr>
              <a:tblGrid>
                <a:gridCol w="2961525"/>
                <a:gridCol w="1390050"/>
                <a:gridCol w="1376600"/>
                <a:gridCol w="1510825"/>
              </a:tblGrid>
              <a:tr h="381000">
                <a:tc>
                  <a:txBody>
                    <a:bodyPr/>
                    <a:lstStyle/>
                    <a:p>
                      <a:pPr indent="0" lvl="0" marL="0" rtl="0" algn="l">
                        <a:spcBef>
                          <a:spcPts val="0"/>
                        </a:spcBef>
                        <a:spcAft>
                          <a:spcPts val="0"/>
                        </a:spcAft>
                        <a:buNone/>
                      </a:pPr>
                      <a:r>
                        <a:rPr b="1" lang="en" sz="1200">
                          <a:latin typeface="Proxima Nova"/>
                          <a:ea typeface="Proxima Nova"/>
                          <a:cs typeface="Proxima Nova"/>
                          <a:sym typeface="Proxima Nova"/>
                        </a:rPr>
                        <a:t>Keyword</a:t>
                      </a:r>
                      <a:endParaRPr b="1" sz="1200">
                        <a:latin typeface="Proxima Nova"/>
                        <a:ea typeface="Proxima Nova"/>
                        <a:cs typeface="Proxima Nova"/>
                        <a:sym typeface="Proxima Nova"/>
                      </a:endParaRPr>
                    </a:p>
                  </a:txBody>
                  <a:tcPr marT="91425" marB="91425" marR="91425" marL="91425">
                    <a:solidFill>
                      <a:schemeClr val="lt1"/>
                    </a:solidFill>
                  </a:tcPr>
                </a:tc>
                <a:tc>
                  <a:txBody>
                    <a:bodyPr/>
                    <a:lstStyle/>
                    <a:p>
                      <a:pPr indent="0" lvl="0" marL="0" rtl="0" algn="ctr">
                        <a:spcBef>
                          <a:spcPts val="0"/>
                        </a:spcBef>
                        <a:spcAft>
                          <a:spcPts val="0"/>
                        </a:spcAft>
                        <a:buNone/>
                      </a:pPr>
                      <a:r>
                        <a:rPr b="1" lang="en" sz="1200">
                          <a:latin typeface="Proxima Nova"/>
                          <a:ea typeface="Proxima Nova"/>
                          <a:cs typeface="Proxima Nova"/>
                          <a:sym typeface="Proxima Nova"/>
                        </a:rPr>
                        <a:t>KD</a:t>
                      </a:r>
                      <a:endParaRPr b="1" sz="1200">
                        <a:latin typeface="Proxima Nova"/>
                        <a:ea typeface="Proxima Nova"/>
                        <a:cs typeface="Proxima Nova"/>
                        <a:sym typeface="Proxima Nova"/>
                      </a:endParaRPr>
                    </a:p>
                  </a:txBody>
                  <a:tcPr marT="91425" marB="91425" marR="91425" marL="91425">
                    <a:solidFill>
                      <a:schemeClr val="lt1"/>
                    </a:solidFill>
                  </a:tcPr>
                </a:tc>
                <a:tc>
                  <a:txBody>
                    <a:bodyPr/>
                    <a:lstStyle/>
                    <a:p>
                      <a:pPr indent="0" lvl="0" marL="0" rtl="0" algn="ctr">
                        <a:spcBef>
                          <a:spcPts val="0"/>
                        </a:spcBef>
                        <a:spcAft>
                          <a:spcPts val="0"/>
                        </a:spcAft>
                        <a:buNone/>
                      </a:pPr>
                      <a:r>
                        <a:rPr b="1" lang="en" sz="1200">
                          <a:latin typeface="Proxima Nova"/>
                          <a:ea typeface="Proxima Nova"/>
                          <a:cs typeface="Proxima Nova"/>
                          <a:sym typeface="Proxima Nova"/>
                        </a:rPr>
                        <a:t>Volume</a:t>
                      </a:r>
                      <a:endParaRPr b="1" sz="1200">
                        <a:latin typeface="Proxima Nova"/>
                        <a:ea typeface="Proxima Nova"/>
                        <a:cs typeface="Proxima Nova"/>
                        <a:sym typeface="Proxima Nova"/>
                      </a:endParaRPr>
                    </a:p>
                  </a:txBody>
                  <a:tcPr marT="91425" marB="91425" marR="91425" marL="91425">
                    <a:solidFill>
                      <a:schemeClr val="lt1"/>
                    </a:solidFill>
                  </a:tcPr>
                </a:tc>
                <a:tc>
                  <a:txBody>
                    <a:bodyPr/>
                    <a:lstStyle/>
                    <a:p>
                      <a:pPr indent="0" lvl="0" marL="0" rtl="0" algn="ctr">
                        <a:spcBef>
                          <a:spcPts val="0"/>
                        </a:spcBef>
                        <a:spcAft>
                          <a:spcPts val="0"/>
                        </a:spcAft>
                        <a:buNone/>
                      </a:pPr>
                      <a:r>
                        <a:rPr b="1" lang="en" sz="1200">
                          <a:latin typeface="Proxima Nova"/>
                          <a:ea typeface="Proxima Nova"/>
                          <a:cs typeface="Proxima Nova"/>
                          <a:sym typeface="Proxima Nova"/>
                        </a:rPr>
                        <a:t>Current Position</a:t>
                      </a:r>
                      <a:endParaRPr b="1" sz="1200">
                        <a:latin typeface="Proxima Nova"/>
                        <a:ea typeface="Proxima Nova"/>
                        <a:cs typeface="Proxima Nova"/>
                        <a:sym typeface="Proxima Nova"/>
                      </a:endParaRPr>
                    </a:p>
                  </a:txBody>
                  <a:tcPr marT="91425" marB="91425" marR="91425" marL="91425">
                    <a:solidFill>
                      <a:schemeClr val="lt1"/>
                    </a:solidFill>
                  </a:tcPr>
                </a:tc>
              </a:tr>
              <a:tr h="381000">
                <a:tc>
                  <a:txBody>
                    <a:bodyPr/>
                    <a:lstStyle/>
                    <a:p>
                      <a:pPr indent="0" lvl="0" marL="0" rtl="0" algn="l">
                        <a:spcBef>
                          <a:spcPts val="0"/>
                        </a:spcBef>
                        <a:spcAft>
                          <a:spcPts val="0"/>
                        </a:spcAft>
                        <a:buNone/>
                      </a:pPr>
                      <a:r>
                        <a:t/>
                      </a:r>
                      <a:endParaRPr sz="1000">
                        <a:latin typeface="Proxima Nova"/>
                        <a:ea typeface="Proxima Nova"/>
                        <a:cs typeface="Proxima Nova"/>
                        <a:sym typeface="Proxima Nova"/>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r>
              <a:tr h="381000">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r>
              <a:tr h="381000">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r>
              <a:tr h="381000">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r>
              <a:tr h="381000">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r>
              <a:tr h="381000">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r>
              <a:tr h="381000">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169" name="Shape 169"/>
        <p:cNvGrpSpPr/>
        <p:nvPr/>
      </p:nvGrpSpPr>
      <p:grpSpPr>
        <a:xfrm>
          <a:off x="0" y="0"/>
          <a:ext cx="0" cy="0"/>
          <a:chOff x="0" y="0"/>
          <a:chExt cx="0" cy="0"/>
        </a:xfrm>
      </p:grpSpPr>
      <p:sp>
        <p:nvSpPr>
          <p:cNvPr id="170" name="Google Shape;170;p22"/>
          <p:cNvSpPr/>
          <p:nvPr/>
        </p:nvSpPr>
        <p:spPr>
          <a:xfrm>
            <a:off x="5494000" y="-42850"/>
            <a:ext cx="36498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2"/>
          <p:cNvSpPr txBox="1"/>
          <p:nvPr>
            <p:ph type="title"/>
          </p:nvPr>
        </p:nvSpPr>
        <p:spPr>
          <a:xfrm>
            <a:off x="279550" y="602500"/>
            <a:ext cx="5737500" cy="60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1820">
                <a:solidFill>
                  <a:schemeClr val="lt1"/>
                </a:solidFill>
                <a:latin typeface="Proxima Nova"/>
                <a:ea typeface="Proxima Nova"/>
                <a:cs typeface="Proxima Nova"/>
                <a:sym typeface="Proxima Nova"/>
              </a:rPr>
              <a:t>Main Takeaways: </a:t>
            </a:r>
            <a:endParaRPr b="1" sz="1820">
              <a:solidFill>
                <a:schemeClr val="lt1"/>
              </a:solidFill>
              <a:latin typeface="Proxima Nova"/>
              <a:ea typeface="Proxima Nova"/>
              <a:cs typeface="Proxima Nova"/>
              <a:sym typeface="Proxima Nova"/>
            </a:endParaRPr>
          </a:p>
        </p:txBody>
      </p:sp>
      <p:sp>
        <p:nvSpPr>
          <p:cNvPr id="172" name="Google Shape;172;p22"/>
          <p:cNvSpPr txBox="1"/>
          <p:nvPr>
            <p:ph idx="1" type="body"/>
          </p:nvPr>
        </p:nvSpPr>
        <p:spPr>
          <a:xfrm>
            <a:off x="5728900" y="1125475"/>
            <a:ext cx="3180000" cy="375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text</a:t>
            </a:r>
            <a:endParaRPr sz="1200">
              <a:solidFill>
                <a:schemeClr val="dk1"/>
              </a:solidFill>
              <a:latin typeface="Proxima Nova"/>
              <a:ea typeface="Proxima Nova"/>
              <a:cs typeface="Proxima Nova"/>
              <a:sym typeface="Proxima Nova"/>
            </a:endParaRPr>
          </a:p>
          <a:p>
            <a:pPr indent="0" lvl="0" marL="457200" rtl="0" algn="l">
              <a:spcBef>
                <a:spcPts val="1000"/>
              </a:spcBef>
              <a:spcAft>
                <a:spcPts val="1200"/>
              </a:spcAft>
              <a:buNone/>
            </a:pPr>
            <a:r>
              <a:t/>
            </a:r>
            <a:endParaRPr sz="1200">
              <a:solidFill>
                <a:schemeClr val="dk1"/>
              </a:solidFill>
              <a:latin typeface="Proxima Nova"/>
              <a:ea typeface="Proxima Nova"/>
              <a:cs typeface="Proxima Nova"/>
              <a:sym typeface="Proxima Nova"/>
            </a:endParaRPr>
          </a:p>
        </p:txBody>
      </p:sp>
      <p:pic>
        <p:nvPicPr>
          <p:cNvPr id="173" name="Google Shape;173;p22"/>
          <p:cNvPicPr preferRelativeResize="0"/>
          <p:nvPr/>
        </p:nvPicPr>
        <p:blipFill rotWithShape="1">
          <a:blip r:embed="rId3">
            <a:alphaModFix/>
          </a:blip>
          <a:srcRect b="0" l="0" r="0" t="0"/>
          <a:stretch/>
        </p:blipFill>
        <p:spPr>
          <a:xfrm>
            <a:off x="8432975" y="250200"/>
            <a:ext cx="465000" cy="393814"/>
          </a:xfrm>
          <a:prstGeom prst="rect">
            <a:avLst/>
          </a:prstGeom>
          <a:noFill/>
          <a:ln>
            <a:noFill/>
          </a:ln>
        </p:spPr>
      </p:pic>
      <p:pic>
        <p:nvPicPr>
          <p:cNvPr id="174" name="Google Shape;174;p22" title="Chart"/>
          <p:cNvPicPr preferRelativeResize="0"/>
          <p:nvPr/>
        </p:nvPicPr>
        <p:blipFill>
          <a:blip r:embed="rId4">
            <a:alphaModFix/>
          </a:blip>
          <a:stretch>
            <a:fillRect/>
          </a:stretch>
        </p:blipFill>
        <p:spPr>
          <a:xfrm>
            <a:off x="357125" y="1592625"/>
            <a:ext cx="4556118" cy="2817200"/>
          </a:xfrm>
          <a:prstGeom prst="rect">
            <a:avLst/>
          </a:prstGeom>
          <a:solidFill>
            <a:schemeClr val="lt1"/>
          </a:solid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178" name="Shape 178"/>
        <p:cNvGrpSpPr/>
        <p:nvPr/>
      </p:nvGrpSpPr>
      <p:grpSpPr>
        <a:xfrm>
          <a:off x="0" y="0"/>
          <a:ext cx="0" cy="0"/>
          <a:chOff x="0" y="0"/>
          <a:chExt cx="0" cy="0"/>
        </a:xfrm>
      </p:grpSpPr>
      <p:sp>
        <p:nvSpPr>
          <p:cNvPr id="179" name="Google Shape;179;p23"/>
          <p:cNvSpPr txBox="1"/>
          <p:nvPr>
            <p:ph type="title"/>
          </p:nvPr>
        </p:nvSpPr>
        <p:spPr>
          <a:xfrm>
            <a:off x="4388400" y="2108000"/>
            <a:ext cx="4457700" cy="648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SzPts val="990"/>
              <a:buNone/>
            </a:pPr>
            <a:r>
              <a:rPr lang="en" sz="4320">
                <a:solidFill>
                  <a:schemeClr val="lt1"/>
                </a:solidFill>
                <a:latin typeface="Proxima Nova Extrabold"/>
                <a:ea typeface="Proxima Nova Extrabold"/>
                <a:cs typeface="Proxima Nova Extrabold"/>
                <a:sym typeface="Proxima Nova Extrabold"/>
              </a:rPr>
              <a:t>THANK YOU!</a:t>
            </a:r>
            <a:endParaRPr sz="4320">
              <a:solidFill>
                <a:schemeClr val="lt1"/>
              </a:solidFill>
              <a:latin typeface="Proxima Nova Extrabold"/>
              <a:ea typeface="Proxima Nova Extrabold"/>
              <a:cs typeface="Proxima Nova Extrabold"/>
              <a:sym typeface="Proxima Nova Extrabold"/>
            </a:endParaRPr>
          </a:p>
        </p:txBody>
      </p:sp>
      <p:pic>
        <p:nvPicPr>
          <p:cNvPr id="180" name="Google Shape;180;p23"/>
          <p:cNvPicPr preferRelativeResize="0"/>
          <p:nvPr/>
        </p:nvPicPr>
        <p:blipFill>
          <a:blip r:embed="rId3">
            <a:alphaModFix/>
          </a:blip>
          <a:stretch>
            <a:fillRect/>
          </a:stretch>
        </p:blipFill>
        <p:spPr>
          <a:xfrm>
            <a:off x="6825850" y="3988125"/>
            <a:ext cx="1897875" cy="446925"/>
          </a:xfrm>
          <a:prstGeom prst="rect">
            <a:avLst/>
          </a:prstGeom>
          <a:noFill/>
          <a:ln>
            <a:noFill/>
          </a:ln>
        </p:spPr>
      </p:pic>
      <p:pic>
        <p:nvPicPr>
          <p:cNvPr id="181" name="Google Shape;181;p23"/>
          <p:cNvPicPr preferRelativeResize="0"/>
          <p:nvPr/>
        </p:nvPicPr>
        <p:blipFill>
          <a:blip r:embed="rId4">
            <a:alphaModFix/>
          </a:blip>
          <a:stretch>
            <a:fillRect/>
          </a:stretch>
        </p:blipFill>
        <p:spPr>
          <a:xfrm rot="3020700">
            <a:off x="381281" y="-4029789"/>
            <a:ext cx="4595790" cy="9247453"/>
          </a:xfrm>
          <a:prstGeom prst="rect">
            <a:avLst/>
          </a:prstGeom>
          <a:noFill/>
          <a:ln>
            <a:noFill/>
          </a:ln>
        </p:spPr>
      </p:pic>
      <p:sp>
        <p:nvSpPr>
          <p:cNvPr id="182" name="Google Shape;182;p23"/>
          <p:cNvSpPr txBox="1"/>
          <p:nvPr/>
        </p:nvSpPr>
        <p:spPr>
          <a:xfrm>
            <a:off x="366475" y="4251950"/>
            <a:ext cx="453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FFFF"/>
                </a:solidFill>
                <a:latin typeface="Proxima Nova"/>
                <a:ea typeface="Proxima Nova"/>
                <a:cs typeface="Proxima Nova"/>
                <a:sym typeface="Proxima Nova"/>
              </a:rPr>
              <a:t>www.propellic.com</a:t>
            </a:r>
            <a:endParaRPr>
              <a:solidFill>
                <a:srgbClr val="FFFFFF"/>
              </a:solidFill>
              <a:latin typeface="Proxima Nova"/>
              <a:ea typeface="Proxima Nova"/>
              <a:cs typeface="Proxima Nova"/>
              <a:sym typeface="Proxima Nova"/>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