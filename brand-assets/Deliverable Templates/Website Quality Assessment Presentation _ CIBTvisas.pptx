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5"/>
    <p:sldMasterId id="2147483697" r:id="rId6"/>
    <p:sldMasterId id="214748369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y="5143500" cx="9144000"/>
  <p:notesSz cx="6858000" cy="9144000"/>
  <p:embeddedFontLst>
    <p:embeddedFont>
      <p:font typeface="Roboto Slab Light"/>
      <p:regular r:id="rId23"/>
      <p:bold r:id="rId24"/>
    </p:embeddedFont>
    <p:embeddedFont>
      <p:font typeface="Roboto Slab"/>
      <p:regular r:id="rId25"/>
      <p:bold r:id="rId26"/>
    </p:embeddedFont>
    <p:embeddedFont>
      <p:font typeface="Roboto"/>
      <p:regular r:id="rId27"/>
      <p:bold r:id="rId28"/>
      <p:italic r:id="rId29"/>
      <p:boldItalic r:id="rId30"/>
    </p:embeddedFont>
    <p:embeddedFont>
      <p:font typeface="Proxima Nova"/>
      <p:regular r:id="rId31"/>
      <p:bold r:id="rId32"/>
      <p:italic r:id="rId33"/>
      <p:boldItalic r:id="rId34"/>
    </p:embeddedFont>
    <p:embeddedFont>
      <p:font typeface="Poppins"/>
      <p:regular r:id="rId35"/>
      <p:bold r:id="rId36"/>
      <p:italic r:id="rId37"/>
      <p:boldItalic r:id="rId38"/>
    </p:embeddedFont>
    <p:embeddedFont>
      <p:font typeface="Varela Round"/>
      <p:regular r:id="rId39"/>
    </p:embeddedFont>
    <p:embeddedFont>
      <p:font typeface="Proxima Nova Extrabold"/>
      <p:bold r:id="rId40"/>
    </p:embeddedFont>
    <p:embeddedFont>
      <p:font typeface="Roboto Light"/>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Emily Souydalay"/>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CABCAB-39AF-4D4A-897A-A87016E16A6E}">
  <a:tblStyle styleId="{E8CABCAB-39AF-4D4A-897A-A87016E16A6E}"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roximaNovaExtrabold-bold.fntdata"/><Relationship Id="rId20" Type="http://schemas.openxmlformats.org/officeDocument/2006/relationships/slide" Target="slides/slide12.xml"/><Relationship Id="rId42" Type="http://schemas.openxmlformats.org/officeDocument/2006/relationships/font" Target="fonts/RobotoLight-bold.fntdata"/><Relationship Id="rId41" Type="http://schemas.openxmlformats.org/officeDocument/2006/relationships/font" Target="fonts/RobotoLight-regular.fntdata"/><Relationship Id="rId22" Type="http://schemas.openxmlformats.org/officeDocument/2006/relationships/slide" Target="slides/slide14.xml"/><Relationship Id="rId44" Type="http://schemas.openxmlformats.org/officeDocument/2006/relationships/font" Target="fonts/RobotoLight-boldItalic.fntdata"/><Relationship Id="rId21" Type="http://schemas.openxmlformats.org/officeDocument/2006/relationships/slide" Target="slides/slide13.xml"/><Relationship Id="rId43" Type="http://schemas.openxmlformats.org/officeDocument/2006/relationships/font" Target="fonts/RobotoLight-italic.fntdata"/><Relationship Id="rId24" Type="http://schemas.openxmlformats.org/officeDocument/2006/relationships/font" Target="fonts/RobotoSlabLight-bold.fntdata"/><Relationship Id="rId23" Type="http://schemas.openxmlformats.org/officeDocument/2006/relationships/font" Target="fonts/RobotoSlabLight-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1.xml"/><Relationship Id="rId26" Type="http://schemas.openxmlformats.org/officeDocument/2006/relationships/font" Target="fonts/RobotoSlab-bold.fntdata"/><Relationship Id="rId25" Type="http://schemas.openxmlformats.org/officeDocument/2006/relationships/font" Target="fonts/RobotoSlab-regular.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italic.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ProximaNova-regular.fntdata"/><Relationship Id="rId30" Type="http://schemas.openxmlformats.org/officeDocument/2006/relationships/font" Target="fonts/Roboto-boldItalic.fntdata"/><Relationship Id="rId11" Type="http://schemas.openxmlformats.org/officeDocument/2006/relationships/slide" Target="slides/slide3.xml"/><Relationship Id="rId33" Type="http://schemas.openxmlformats.org/officeDocument/2006/relationships/font" Target="fonts/ProximaNova-italic.fntdata"/><Relationship Id="rId10" Type="http://schemas.openxmlformats.org/officeDocument/2006/relationships/slide" Target="slides/slide2.xml"/><Relationship Id="rId32" Type="http://schemas.openxmlformats.org/officeDocument/2006/relationships/font" Target="fonts/ProximaNova-bold.fntdata"/><Relationship Id="rId13" Type="http://schemas.openxmlformats.org/officeDocument/2006/relationships/slide" Target="slides/slide5.xml"/><Relationship Id="rId35" Type="http://schemas.openxmlformats.org/officeDocument/2006/relationships/font" Target="fonts/Poppins-regular.fntdata"/><Relationship Id="rId12" Type="http://schemas.openxmlformats.org/officeDocument/2006/relationships/slide" Target="slides/slide4.xml"/><Relationship Id="rId34" Type="http://schemas.openxmlformats.org/officeDocument/2006/relationships/font" Target="fonts/ProximaNova-boldItalic.fntdata"/><Relationship Id="rId15" Type="http://schemas.openxmlformats.org/officeDocument/2006/relationships/slide" Target="slides/slide7.xml"/><Relationship Id="rId37" Type="http://schemas.openxmlformats.org/officeDocument/2006/relationships/font" Target="fonts/Poppins-italic.fntdata"/><Relationship Id="rId14" Type="http://schemas.openxmlformats.org/officeDocument/2006/relationships/slide" Target="slides/slide6.xml"/><Relationship Id="rId36" Type="http://schemas.openxmlformats.org/officeDocument/2006/relationships/font" Target="fonts/Poppins-bold.fntdata"/><Relationship Id="rId17" Type="http://schemas.openxmlformats.org/officeDocument/2006/relationships/slide" Target="slides/slide9.xml"/><Relationship Id="rId39" Type="http://schemas.openxmlformats.org/officeDocument/2006/relationships/font" Target="fonts/VarelaRound-regular.fntdata"/><Relationship Id="rId16" Type="http://schemas.openxmlformats.org/officeDocument/2006/relationships/slide" Target="slides/slide8.xml"/><Relationship Id="rId38" Type="http://schemas.openxmlformats.org/officeDocument/2006/relationships/font" Target="fonts/Poppins-boldItalic.fntdata"/><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7-03T18:37:41.526">
    <p:pos x="1811" y="216"/>
    <p:text>Check location of this URL</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4-07-03T18:47:51.933">
    <p:pos x="1811" y="216"/>
    <p:text>Take down page until content can be reviewed for accuracy, then take next steps to potentially move to other CIBT sites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Mdr4TEtSKfSqf92sYdIO_6QO-OUw5kcIIApmjCHoArI/edit?gid=1958109987#gid=1958109987"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Mdr4TEtSKfSqf92sYdIO_6QO-OUw5kcIIApmjCHoArI/edit?gid=1958109987#gid=1958109987"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Mdr4TEtSKfSqf92sYdIO_6QO-OUw5kcIIApmjCHoArI/edit?gid=1958109987#gid=1958109987"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Mdr4TEtSKfSqf92sYdIO_6QO-OUw5kcIIApmjCHoArI/edit?gid=1958109987#gid=1958109987"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Mdr4TEtSKfSqf92sYdIO_6QO-OUw5kcIIApmjCHoArI/edit?gid=1958109987#gid=1958109987"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Mdr4TEtSKfSqf92sYdIO_6QO-OUw5kcIIApmjCHoArI/edit?gid=1958109987#gid=1958109987"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Mdr4TEtSKfSqf92sYdIO_6QO-OUw5kcIIApmjCHoArI/edit?gid=1958109987#gid=1958109987"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e9d75fa5c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e9d75fa5c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https://docs.google.com/spreadsheets/d/1Mdr4TEtSKfSqf92sYdIO_6QO-OUw5kcIIApmjCHoArI/edit?gid=1958109987#gid=1958109987</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e9d75fa5c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e9d75fa5c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https://docs.google.com/spreadsheets/d/1Mdr4TEtSKfSqf92sYdIO_6QO-OUw5kcIIApmjCHoArI/edit?gid=1958109987#gid=1958109987</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e9d75fa5c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e9d75fa5c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https://docs.google.com/spreadsheets/d/1Mdr4TEtSKfSqf92sYdIO_6QO-OUw5kcIIApmjCHoArI/edit?gid=1958109987#gid=1958109987</a:t>
            </a:r>
            <a:r>
              <a:rPr lang="en"/>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e9d75fa5c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e9d75fa5c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https://docs.google.com/spreadsheets/d/1Mdr4TEtSKfSqf92sYdIO_6QO-OUw5kcIIApmjCHoArI/edit?gid=1958109987#gid=1958109987</a:t>
            </a: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e9d75fa5c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e9d75fa5c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https://docs.google.com/spreadsheets/d/1Mdr4TEtSKfSqf92sYdIO_6QO-OUw5kcIIApmjCHoArI/edit?gid=1958109987#gid=1958109987</a:t>
            </a:r>
            <a:r>
              <a:rPr lang="en"/>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e9d75fa5c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e9d75fa5c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https://docs.google.com/spreadsheets/d/1Mdr4TEtSKfSqf92sYdIO_6QO-OUw5kcIIApmjCHoArI/edit?gid=1958109987#gid=1958109987</a:t>
            </a:r>
            <a:r>
              <a:rPr lang="en"/>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3b6442f6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3b6442f6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Full WQA: </a:t>
            </a:r>
            <a:r>
              <a:rPr lang="en" u="sng">
                <a:solidFill>
                  <a:schemeClr val="hlink"/>
                </a:solidFill>
                <a:hlinkClick r:id="rId2"/>
              </a:rPr>
              <a:t>https://docs.google.com/spreadsheets/d/1Mdr4TEtSKfSqf92sYdIO_6QO-OUw5kcIIApmjCHoArI/edit?gid=1958109987#gid=1958109987</a:t>
            </a: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164" name="Shape 164"/>
        <p:cNvGrpSpPr/>
        <p:nvPr/>
      </p:nvGrpSpPr>
      <p:grpSpPr>
        <a:xfrm>
          <a:off x="0" y="0"/>
          <a:ext cx="0" cy="0"/>
          <a:chOff x="0" y="0"/>
          <a:chExt cx="0" cy="0"/>
        </a:xfrm>
      </p:grpSpPr>
      <p:sp>
        <p:nvSpPr>
          <p:cNvPr id="165" name="Google Shape;165;p35"/>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5"/>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5"/>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5"/>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5"/>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5"/>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5"/>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5"/>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5"/>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5"/>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5"/>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5"/>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5"/>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5"/>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5"/>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5"/>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5"/>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5"/>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5"/>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5"/>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5"/>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5"/>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 name="Google Shape;187;p35"/>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434343"/>
              </a:buClr>
              <a:buSzPts val="4800"/>
              <a:buNone/>
              <a:defRPr sz="4800">
                <a:solidFill>
                  <a:srgbClr val="434343"/>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188" name="Shape 188"/>
        <p:cNvGrpSpPr/>
        <p:nvPr/>
      </p:nvGrpSpPr>
      <p:grpSpPr>
        <a:xfrm>
          <a:off x="0" y="0"/>
          <a:ext cx="0" cy="0"/>
          <a:chOff x="0" y="0"/>
          <a:chExt cx="0" cy="0"/>
        </a:xfrm>
      </p:grpSpPr>
      <p:sp>
        <p:nvSpPr>
          <p:cNvPr id="189" name="Google Shape;189;p36"/>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90" name="Google Shape;190;p36"/>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6"/>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6"/>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6"/>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6"/>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6"/>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6"/>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6"/>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6"/>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6"/>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6"/>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6"/>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6"/>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6"/>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6"/>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6"/>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6"/>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6"/>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6"/>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6"/>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6"/>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6"/>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2" name="Google Shape;212;p36"/>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434343"/>
              </a:buClr>
              <a:buSzPts val="1800"/>
              <a:buNone/>
              <a:defRPr sz="1800">
                <a:solidFill>
                  <a:srgbClr val="434343"/>
                </a:solidFill>
              </a:defRPr>
            </a:lvl1pPr>
            <a:lvl2pPr lvl="1" rtl="0" algn="ctr">
              <a:spcBef>
                <a:spcPts val="1600"/>
              </a:spcBef>
              <a:spcAft>
                <a:spcPts val="0"/>
              </a:spcAft>
              <a:buClr>
                <a:srgbClr val="434343"/>
              </a:buClr>
              <a:buSzPts val="1800"/>
              <a:buNone/>
              <a:defRPr sz="1800">
                <a:solidFill>
                  <a:srgbClr val="434343"/>
                </a:solidFill>
              </a:defRPr>
            </a:lvl2pPr>
            <a:lvl3pPr lvl="2" rtl="0" algn="ctr">
              <a:spcBef>
                <a:spcPts val="1600"/>
              </a:spcBef>
              <a:spcAft>
                <a:spcPts val="0"/>
              </a:spcAft>
              <a:buClr>
                <a:srgbClr val="434343"/>
              </a:buClr>
              <a:buSzPts val="1800"/>
              <a:buNone/>
              <a:defRPr sz="1800">
                <a:solidFill>
                  <a:srgbClr val="434343"/>
                </a:solidFill>
              </a:defRPr>
            </a:lvl3pPr>
            <a:lvl4pPr lvl="3" rtl="0" algn="ctr">
              <a:spcBef>
                <a:spcPts val="1600"/>
              </a:spcBef>
              <a:spcAft>
                <a:spcPts val="0"/>
              </a:spcAft>
              <a:buClr>
                <a:srgbClr val="434343"/>
              </a:buClr>
              <a:buSzPts val="1400"/>
              <a:buNone/>
              <a:defRPr>
                <a:solidFill>
                  <a:srgbClr val="434343"/>
                </a:solidFill>
              </a:defRPr>
            </a:lvl4pPr>
            <a:lvl5pPr lvl="4" rtl="0" algn="ctr">
              <a:spcBef>
                <a:spcPts val="1600"/>
              </a:spcBef>
              <a:spcAft>
                <a:spcPts val="0"/>
              </a:spcAft>
              <a:buClr>
                <a:srgbClr val="434343"/>
              </a:buClr>
              <a:buSzPts val="1400"/>
              <a:buNone/>
              <a:defRPr>
                <a:solidFill>
                  <a:srgbClr val="434343"/>
                </a:solidFill>
              </a:defRPr>
            </a:lvl5pPr>
            <a:lvl6pPr lvl="5" rtl="0" algn="ctr">
              <a:spcBef>
                <a:spcPts val="1600"/>
              </a:spcBef>
              <a:spcAft>
                <a:spcPts val="0"/>
              </a:spcAft>
              <a:buClr>
                <a:srgbClr val="434343"/>
              </a:buClr>
              <a:buSzPts val="1400"/>
              <a:buNone/>
              <a:defRPr>
                <a:solidFill>
                  <a:srgbClr val="434343"/>
                </a:solidFill>
              </a:defRPr>
            </a:lvl6pPr>
            <a:lvl7pPr lvl="6" rtl="0" algn="ctr">
              <a:spcBef>
                <a:spcPts val="1600"/>
              </a:spcBef>
              <a:spcAft>
                <a:spcPts val="0"/>
              </a:spcAft>
              <a:buClr>
                <a:srgbClr val="434343"/>
              </a:buClr>
              <a:buSzPts val="1400"/>
              <a:buNone/>
              <a:defRPr>
                <a:solidFill>
                  <a:srgbClr val="434343"/>
                </a:solidFill>
              </a:defRPr>
            </a:lvl7pPr>
            <a:lvl8pPr lvl="7" rtl="0" algn="ctr">
              <a:spcBef>
                <a:spcPts val="1600"/>
              </a:spcBef>
              <a:spcAft>
                <a:spcPts val="0"/>
              </a:spcAft>
              <a:buClr>
                <a:srgbClr val="434343"/>
              </a:buClr>
              <a:buSzPts val="1400"/>
              <a:buNone/>
              <a:defRPr>
                <a:solidFill>
                  <a:srgbClr val="434343"/>
                </a:solidFill>
              </a:defRPr>
            </a:lvl8pPr>
            <a:lvl9pPr lvl="8" rtl="0" algn="ctr">
              <a:spcBef>
                <a:spcPts val="1600"/>
              </a:spcBef>
              <a:spcAft>
                <a:spcPts val="1600"/>
              </a:spcAft>
              <a:buClr>
                <a:srgbClr val="434343"/>
              </a:buClr>
              <a:buSzPts val="1400"/>
              <a:buNone/>
              <a:defRPr>
                <a:solidFill>
                  <a:srgbClr val="434343"/>
                </a:solidFill>
              </a:defRPr>
            </a:lvl9pPr>
          </a:lstStyle>
          <a:p/>
        </p:txBody>
      </p:sp>
      <p:sp>
        <p:nvSpPr>
          <p:cNvPr id="213" name="Google Shape;213;p36"/>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6"/>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15" name="Shape 215"/>
        <p:cNvGrpSpPr/>
        <p:nvPr/>
      </p:nvGrpSpPr>
      <p:grpSpPr>
        <a:xfrm>
          <a:off x="0" y="0"/>
          <a:ext cx="0" cy="0"/>
          <a:chOff x="0" y="0"/>
          <a:chExt cx="0" cy="0"/>
        </a:xfrm>
      </p:grpSpPr>
      <p:sp>
        <p:nvSpPr>
          <p:cNvPr id="216" name="Google Shape;216;p37"/>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rtl="0" algn="ctr">
              <a:spcBef>
                <a:spcPts val="0"/>
              </a:spcBef>
              <a:spcAft>
                <a:spcPts val="0"/>
              </a:spcAft>
              <a:buSzPts val="2400"/>
              <a:buChar char="●"/>
              <a:defRPr i="1" sz="2400"/>
            </a:lvl1pPr>
            <a:lvl2pPr indent="-317500" lvl="1" marL="914400" rtl="0" algn="ctr">
              <a:spcBef>
                <a:spcPts val="1600"/>
              </a:spcBef>
              <a:spcAft>
                <a:spcPts val="0"/>
              </a:spcAft>
              <a:buSzPts val="1400"/>
              <a:buChar char="○"/>
              <a:defRPr i="1"/>
            </a:lvl2pPr>
            <a:lvl3pPr indent="-317500" lvl="2" marL="1371600" rtl="0" algn="ctr">
              <a:spcBef>
                <a:spcPts val="1600"/>
              </a:spcBef>
              <a:spcAft>
                <a:spcPts val="0"/>
              </a:spcAft>
              <a:buSzPts val="1400"/>
              <a:buChar char="■"/>
              <a:defRPr i="1"/>
            </a:lvl3pPr>
            <a:lvl4pPr indent="-381000" lvl="3" marL="1828800" rtl="0" algn="ctr">
              <a:spcBef>
                <a:spcPts val="1600"/>
              </a:spcBef>
              <a:spcAft>
                <a:spcPts val="0"/>
              </a:spcAft>
              <a:buSzPts val="2400"/>
              <a:buChar char="●"/>
              <a:defRPr i="1" sz="2400"/>
            </a:lvl4pPr>
            <a:lvl5pPr indent="-381000" lvl="4" marL="2286000" rtl="0" algn="ctr">
              <a:spcBef>
                <a:spcPts val="1600"/>
              </a:spcBef>
              <a:spcAft>
                <a:spcPts val="0"/>
              </a:spcAft>
              <a:buSzPts val="2400"/>
              <a:buChar char="○"/>
              <a:defRPr i="1" sz="2400"/>
            </a:lvl5pPr>
            <a:lvl6pPr indent="-381000" lvl="5" marL="2743200" rtl="0" algn="ctr">
              <a:spcBef>
                <a:spcPts val="1600"/>
              </a:spcBef>
              <a:spcAft>
                <a:spcPts val="0"/>
              </a:spcAft>
              <a:buSzPts val="2400"/>
              <a:buChar char="■"/>
              <a:defRPr i="1" sz="2400"/>
            </a:lvl6pPr>
            <a:lvl7pPr indent="-381000" lvl="6" marL="3200400" rtl="0" algn="ctr">
              <a:spcBef>
                <a:spcPts val="1600"/>
              </a:spcBef>
              <a:spcAft>
                <a:spcPts val="0"/>
              </a:spcAft>
              <a:buSzPts val="2400"/>
              <a:buChar char="●"/>
              <a:defRPr i="1" sz="2400"/>
            </a:lvl7pPr>
            <a:lvl8pPr indent="-381000" lvl="7" marL="3657600" rtl="0" algn="ctr">
              <a:spcBef>
                <a:spcPts val="1600"/>
              </a:spcBef>
              <a:spcAft>
                <a:spcPts val="0"/>
              </a:spcAft>
              <a:buSzPts val="2400"/>
              <a:buChar char="○"/>
              <a:defRPr i="1" sz="2400"/>
            </a:lvl8pPr>
            <a:lvl9pPr indent="-381000" lvl="8" marL="4114800" rtl="0" algn="ctr">
              <a:spcBef>
                <a:spcPts val="1600"/>
              </a:spcBef>
              <a:spcAft>
                <a:spcPts val="1600"/>
              </a:spcAft>
              <a:buSzPts val="2400"/>
              <a:buChar char="■"/>
              <a:defRPr i="1" sz="2400"/>
            </a:lvl9pPr>
          </a:lstStyle>
          <a:p/>
        </p:txBody>
      </p:sp>
      <p:sp>
        <p:nvSpPr>
          <p:cNvPr id="217" name="Google Shape;217;p37"/>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18" name="Google Shape;218;p37"/>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7"/>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7"/>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7"/>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7"/>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7"/>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7"/>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7"/>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7"/>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7"/>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7"/>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7"/>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7"/>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7"/>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7"/>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7"/>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7"/>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7"/>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7"/>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7"/>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7"/>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40" name="Shape 240"/>
        <p:cNvGrpSpPr/>
        <p:nvPr/>
      </p:nvGrpSpPr>
      <p:grpSpPr>
        <a:xfrm>
          <a:off x="0" y="0"/>
          <a:ext cx="0" cy="0"/>
          <a:chOff x="0" y="0"/>
          <a:chExt cx="0" cy="0"/>
        </a:xfrm>
      </p:grpSpPr>
      <p:sp>
        <p:nvSpPr>
          <p:cNvPr id="241" name="Google Shape;241;p38"/>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42" name="Google Shape;242;p38"/>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8"/>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8"/>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8"/>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8"/>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8"/>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8"/>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8"/>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8"/>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8"/>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8"/>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8"/>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8"/>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8"/>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6" name="Google Shape;256;p38"/>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7" name="Google Shape;257;p38"/>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8" name="Google Shape;258;p38"/>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9" name="Google Shape;259;p3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260" name="Shape 260"/>
        <p:cNvGrpSpPr/>
        <p:nvPr/>
      </p:nvGrpSpPr>
      <p:grpSpPr>
        <a:xfrm>
          <a:off x="0" y="0"/>
          <a:ext cx="0" cy="0"/>
          <a:chOff x="0" y="0"/>
          <a:chExt cx="0" cy="0"/>
        </a:xfrm>
      </p:grpSpPr>
      <p:sp>
        <p:nvSpPr>
          <p:cNvPr id="261" name="Google Shape;261;p39"/>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62" name="Google Shape;262;p3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7" name="Shape 267"/>
        <p:cNvGrpSpPr/>
        <p:nvPr/>
      </p:nvGrpSpPr>
      <p:grpSpPr>
        <a:xfrm>
          <a:off x="0" y="0"/>
          <a:ext cx="0" cy="0"/>
          <a:chOff x="0" y="0"/>
          <a:chExt cx="0" cy="0"/>
        </a:xfrm>
      </p:grpSpPr>
      <p:sp>
        <p:nvSpPr>
          <p:cNvPr id="268" name="Google Shape;268;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69" name="Google Shape;269;p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70" name="Google Shape;27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1" name="Shape 271"/>
        <p:cNvGrpSpPr/>
        <p:nvPr/>
      </p:nvGrpSpPr>
      <p:grpSpPr>
        <a:xfrm>
          <a:off x="0" y="0"/>
          <a:ext cx="0" cy="0"/>
          <a:chOff x="0" y="0"/>
          <a:chExt cx="0" cy="0"/>
        </a:xfrm>
      </p:grpSpPr>
      <p:sp>
        <p:nvSpPr>
          <p:cNvPr id="272" name="Google Shape;272;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73" name="Google Shape;27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4" name="Shape 274"/>
        <p:cNvGrpSpPr/>
        <p:nvPr/>
      </p:nvGrpSpPr>
      <p:grpSpPr>
        <a:xfrm>
          <a:off x="0" y="0"/>
          <a:ext cx="0" cy="0"/>
          <a:chOff x="0" y="0"/>
          <a:chExt cx="0" cy="0"/>
        </a:xfrm>
      </p:grpSpPr>
      <p:sp>
        <p:nvSpPr>
          <p:cNvPr id="275" name="Google Shape;275;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6" name="Google Shape;27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77" name="Google Shape;27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8" name="Shape 278"/>
        <p:cNvGrpSpPr/>
        <p:nvPr/>
      </p:nvGrpSpPr>
      <p:grpSpPr>
        <a:xfrm>
          <a:off x="0" y="0"/>
          <a:ext cx="0" cy="0"/>
          <a:chOff x="0" y="0"/>
          <a:chExt cx="0" cy="0"/>
        </a:xfrm>
      </p:grpSpPr>
      <p:sp>
        <p:nvSpPr>
          <p:cNvPr id="279" name="Google Shape;279;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0" name="Google Shape;280;p4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1" name="Google Shape;281;p4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2" name="Google Shape;28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3" name="Shape 283"/>
        <p:cNvGrpSpPr/>
        <p:nvPr/>
      </p:nvGrpSpPr>
      <p:grpSpPr>
        <a:xfrm>
          <a:off x="0" y="0"/>
          <a:ext cx="0" cy="0"/>
          <a:chOff x="0" y="0"/>
          <a:chExt cx="0" cy="0"/>
        </a:xfrm>
      </p:grpSpPr>
      <p:sp>
        <p:nvSpPr>
          <p:cNvPr id="284" name="Google Shape;284;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5" name="Google Shape;28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6" name="Shape 286"/>
        <p:cNvGrpSpPr/>
        <p:nvPr/>
      </p:nvGrpSpPr>
      <p:grpSpPr>
        <a:xfrm>
          <a:off x="0" y="0"/>
          <a:ext cx="0" cy="0"/>
          <a:chOff x="0" y="0"/>
          <a:chExt cx="0" cy="0"/>
        </a:xfrm>
      </p:grpSpPr>
      <p:sp>
        <p:nvSpPr>
          <p:cNvPr id="287" name="Google Shape;287;p4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8" name="Google Shape;288;p4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9" name="Google Shape;289;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0" name="Shape 290"/>
        <p:cNvGrpSpPr/>
        <p:nvPr/>
      </p:nvGrpSpPr>
      <p:grpSpPr>
        <a:xfrm>
          <a:off x="0" y="0"/>
          <a:ext cx="0" cy="0"/>
          <a:chOff x="0" y="0"/>
          <a:chExt cx="0" cy="0"/>
        </a:xfrm>
      </p:grpSpPr>
      <p:sp>
        <p:nvSpPr>
          <p:cNvPr id="291" name="Google Shape;291;p4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92" name="Google Shape;29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3" name="Shape 293"/>
        <p:cNvGrpSpPr/>
        <p:nvPr/>
      </p:nvGrpSpPr>
      <p:grpSpPr>
        <a:xfrm>
          <a:off x="0" y="0"/>
          <a:ext cx="0" cy="0"/>
          <a:chOff x="0" y="0"/>
          <a:chExt cx="0" cy="0"/>
        </a:xfrm>
      </p:grpSpPr>
      <p:sp>
        <p:nvSpPr>
          <p:cNvPr id="294" name="Google Shape;294;p4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8"/>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96" name="Google Shape;296;p48"/>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7" name="Google Shape;297;p4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98" name="Google Shape;29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9" name="Shape 299"/>
        <p:cNvGrpSpPr/>
        <p:nvPr/>
      </p:nvGrpSpPr>
      <p:grpSpPr>
        <a:xfrm>
          <a:off x="0" y="0"/>
          <a:ext cx="0" cy="0"/>
          <a:chOff x="0" y="0"/>
          <a:chExt cx="0" cy="0"/>
        </a:xfrm>
      </p:grpSpPr>
      <p:sp>
        <p:nvSpPr>
          <p:cNvPr id="300" name="Google Shape;300;p4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301" name="Google Shape;30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2" name="Shape 302"/>
        <p:cNvGrpSpPr/>
        <p:nvPr/>
      </p:nvGrpSpPr>
      <p:grpSpPr>
        <a:xfrm>
          <a:off x="0" y="0"/>
          <a:ext cx="0" cy="0"/>
          <a:chOff x="0" y="0"/>
          <a:chExt cx="0" cy="0"/>
        </a:xfrm>
      </p:grpSpPr>
      <p:sp>
        <p:nvSpPr>
          <p:cNvPr id="303" name="Google Shape;303;p5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04" name="Google Shape;304;p50"/>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05" name="Google Shape;30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6" name="Shape 306"/>
        <p:cNvGrpSpPr/>
        <p:nvPr/>
      </p:nvGrpSpPr>
      <p:grpSpPr>
        <a:xfrm>
          <a:off x="0" y="0"/>
          <a:ext cx="0" cy="0"/>
          <a:chOff x="0" y="0"/>
          <a:chExt cx="0" cy="0"/>
        </a:xfrm>
      </p:grpSpPr>
      <p:sp>
        <p:nvSpPr>
          <p:cNvPr id="307" name="Google Shape;30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theme" Target="../theme/theme3.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8.xml"/><Relationship Id="rId10" Type="http://schemas.openxmlformats.org/officeDocument/2006/relationships/slideLayout" Target="../slideLayouts/slideLayout47.xml"/><Relationship Id="rId12" Type="http://schemas.openxmlformats.org/officeDocument/2006/relationships/theme" Target="../theme/theme4.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265" name="Google Shape;26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266" name="Google Shape;26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1.png"/><Relationship Id="rId6"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3.png"/><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comments" Target="../comments/comment1.xml"/><Relationship Id="rId4" Type="http://schemas.openxmlformats.org/officeDocument/2006/relationships/hyperlink" Target="https://cibtvisas.com/angola-visa.php" TargetMode="External"/><Relationship Id="rId9" Type="http://schemas.openxmlformats.org/officeDocument/2006/relationships/hyperlink" Target="https://cibtvisas.com/brazil" TargetMode="External"/><Relationship Id="rId5" Type="http://schemas.openxmlformats.org/officeDocument/2006/relationships/hyperlink" Target="https://cibtvisas.com/angola-visa" TargetMode="External"/><Relationship Id="rId6" Type="http://schemas.openxmlformats.org/officeDocument/2006/relationships/hyperlink" Target="https://cibtvisas.com/destination/bra" TargetMode="External"/><Relationship Id="rId7" Type="http://schemas.openxmlformats.org/officeDocument/2006/relationships/hyperlink" Target="https://cibtvisas.com/brazil-visa" TargetMode="External"/><Relationship Id="rId8" Type="http://schemas.openxmlformats.org/officeDocument/2006/relationships/hyperlink" Target="https://cibtvisas.com/destination/bra/brazil-vis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hyperlink" Target="https://cibtvisas.com/sitemap.xml" TargetMode="External"/><Relationship Id="rId4" Type="http://schemas.openxmlformats.org/officeDocument/2006/relationships/hyperlink" Target="https://cibtvisas.com/global-immigration-referral" TargetMode="External"/><Relationship Id="rId5" Type="http://schemas.openxmlformats.org/officeDocument/2006/relationships/hyperlink" Target="https://docs.google.com/spreadsheets/d/1lASUssV6wUERh57UE3LzAiHZiYS1dQhIgQOASHoocSk/edit?gid=448908033#gid=448908033" TargetMode="External"/><Relationship Id="rId6" Type="http://schemas.openxmlformats.org/officeDocument/2006/relationships/image" Target="../media/image3.png"/><Relationship Id="rId7" Type="http://schemas.openxmlformats.org/officeDocument/2006/relationships/image" Target="../media/image16.png"/><Relationship Id="rId8"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comments" Target="../comments/comment2.xml"/><Relationship Id="rId4" Type="http://schemas.openxmlformats.org/officeDocument/2006/relationships/hyperlink" Target="https://cibtvisas.com/us-esta" TargetMode="External"/><Relationship Id="rId9" Type="http://schemas.openxmlformats.org/officeDocument/2006/relationships/image" Target="../media/image16.png"/><Relationship Id="rId5" Type="http://schemas.openxmlformats.org/officeDocument/2006/relationships/hyperlink" Target="https://cibtvisas.com/news-room" TargetMode="External"/><Relationship Id="rId6" Type="http://schemas.openxmlformats.org/officeDocument/2006/relationships/hyperlink" Target="https://cibtvisas.com/weekly-update" TargetMode="External"/><Relationship Id="rId7" Type="http://schemas.openxmlformats.org/officeDocument/2006/relationships/hyperlink" Target="https://cibtvisas.com/news-and-updates" TargetMode="External"/><Relationship Id="rId8"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hyperlink" Target="https://cibtvisas.com/fast-track-my-visa.php?source=fast_track_infobox" TargetMode="External"/><Relationship Id="rId4" Type="http://schemas.openxmlformats.org/officeDocument/2006/relationships/hyperlink" Target="https://cibtvisas.com/fast-track-my-visa" TargetMode="External"/><Relationship Id="rId5" Type="http://schemas.openxmlformats.org/officeDocument/2006/relationships/hyperlink" Target="https://cibtvisas.com/visa-pre-check-service.php?source=visa_precheck_infobox" TargetMode="External"/><Relationship Id="rId6" Type="http://schemas.openxmlformats.org/officeDocument/2006/relationships/hyperlink" Target="https://cibtvisas.com/visa-pre-check-service" TargetMode="External"/><Relationship Id="rId7" Type="http://schemas.openxmlformats.org/officeDocument/2006/relationships/image" Target="../media/image3.png"/><Relationship Id="rId8" Type="http://schemas.openxmlformats.org/officeDocument/2006/relationships/image" Target="../media/image16.png"/></Relationships>
</file>

<file path=ppt/slides/_rels/slide11.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16.png"/><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hyperlink" Target="https://docs.google.com/spreadsheets/d/1lASUssV6wUERh57UE3LzAiHZiYS1dQhIgQOASHoocSk/edit?gid=1257781700#gid=1257781700" TargetMode="External"/><Relationship Id="rId4" Type="http://schemas.openxmlformats.org/officeDocument/2006/relationships/hyperlink" Target="https://docs.google.com/spreadsheets/d/1lASUssV6wUERh57UE3LzAiHZiYS1dQhIgQOASHoocSk/edit?gid=1193467234#gid=1193467234" TargetMode="External"/><Relationship Id="rId9" Type="http://schemas.openxmlformats.org/officeDocument/2006/relationships/image" Target="../media/image3.png"/><Relationship Id="rId5" Type="http://schemas.openxmlformats.org/officeDocument/2006/relationships/hyperlink" Target="https://cibtvisas.com/sample-visas/BRA/brazil.php" TargetMode="External"/><Relationship Id="rId6" Type="http://schemas.openxmlformats.org/officeDocument/2006/relationships/hyperlink" Target="https://cibtvisas.com/sample-visas/BRA/china-visa" TargetMode="External"/><Relationship Id="rId7" Type="http://schemas.openxmlformats.org/officeDocument/2006/relationships/hyperlink" Target="https://cibtvisas.com/sample-visas/BRA/india-visa" TargetMode="External"/><Relationship Id="rId8" Type="http://schemas.openxmlformats.org/officeDocument/2006/relationships/hyperlink" Target="https://cibtvisas.com/sample-visas/BRA/vietnam-visa" TargetMode="External"/></Relationships>
</file>

<file path=ppt/slides/_rels/slide12.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hyperlink" Target="https://docs.google.com/spreadsheets/d/1lASUssV6wUERh57UE3LzAiHZiYS1dQhIgQOASHoocSk/edit?gid=1507071350#gid=1507071350" TargetMode="External"/><Relationship Id="rId12" Type="http://schemas.openxmlformats.org/officeDocument/2006/relationships/image" Target="../media/image16.png"/><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hyperlink" Target="https://docs.google.com/spreadsheets/d/1lASUssV6wUERh57UE3LzAiHZiYS1dQhIgQOASHoocSk/edit?gid=1193467234#gid=1193467234" TargetMode="External"/><Relationship Id="rId4" Type="http://schemas.openxmlformats.org/officeDocument/2006/relationships/hyperlink" Target="https://cibtvisas.com/sample-visas/SAU/" TargetMode="External"/><Relationship Id="rId9" Type="http://schemas.openxmlformats.org/officeDocument/2006/relationships/hyperlink" Target="https://cibtvisas.com/indonesia-visa.php" TargetMode="External"/><Relationship Id="rId5" Type="http://schemas.openxmlformats.org/officeDocument/2006/relationships/hyperlink" Target="https://cibtvisas.com/sample-visas/SAU/china-visa" TargetMode="External"/><Relationship Id="rId6" Type="http://schemas.openxmlformats.org/officeDocument/2006/relationships/hyperlink" Target="https://cibtvisas.com/sample-visas" TargetMode="External"/><Relationship Id="rId7" Type="http://schemas.openxmlformats.org/officeDocument/2006/relationships/hyperlink" Target="https://cibtvisas.com/sample-visas/CHN/china.php" TargetMode="External"/><Relationship Id="rId8" Type="http://schemas.openxmlformats.org/officeDocument/2006/relationships/hyperlink" Target="https://cibtvisas.com/sample-visas/CHN/china.ph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hyperlink" Target="https://docs.google.com/spreadsheets/d/1lASUssV6wUERh57UE3LzAiHZiYS1dQhIgQOASHoocSk/edit?gid=448908033#gid=448908033" TargetMode="External"/><Relationship Id="rId4" Type="http://schemas.openxmlformats.org/officeDocument/2006/relationships/hyperlink" Target="https://docs.google.com/spreadsheets/d/1lASUssV6wUERh57UE3LzAiHZiYS1dQhIgQOASHoocSk/edit?gid=1193467234#gid=1193467234" TargetMode="External"/><Relationship Id="rId5" Type="http://schemas.openxmlformats.org/officeDocument/2006/relationships/image" Target="../media/image3.png"/><Relationship Id="rId6"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CIBTvisas</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July 2024</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6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a:t>
            </a:r>
            <a:r>
              <a:rPr lang="en" sz="1200">
                <a:solidFill>
                  <a:schemeClr val="dk1"/>
                </a:solidFill>
                <a:latin typeface="Proxima Nova"/>
                <a:ea typeface="Proxima Nova"/>
                <a:cs typeface="Proxima Nova"/>
                <a:sym typeface="Proxima Nova"/>
              </a:rPr>
              <a:t> -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SEMRush</a:t>
            </a:r>
            <a:r>
              <a:rPr lang="en" sz="1200">
                <a:solidFill>
                  <a:schemeClr val="dk1"/>
                </a:solidFill>
                <a:latin typeface="Proxima Nova"/>
                <a:ea typeface="Proxima Nova"/>
                <a:cs typeface="Proxima Nova"/>
                <a:sym typeface="Proxima Nova"/>
              </a:rPr>
              <a:t> -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361" name="Google Shape;361;p56"/>
          <p:cNvGraphicFramePr/>
          <p:nvPr/>
        </p:nvGraphicFramePr>
        <p:xfrm>
          <a:off x="4264750" y="829363"/>
          <a:ext cx="3000000" cy="3000000"/>
        </p:xfrm>
        <a:graphic>
          <a:graphicData uri="http://schemas.openxmlformats.org/drawingml/2006/table">
            <a:tbl>
              <a:tblPr>
                <a:noFill/>
                <a:tableStyleId>{E8CABCAB-39AF-4D4A-897A-A87016E16A6E}</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362" name="Google Shape;362;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6" name="Shape 366"/>
        <p:cNvGrpSpPr/>
        <p:nvPr/>
      </p:nvGrpSpPr>
      <p:grpSpPr>
        <a:xfrm>
          <a:off x="0" y="0"/>
          <a:ext cx="0" cy="0"/>
          <a:chOff x="0" y="0"/>
          <a:chExt cx="0" cy="0"/>
        </a:xfrm>
      </p:grpSpPr>
      <p:pic>
        <p:nvPicPr>
          <p:cNvPr id="367" name="Google Shape;367;p5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68" name="Google Shape;368;p5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370" name="Google Shape;370;p57"/>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371" name="Google Shape;371;p5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372" name="Google Shape;372;p57"/>
          <p:cNvGraphicFramePr/>
          <p:nvPr/>
        </p:nvGraphicFramePr>
        <p:xfrm>
          <a:off x="4264750" y="829375"/>
          <a:ext cx="3000000" cy="3000000"/>
        </p:xfrm>
        <a:graphic>
          <a:graphicData uri="http://schemas.openxmlformats.org/drawingml/2006/table">
            <a:tbl>
              <a:tblPr>
                <a:noFill/>
                <a:tableStyleId>{E8CABCAB-39AF-4D4A-897A-A87016E16A6E}</a:tableStyleId>
              </a:tblPr>
              <a:tblGrid>
                <a:gridCol w="723575"/>
                <a:gridCol w="39096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dk1"/>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older blog posts / resource guides that you want to update with more recent information.</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Delete (404)</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Update Content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is targeting relevant keywords but is too “thin” (less than 500 words) to rank for those keywords, we want to update the content on the page.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9D9D9"/>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76" name="Shape 376"/>
        <p:cNvGrpSpPr/>
        <p:nvPr/>
      </p:nvGrpSpPr>
      <p:grpSpPr>
        <a:xfrm>
          <a:off x="0" y="0"/>
          <a:ext cx="0" cy="0"/>
          <a:chOff x="0" y="0"/>
          <a:chExt cx="0" cy="0"/>
        </a:xfrm>
      </p:grpSpPr>
      <p:sp>
        <p:nvSpPr>
          <p:cNvPr id="377" name="Google Shape;377;p58"/>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8"/>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79" name="Google Shape;379;p58"/>
          <p:cNvSpPr txBox="1"/>
          <p:nvPr/>
        </p:nvSpPr>
        <p:spPr>
          <a:xfrm>
            <a:off x="2875500" y="342900"/>
            <a:ext cx="6268500" cy="48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There are 26 “302” URLs which are temporary redirects.</a:t>
            </a:r>
            <a:endParaRPr b="1"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Are any of these 302’s purposeful? If not, these should be made into permanent 301 redirects, and the URLs should found and replaced with the final URL in the redirect path/chain.</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These appear to be .php URL versions of these pages (Ex. </a:t>
            </a:r>
            <a:r>
              <a:rPr lang="en" sz="1200" u="sng">
                <a:solidFill>
                  <a:schemeClr val="hlink"/>
                </a:solidFill>
                <a:latin typeface="Proxima Nova"/>
                <a:ea typeface="Proxima Nova"/>
                <a:cs typeface="Proxima Nova"/>
                <a:sym typeface="Proxima Nova"/>
                <a:hlinkClick r:id="rId4"/>
              </a:rPr>
              <a:t>https://cibtvisas.com/angola-visa.php</a:t>
            </a:r>
            <a:r>
              <a:rPr lang="en" sz="1200">
                <a:solidFill>
                  <a:schemeClr val="dk1"/>
                </a:solidFill>
                <a:latin typeface="Proxima Nova"/>
                <a:ea typeface="Proxima Nova"/>
                <a:cs typeface="Proxima Nova"/>
                <a:sym typeface="Proxima Nova"/>
              </a:rPr>
              <a:t> instead of </a:t>
            </a:r>
            <a:r>
              <a:rPr lang="en" sz="1200" u="sng">
                <a:solidFill>
                  <a:schemeClr val="hlink"/>
                </a:solidFill>
                <a:latin typeface="Proxima Nova"/>
                <a:ea typeface="Proxima Nova"/>
                <a:cs typeface="Proxima Nova"/>
                <a:sym typeface="Proxima Nova"/>
                <a:hlinkClick r:id="rId5"/>
              </a:rPr>
              <a:t>https://cibtvisas.com/angola-visa</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chemeClr val="dk1"/>
                </a:solidFill>
                <a:latin typeface="Proxima Nova"/>
                <a:ea typeface="Proxima Nova"/>
                <a:cs typeface="Proxima Nova"/>
                <a:sym typeface="Proxima Nova"/>
              </a:rPr>
              <a:t>Multiple Versions of Visa Checks Pages</a:t>
            </a:r>
            <a:endParaRPr b="1" sz="1200">
              <a:solidFill>
                <a:schemeClr val="dk1"/>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Google has indexed many duplicate pages on the site, especially local lander pages. Each set of these should be redirected to the newest/best version. Examples:</a:t>
            </a:r>
            <a:br>
              <a:rPr lang="en" sz="1200">
                <a:solidFill>
                  <a:schemeClr val="dk1"/>
                </a:solidFill>
                <a:latin typeface="Proxima Nova"/>
                <a:ea typeface="Proxima Nova"/>
                <a:cs typeface="Proxima Nova"/>
                <a:sym typeface="Proxima Nova"/>
              </a:rPr>
            </a:br>
            <a:r>
              <a:rPr lang="en" sz="1200" u="sng">
                <a:solidFill>
                  <a:schemeClr val="accent5"/>
                </a:solidFill>
                <a:latin typeface="Proxima Nova"/>
                <a:ea typeface="Proxima Nova"/>
                <a:cs typeface="Proxima Nova"/>
                <a:sym typeface="Proxima Nova"/>
                <a:hlinkClick r:id="rId6">
                  <a:extLst>
                    <a:ext uri="{A12FA001-AC4F-418D-AE19-62706E023703}">
                      <ahyp:hlinkClr val="tx"/>
                    </a:ext>
                  </a:extLst>
                </a:hlinkClick>
              </a:rPr>
              <a:t>https://cibtvisas.com/destination/bra</a:t>
            </a:r>
            <a:br>
              <a:rPr lang="en" sz="1200">
                <a:solidFill>
                  <a:schemeClr val="dk1"/>
                </a:solidFill>
                <a:latin typeface="Proxima Nova"/>
                <a:ea typeface="Proxima Nova"/>
                <a:cs typeface="Proxima Nova"/>
                <a:sym typeface="Proxima Nova"/>
              </a:rPr>
            </a:br>
            <a:r>
              <a:rPr lang="en" sz="1200" u="sng">
                <a:solidFill>
                  <a:schemeClr val="accent5"/>
                </a:solidFill>
                <a:latin typeface="Proxima Nova"/>
                <a:ea typeface="Proxima Nova"/>
                <a:cs typeface="Proxima Nova"/>
                <a:sym typeface="Proxima Nova"/>
                <a:hlinkClick r:id="rId7">
                  <a:extLst>
                    <a:ext uri="{A12FA001-AC4F-418D-AE19-62706E023703}">
                      <ahyp:hlinkClr val="tx"/>
                    </a:ext>
                  </a:extLst>
                </a:hlinkClick>
              </a:rPr>
              <a:t>https://cibtvisas.com/brazil-visa</a:t>
            </a:r>
            <a:br>
              <a:rPr lang="en" sz="1200">
                <a:solidFill>
                  <a:schemeClr val="dk1"/>
                </a:solidFill>
                <a:latin typeface="Proxima Nova"/>
                <a:ea typeface="Proxima Nova"/>
                <a:cs typeface="Proxima Nova"/>
                <a:sym typeface="Proxima Nova"/>
              </a:rPr>
            </a:br>
            <a:r>
              <a:rPr lang="en" sz="1200" u="sng">
                <a:solidFill>
                  <a:schemeClr val="accent5"/>
                </a:solidFill>
                <a:latin typeface="Proxima Nova"/>
                <a:ea typeface="Proxima Nova"/>
                <a:cs typeface="Proxima Nova"/>
                <a:sym typeface="Proxima Nova"/>
                <a:hlinkClick r:id="rId8">
                  <a:extLst>
                    <a:ext uri="{A12FA001-AC4F-418D-AE19-62706E023703}">
                      <ahyp:hlinkClr val="tx"/>
                    </a:ext>
                  </a:extLst>
                </a:hlinkClick>
              </a:rPr>
              <a:t>https://cibtvisas.com/destination/bra/brazil-visa</a:t>
            </a:r>
            <a:br>
              <a:rPr lang="en" sz="1200">
                <a:solidFill>
                  <a:schemeClr val="dk1"/>
                </a:solidFill>
                <a:latin typeface="Proxima Nova"/>
                <a:ea typeface="Proxima Nova"/>
                <a:cs typeface="Proxima Nova"/>
                <a:sym typeface="Proxima Nova"/>
              </a:rPr>
            </a:br>
            <a:r>
              <a:rPr lang="en" sz="1200" u="sng">
                <a:solidFill>
                  <a:schemeClr val="accent5"/>
                </a:solidFill>
                <a:latin typeface="Proxima Nova"/>
                <a:ea typeface="Proxima Nova"/>
                <a:cs typeface="Proxima Nova"/>
                <a:sym typeface="Proxima Nova"/>
                <a:hlinkClick r:id="rId9">
                  <a:extLst>
                    <a:ext uri="{A12FA001-AC4F-418D-AE19-62706E023703}">
                      <ahyp:hlinkClr val="tx"/>
                    </a:ext>
                  </a:extLst>
                </a:hlinkClick>
              </a:rPr>
              <a:t>https://cibtvisas.com/brazil </a:t>
            </a:r>
            <a:endParaRPr sz="1200">
              <a:solidFill>
                <a:schemeClr val="dk1"/>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Which version is the best version of each page?</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380" name="Google Shape;380;p58"/>
          <p:cNvPicPr preferRelativeResize="0"/>
          <p:nvPr/>
        </p:nvPicPr>
        <p:blipFill rotWithShape="1">
          <a:blip r:embed="rId10">
            <a:alphaModFix/>
          </a:blip>
          <a:srcRect b="0" l="0" r="0" t="0"/>
          <a:stretch/>
        </p:blipFill>
        <p:spPr>
          <a:xfrm>
            <a:off x="8432975" y="250200"/>
            <a:ext cx="465000" cy="393814"/>
          </a:xfrm>
          <a:prstGeom prst="rect">
            <a:avLst/>
          </a:prstGeom>
          <a:noFill/>
          <a:ln>
            <a:noFill/>
          </a:ln>
        </p:spPr>
      </p:pic>
      <p:pic>
        <p:nvPicPr>
          <p:cNvPr id="381" name="Google Shape;381;p58"/>
          <p:cNvPicPr preferRelativeResize="0"/>
          <p:nvPr/>
        </p:nvPicPr>
        <p:blipFill rotWithShape="1">
          <a:blip r:embed="rId11">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85" name="Shape 385"/>
        <p:cNvGrpSpPr/>
        <p:nvPr/>
      </p:nvGrpSpPr>
      <p:grpSpPr>
        <a:xfrm>
          <a:off x="0" y="0"/>
          <a:ext cx="0" cy="0"/>
          <a:chOff x="0" y="0"/>
          <a:chExt cx="0" cy="0"/>
        </a:xfrm>
      </p:grpSpPr>
      <p:sp>
        <p:nvSpPr>
          <p:cNvPr id="386" name="Google Shape;386;p59"/>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9"/>
          <p:cNvSpPr txBox="1"/>
          <p:nvPr/>
        </p:nvSpPr>
        <p:spPr>
          <a:xfrm>
            <a:off x="2875500" y="342900"/>
            <a:ext cx="6268500" cy="48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Issues with </a:t>
            </a:r>
            <a:r>
              <a:rPr b="1" lang="en" sz="1200" u="sng">
                <a:solidFill>
                  <a:schemeClr val="hlink"/>
                </a:solidFill>
                <a:latin typeface="Proxima Nova"/>
                <a:ea typeface="Proxima Nova"/>
                <a:cs typeface="Proxima Nova"/>
                <a:sym typeface="Proxima Nova"/>
                <a:hlinkClick r:id="rId3"/>
              </a:rPr>
              <a:t>XML Sitemap</a:t>
            </a:r>
            <a:endParaRPr b="1"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There are several URLs that are not actually listed properly in the sitemap, because there is an empty space found at the beginning and end of the URLs</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There are URLs that don’t exist or are redirecting that are in the XML Sitemap - </a:t>
            </a:r>
            <a:r>
              <a:rPr b="1" lang="en" sz="1200">
                <a:solidFill>
                  <a:schemeClr val="dk1"/>
                </a:solidFill>
                <a:latin typeface="Proxima Nova"/>
                <a:ea typeface="Proxima Nova"/>
                <a:cs typeface="Proxima Nova"/>
                <a:sym typeface="Proxima Nova"/>
              </a:rPr>
              <a:t>only pages that you want Google to find and index in search should be included in the XML Sitemap</a:t>
            </a:r>
            <a:endParaRPr b="1" sz="1200">
              <a:solidFill>
                <a:schemeClr val="dk1"/>
              </a:solidFill>
              <a:latin typeface="Proxima Nova"/>
              <a:ea typeface="Proxima Nova"/>
              <a:cs typeface="Proxima Nova"/>
              <a:sym typeface="Proxima Nova"/>
            </a:endParaRPr>
          </a:p>
          <a:p>
            <a:pPr indent="-304800" lvl="2" marL="13716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Ex: </a:t>
            </a:r>
            <a:r>
              <a:rPr lang="en" sz="1200" u="sng">
                <a:solidFill>
                  <a:schemeClr val="hlink"/>
                </a:solidFill>
                <a:latin typeface="Proxima Nova"/>
                <a:ea typeface="Proxima Nova"/>
                <a:cs typeface="Proxima Nova"/>
                <a:sym typeface="Proxima Nova"/>
                <a:hlinkClick r:id="rId4"/>
              </a:rPr>
              <a:t>https://cibtvisas.com/global-immigration-referral</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2" marL="13716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The </a:t>
            </a:r>
            <a:r>
              <a:rPr lang="en" sz="1200" u="sng">
                <a:solidFill>
                  <a:schemeClr val="hlink"/>
                </a:solidFill>
                <a:latin typeface="Proxima Nova"/>
                <a:ea typeface="Proxima Nova"/>
                <a:cs typeface="Proxima Nova"/>
                <a:sym typeface="Proxima Nova"/>
                <a:hlinkClick r:id="rId5"/>
              </a:rPr>
              <a:t>URLs found in this list</a:t>
            </a:r>
            <a:r>
              <a:rPr lang="en" sz="1200">
                <a:solidFill>
                  <a:schemeClr val="dk1"/>
                </a:solidFill>
                <a:latin typeface="Proxima Nova"/>
                <a:ea typeface="Proxima Nova"/>
                <a:cs typeface="Proxima Nova"/>
                <a:sym typeface="Proxima Nova"/>
              </a:rPr>
              <a:t> are 301 or 302 Redirects, or Broken 404 URLs that</a:t>
            </a:r>
            <a:r>
              <a:rPr lang="en" sz="1200">
                <a:solidFill>
                  <a:schemeClr val="dk1"/>
                </a:solidFill>
                <a:latin typeface="Proxima Nova"/>
                <a:ea typeface="Proxima Nova"/>
                <a:cs typeface="Proxima Nova"/>
                <a:sym typeface="Proxima Nova"/>
              </a:rPr>
              <a:t> should be removed from the XML Sitemap.</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sp>
        <p:nvSpPr>
          <p:cNvPr id="388" name="Google Shape;388;p59"/>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pic>
        <p:nvPicPr>
          <p:cNvPr id="389" name="Google Shape;389;p59"/>
          <p:cNvPicPr preferRelativeResize="0"/>
          <p:nvPr/>
        </p:nvPicPr>
        <p:blipFill rotWithShape="1">
          <a:blip r:embed="rId6">
            <a:alphaModFix/>
          </a:blip>
          <a:srcRect b="0" l="0" r="0" t="0"/>
          <a:stretch/>
        </p:blipFill>
        <p:spPr>
          <a:xfrm>
            <a:off x="8432975" y="250200"/>
            <a:ext cx="465000" cy="393814"/>
          </a:xfrm>
          <a:prstGeom prst="rect">
            <a:avLst/>
          </a:prstGeom>
          <a:noFill/>
          <a:ln>
            <a:noFill/>
          </a:ln>
        </p:spPr>
      </p:pic>
      <p:pic>
        <p:nvPicPr>
          <p:cNvPr id="390" name="Google Shape;390;p59"/>
          <p:cNvPicPr preferRelativeResize="0"/>
          <p:nvPr/>
        </p:nvPicPr>
        <p:blipFill rotWithShape="1">
          <a:blip r:embed="rId7">
            <a:alphaModFix/>
          </a:blip>
          <a:srcRect b="0" l="21581" r="0" t="21210"/>
          <a:stretch/>
        </p:blipFill>
        <p:spPr>
          <a:xfrm rot="2036056">
            <a:off x="-257753" y="-3551033"/>
            <a:ext cx="3515956" cy="5976892"/>
          </a:xfrm>
          <a:prstGeom prst="rect">
            <a:avLst/>
          </a:prstGeom>
          <a:noFill/>
          <a:ln>
            <a:noFill/>
          </a:ln>
        </p:spPr>
      </p:pic>
      <p:pic>
        <p:nvPicPr>
          <p:cNvPr id="391" name="Google Shape;391;p59"/>
          <p:cNvPicPr preferRelativeResize="0"/>
          <p:nvPr/>
        </p:nvPicPr>
        <p:blipFill>
          <a:blip r:embed="rId8">
            <a:alphaModFix/>
          </a:blip>
          <a:stretch>
            <a:fillRect/>
          </a:stretch>
        </p:blipFill>
        <p:spPr>
          <a:xfrm>
            <a:off x="2897975" y="2972425"/>
            <a:ext cx="6048150" cy="15599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95" name="Shape 395"/>
        <p:cNvGrpSpPr/>
        <p:nvPr/>
      </p:nvGrpSpPr>
      <p:grpSpPr>
        <a:xfrm>
          <a:off x="0" y="0"/>
          <a:ext cx="0" cy="0"/>
          <a:chOff x="0" y="0"/>
          <a:chExt cx="0" cy="0"/>
        </a:xfrm>
      </p:grpSpPr>
      <p:sp>
        <p:nvSpPr>
          <p:cNvPr id="396" name="Google Shape;396;p60"/>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60"/>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98" name="Google Shape;398;p60"/>
          <p:cNvSpPr txBox="1"/>
          <p:nvPr/>
        </p:nvSpPr>
        <p:spPr>
          <a:xfrm>
            <a:off x="2875500" y="342900"/>
            <a:ext cx="6268500" cy="48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chemeClr val="dk1"/>
                </a:solidFill>
                <a:latin typeface="Proxima Nova"/>
                <a:ea typeface="Proxima Nova"/>
                <a:cs typeface="Proxima Nova"/>
                <a:sym typeface="Proxima Nova"/>
              </a:rPr>
              <a:t>Re-evaluate Page Location</a:t>
            </a:r>
            <a:endParaRPr b="1"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Does it make sense to have the following pages linked on the US site?</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u="sng">
                <a:solidFill>
                  <a:schemeClr val="hlink"/>
                </a:solidFill>
                <a:latin typeface="Proxima Nova"/>
                <a:ea typeface="Proxima Nova"/>
                <a:cs typeface="Proxima Nova"/>
                <a:sym typeface="Proxima Nova"/>
                <a:hlinkClick r:id="rId4"/>
              </a:rPr>
              <a:t>https://cibtvisas.com/us-esta</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Users click on a URL that then takes them to the US homepage, which also does not serve non-US citizens/site visitors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The following URL </a:t>
            </a:r>
            <a:r>
              <a:rPr lang="en" sz="1200" u="sng">
                <a:solidFill>
                  <a:schemeClr val="hlink"/>
                </a:solidFill>
                <a:latin typeface="Proxima Nova"/>
                <a:ea typeface="Proxima Nova"/>
                <a:cs typeface="Proxima Nova"/>
                <a:sym typeface="Proxima Nova"/>
                <a:hlinkClick r:id="rId5"/>
              </a:rPr>
              <a:t>https://cibtvisas.com/news-room</a:t>
            </a:r>
            <a:r>
              <a:rPr lang="en" sz="1200">
                <a:solidFill>
                  <a:schemeClr val="dk1"/>
                </a:solidFill>
                <a:latin typeface="Proxima Nova"/>
                <a:ea typeface="Proxima Nova"/>
                <a:cs typeface="Proxima Nova"/>
                <a:sym typeface="Proxima Nova"/>
              </a:rPr>
              <a:t> redirects to the CIBT Weekly Update Page </a:t>
            </a:r>
            <a:r>
              <a:rPr lang="en" sz="1200" u="sng">
                <a:solidFill>
                  <a:schemeClr val="hlink"/>
                </a:solidFill>
                <a:latin typeface="Proxima Nova"/>
                <a:ea typeface="Proxima Nova"/>
                <a:cs typeface="Proxima Nova"/>
                <a:sym typeface="Proxima Nova"/>
                <a:hlinkClick r:id="rId6"/>
              </a:rPr>
              <a:t>https://cibtvisas.com/weekly-update</a:t>
            </a:r>
            <a:r>
              <a:rPr lang="en" sz="1200">
                <a:solidFill>
                  <a:schemeClr val="dk1"/>
                </a:solidFill>
                <a:latin typeface="Proxima Nova"/>
                <a:ea typeface="Proxima Nova"/>
                <a:cs typeface="Proxima Nova"/>
                <a:sym typeface="Proxima Nova"/>
              </a:rPr>
              <a:t> and is linked in the “News &amp; Updates” card on the text “News Room”</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Is this a better alternative location? </a:t>
            </a:r>
            <a:r>
              <a:rPr lang="en" sz="1200" u="sng">
                <a:solidFill>
                  <a:schemeClr val="hlink"/>
                </a:solidFill>
                <a:latin typeface="Proxima Nova"/>
                <a:ea typeface="Proxima Nova"/>
                <a:cs typeface="Proxima Nova"/>
                <a:sym typeface="Proxima Nova"/>
                <a:hlinkClick r:id="rId7"/>
              </a:rPr>
              <a:t>https://cibtvisas.com/news-and-updates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399" name="Google Shape;399;p60"/>
          <p:cNvPicPr preferRelativeResize="0"/>
          <p:nvPr/>
        </p:nvPicPr>
        <p:blipFill rotWithShape="1">
          <a:blip r:embed="rId8">
            <a:alphaModFix/>
          </a:blip>
          <a:srcRect b="0" l="0" r="0" t="0"/>
          <a:stretch/>
        </p:blipFill>
        <p:spPr>
          <a:xfrm>
            <a:off x="8432975" y="250200"/>
            <a:ext cx="465000" cy="393814"/>
          </a:xfrm>
          <a:prstGeom prst="rect">
            <a:avLst/>
          </a:prstGeom>
          <a:noFill/>
          <a:ln>
            <a:noFill/>
          </a:ln>
        </p:spPr>
      </p:pic>
      <p:pic>
        <p:nvPicPr>
          <p:cNvPr id="400" name="Google Shape;400;p60"/>
          <p:cNvPicPr preferRelativeResize="0"/>
          <p:nvPr/>
        </p:nvPicPr>
        <p:blipFill rotWithShape="1">
          <a:blip r:embed="rId9">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04" name="Shape 404"/>
        <p:cNvGrpSpPr/>
        <p:nvPr/>
      </p:nvGrpSpPr>
      <p:grpSpPr>
        <a:xfrm>
          <a:off x="0" y="0"/>
          <a:ext cx="0" cy="0"/>
          <a:chOff x="0" y="0"/>
          <a:chExt cx="0" cy="0"/>
        </a:xfrm>
      </p:grpSpPr>
      <p:sp>
        <p:nvSpPr>
          <p:cNvPr id="405" name="Google Shape;405;p61"/>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61"/>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407" name="Google Shape;407;p61"/>
          <p:cNvSpPr txBox="1"/>
          <p:nvPr/>
        </p:nvSpPr>
        <p:spPr>
          <a:xfrm>
            <a:off x="2875500" y="342900"/>
            <a:ext cx="6268500" cy="48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chemeClr val="dk1"/>
                </a:solidFill>
                <a:latin typeface="Proxima Nova"/>
                <a:ea typeface="Proxima Nova"/>
                <a:cs typeface="Proxima Nova"/>
                <a:sym typeface="Proxima Nova"/>
              </a:rPr>
              <a:t>Find and Replace</a:t>
            </a:r>
            <a:endParaRPr b="1"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Is there a reason the URL </a:t>
            </a:r>
            <a:r>
              <a:rPr lang="en" sz="1200" u="sng">
                <a:solidFill>
                  <a:schemeClr val="hlink"/>
                </a:solidFill>
                <a:latin typeface="Proxima Nova"/>
                <a:ea typeface="Proxima Nova"/>
                <a:cs typeface="Proxima Nova"/>
                <a:sym typeface="Proxima Nova"/>
                <a:hlinkClick r:id="rId3"/>
              </a:rPr>
              <a:t>https://cibtvisas.com/fast-track-my-visa.php?source=fast_track_infobox</a:t>
            </a:r>
            <a:r>
              <a:rPr lang="en" sz="1200">
                <a:solidFill>
                  <a:schemeClr val="dk1"/>
                </a:solidFill>
                <a:latin typeface="Proxima Nova"/>
                <a:ea typeface="Proxima Nova"/>
                <a:cs typeface="Proxima Nova"/>
                <a:sym typeface="Proxima Nova"/>
              </a:rPr>
              <a:t> is linked in the “Fast Track my Visa” Card instead of </a:t>
            </a:r>
            <a:r>
              <a:rPr lang="en" sz="1200" u="sng">
                <a:solidFill>
                  <a:schemeClr val="hlink"/>
                </a:solidFill>
                <a:latin typeface="Proxima Nova"/>
                <a:ea typeface="Proxima Nova"/>
                <a:cs typeface="Proxima Nova"/>
                <a:sym typeface="Proxima Nova"/>
                <a:hlinkClick r:id="rId4"/>
              </a:rPr>
              <a:t>https://cibtvisas.com/fast-track-my-visa</a:t>
            </a:r>
            <a:r>
              <a:rPr lang="en" sz="1200">
                <a:solidFill>
                  <a:schemeClr val="dk1"/>
                </a:solidFill>
                <a:latin typeface="Proxima Nova"/>
                <a:ea typeface="Proxima Nova"/>
                <a:cs typeface="Proxima Nova"/>
                <a:sym typeface="Proxima Nova"/>
              </a:rPr>
              <a:t>? Or that the URL </a:t>
            </a:r>
            <a:r>
              <a:rPr lang="en" sz="1200" u="sng">
                <a:solidFill>
                  <a:schemeClr val="hlink"/>
                </a:solidFill>
                <a:latin typeface="Proxima Nova"/>
                <a:ea typeface="Proxima Nova"/>
                <a:cs typeface="Proxima Nova"/>
                <a:sym typeface="Proxima Nova"/>
                <a:hlinkClick r:id="rId5"/>
              </a:rPr>
              <a:t>https://cibtvisas.com/visa-pre-check-service.php?source=visa_precheck_infobox</a:t>
            </a:r>
            <a:r>
              <a:rPr lang="en" sz="1200">
                <a:solidFill>
                  <a:schemeClr val="dk1"/>
                </a:solidFill>
                <a:latin typeface="Proxima Nova"/>
                <a:ea typeface="Proxima Nova"/>
                <a:cs typeface="Proxima Nova"/>
                <a:sym typeface="Proxima Nova"/>
              </a:rPr>
              <a:t> is tracked instead of </a:t>
            </a:r>
            <a:r>
              <a:rPr lang="en" sz="1200" u="sng">
                <a:solidFill>
                  <a:schemeClr val="hlink"/>
                </a:solidFill>
                <a:latin typeface="Proxima Nova"/>
                <a:ea typeface="Proxima Nova"/>
                <a:cs typeface="Proxima Nova"/>
                <a:sym typeface="Proxima Nova"/>
                <a:hlinkClick r:id="rId6"/>
              </a:rPr>
              <a:t>https://cibtvisas.com/visa-pre-check-service</a:t>
            </a:r>
            <a:r>
              <a:rPr lang="en" sz="1200">
                <a:solidFill>
                  <a:schemeClr val="dk1"/>
                </a:solidFill>
                <a:latin typeface="Proxima Nova"/>
                <a:ea typeface="Proxima Nova"/>
                <a:cs typeface="Proxima Nova"/>
                <a:sym typeface="Proxima Nova"/>
              </a:rPr>
              <a:t>?</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The purpose appears to be to track when clicks to these pages are brought in by these specific Info Boxes/Cards, but how valuable is this data?</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The link authority traveling through the site to these landing pages is reduced due to the use of the URL parameter, and it is preferable to not use this unless absolutely necessary.</a:t>
            </a:r>
            <a:endParaRPr sz="1200">
              <a:solidFill>
                <a:schemeClr val="dk1"/>
              </a:solidFill>
              <a:latin typeface="Proxima Nova"/>
              <a:ea typeface="Proxima Nova"/>
              <a:cs typeface="Proxima Nova"/>
              <a:sym typeface="Proxima Nova"/>
            </a:endParaRPr>
          </a:p>
        </p:txBody>
      </p:sp>
      <p:pic>
        <p:nvPicPr>
          <p:cNvPr id="408" name="Google Shape;408;p61"/>
          <p:cNvPicPr preferRelativeResize="0"/>
          <p:nvPr/>
        </p:nvPicPr>
        <p:blipFill rotWithShape="1">
          <a:blip r:embed="rId7">
            <a:alphaModFix/>
          </a:blip>
          <a:srcRect b="0" l="0" r="0" t="0"/>
          <a:stretch/>
        </p:blipFill>
        <p:spPr>
          <a:xfrm>
            <a:off x="8432975" y="250200"/>
            <a:ext cx="465000" cy="393814"/>
          </a:xfrm>
          <a:prstGeom prst="rect">
            <a:avLst/>
          </a:prstGeom>
          <a:noFill/>
          <a:ln>
            <a:noFill/>
          </a:ln>
        </p:spPr>
      </p:pic>
      <p:pic>
        <p:nvPicPr>
          <p:cNvPr id="409" name="Google Shape;409;p61"/>
          <p:cNvPicPr preferRelativeResize="0"/>
          <p:nvPr/>
        </p:nvPicPr>
        <p:blipFill rotWithShape="1">
          <a:blip r:embed="rId8">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13" name="Shape 413"/>
        <p:cNvGrpSpPr/>
        <p:nvPr/>
      </p:nvGrpSpPr>
      <p:grpSpPr>
        <a:xfrm>
          <a:off x="0" y="0"/>
          <a:ext cx="0" cy="0"/>
          <a:chOff x="0" y="0"/>
          <a:chExt cx="0" cy="0"/>
        </a:xfrm>
      </p:grpSpPr>
      <p:sp>
        <p:nvSpPr>
          <p:cNvPr id="414" name="Google Shape;414;p62"/>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62"/>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416" name="Google Shape;416;p62"/>
          <p:cNvSpPr txBox="1"/>
          <p:nvPr/>
        </p:nvSpPr>
        <p:spPr>
          <a:xfrm>
            <a:off x="2875500" y="342900"/>
            <a:ext cx="6268500" cy="48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chemeClr val="dk1"/>
                </a:solidFill>
                <a:latin typeface="Proxima Nova"/>
                <a:ea typeface="Proxima Nova"/>
                <a:cs typeface="Proxima Nova"/>
                <a:sym typeface="Proxima Nova"/>
              </a:rPr>
              <a:t>Pages Blocked by Robots.txt</a:t>
            </a:r>
            <a:endParaRPr b="1"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Why are the pages with the rows highlighted in the following </a:t>
            </a:r>
            <a:r>
              <a:rPr lang="en" sz="1200" u="sng">
                <a:solidFill>
                  <a:schemeClr val="hlink"/>
                </a:solidFill>
                <a:latin typeface="Proxima Nova"/>
                <a:ea typeface="Proxima Nova"/>
                <a:cs typeface="Proxima Nova"/>
                <a:sym typeface="Proxima Nova"/>
                <a:hlinkClick r:id="rId3"/>
              </a:rPr>
              <a:t>sheet linked</a:t>
            </a:r>
            <a:r>
              <a:rPr lang="en" sz="1200">
                <a:solidFill>
                  <a:schemeClr val="dk1"/>
                </a:solidFill>
                <a:latin typeface="Proxima Nova"/>
                <a:ea typeface="Proxima Nova"/>
                <a:cs typeface="Proxima Nova"/>
                <a:sym typeface="Proxima Nova"/>
              </a:rPr>
              <a:t> here currently blocked by robots.txt?</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u="sng">
                <a:solidFill>
                  <a:schemeClr val="hlink"/>
                </a:solidFill>
                <a:latin typeface="Proxima Nova"/>
                <a:ea typeface="Proxima Nova"/>
                <a:cs typeface="Proxima Nova"/>
                <a:sym typeface="Proxima Nova"/>
                <a:hlinkClick r:id="rId4"/>
              </a:rPr>
              <a:t>Duplicate Sample Visa Pages</a:t>
            </a:r>
            <a:endParaRPr b="1"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Duplicate instance of “Sample Visa” pages were identified. For example, the following URL </a:t>
            </a:r>
            <a:r>
              <a:rPr lang="en" sz="1200" u="sng">
                <a:solidFill>
                  <a:schemeClr val="hlink"/>
                </a:solidFill>
                <a:latin typeface="Proxima Nova"/>
                <a:ea typeface="Proxima Nova"/>
                <a:cs typeface="Proxima Nova"/>
                <a:sym typeface="Proxima Nova"/>
                <a:hlinkClick r:id="rId5"/>
              </a:rPr>
              <a:t>https://cibtvisas.com/sample-visas/BRA/brazil.php</a:t>
            </a:r>
            <a:r>
              <a:rPr lang="en" sz="1200">
                <a:solidFill>
                  <a:schemeClr val="dk1"/>
                </a:solidFill>
                <a:latin typeface="Proxima Nova"/>
                <a:ea typeface="Proxima Nova"/>
                <a:cs typeface="Proxima Nova"/>
                <a:sym typeface="Proxima Nova"/>
              </a:rPr>
              <a:t> has several duplicates, which are the following:</a:t>
            </a:r>
            <a:endParaRPr sz="1200">
              <a:solidFill>
                <a:schemeClr val="dk1"/>
              </a:solidFill>
              <a:latin typeface="Proxima Nova"/>
              <a:ea typeface="Proxima Nova"/>
              <a:cs typeface="Proxima Nova"/>
              <a:sym typeface="Proxima Nova"/>
            </a:endParaRPr>
          </a:p>
          <a:p>
            <a:pPr indent="-304800" lvl="1" marL="914400" rtl="0" algn="l">
              <a:spcBef>
                <a:spcPts val="0"/>
              </a:spcBef>
              <a:spcAft>
                <a:spcPts val="0"/>
              </a:spcAft>
              <a:buClr>
                <a:schemeClr val="dk1"/>
              </a:buClr>
              <a:buSzPts val="1200"/>
              <a:buFont typeface="Proxima Nova"/>
              <a:buChar char="○"/>
            </a:pPr>
            <a:r>
              <a:rPr lang="en" sz="1200" u="sng">
                <a:solidFill>
                  <a:schemeClr val="hlink"/>
                </a:solidFill>
                <a:latin typeface="Proxima Nova"/>
                <a:ea typeface="Proxima Nova"/>
                <a:cs typeface="Proxima Nova"/>
                <a:sym typeface="Proxima Nova"/>
                <a:hlinkClick r:id="rId6"/>
              </a:rPr>
              <a:t>https://cibtvisas.com/sample-visas/BRA/china-visa</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1" marL="914400" rtl="0" algn="l">
              <a:spcBef>
                <a:spcPts val="0"/>
              </a:spcBef>
              <a:spcAft>
                <a:spcPts val="0"/>
              </a:spcAft>
              <a:buClr>
                <a:schemeClr val="dk1"/>
              </a:buClr>
              <a:buSzPts val="1200"/>
              <a:buFont typeface="Proxima Nova"/>
              <a:buChar char="○"/>
            </a:pPr>
            <a:r>
              <a:rPr lang="en" sz="1200" u="sng">
                <a:solidFill>
                  <a:schemeClr val="hlink"/>
                </a:solidFill>
                <a:latin typeface="Proxima Nova"/>
                <a:ea typeface="Proxima Nova"/>
                <a:cs typeface="Proxima Nova"/>
                <a:sym typeface="Proxima Nova"/>
                <a:hlinkClick r:id="rId7"/>
              </a:rPr>
              <a:t>https://cibtvisas.com/sample-visas/BRA/india-visa</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1" marL="914400" rtl="0" algn="l">
              <a:spcBef>
                <a:spcPts val="0"/>
              </a:spcBef>
              <a:spcAft>
                <a:spcPts val="0"/>
              </a:spcAft>
              <a:buClr>
                <a:schemeClr val="dk1"/>
              </a:buClr>
              <a:buSzPts val="1200"/>
              <a:buFont typeface="Proxima Nova"/>
              <a:buChar char="○"/>
            </a:pPr>
            <a:r>
              <a:rPr lang="en" sz="1200" u="sng">
                <a:solidFill>
                  <a:schemeClr val="hlink"/>
                </a:solidFill>
                <a:latin typeface="Proxima Nova"/>
                <a:ea typeface="Proxima Nova"/>
                <a:cs typeface="Proxima Nova"/>
                <a:sym typeface="Proxima Nova"/>
                <a:hlinkClick r:id="rId8"/>
              </a:rPr>
              <a:t>https://cibtvisas.com/sample-visas/BRA/vietnam-visa</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In the example above, all of these URLs provide information on a Sample Brazil Visa</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The generation of these URLs is due to their link location in the “Top Visa Destinations” card on the page. </a:t>
            </a:r>
            <a:endParaRPr sz="1200">
              <a:solidFill>
                <a:schemeClr val="dk1"/>
              </a:solidFill>
              <a:latin typeface="Proxima Nova"/>
              <a:ea typeface="Proxima Nova"/>
              <a:cs typeface="Proxima Nova"/>
              <a:sym typeface="Proxima Nova"/>
            </a:endParaRPr>
          </a:p>
        </p:txBody>
      </p:sp>
      <p:pic>
        <p:nvPicPr>
          <p:cNvPr id="417" name="Google Shape;417;p62"/>
          <p:cNvPicPr preferRelativeResize="0"/>
          <p:nvPr/>
        </p:nvPicPr>
        <p:blipFill rotWithShape="1">
          <a:blip r:embed="rId9">
            <a:alphaModFix/>
          </a:blip>
          <a:srcRect b="0" l="0" r="0" t="0"/>
          <a:stretch/>
        </p:blipFill>
        <p:spPr>
          <a:xfrm>
            <a:off x="8432975" y="250200"/>
            <a:ext cx="465000" cy="393814"/>
          </a:xfrm>
          <a:prstGeom prst="rect">
            <a:avLst/>
          </a:prstGeom>
          <a:noFill/>
          <a:ln>
            <a:noFill/>
          </a:ln>
        </p:spPr>
      </p:pic>
      <p:pic>
        <p:nvPicPr>
          <p:cNvPr id="418" name="Google Shape;418;p62"/>
          <p:cNvPicPr preferRelativeResize="0"/>
          <p:nvPr/>
        </p:nvPicPr>
        <p:blipFill rotWithShape="1">
          <a:blip r:embed="rId10">
            <a:alphaModFix/>
          </a:blip>
          <a:srcRect b="0" l="21581" r="0" t="21210"/>
          <a:stretch/>
        </p:blipFill>
        <p:spPr>
          <a:xfrm rot="2036056">
            <a:off x="-257753" y="-3551033"/>
            <a:ext cx="3515956" cy="5976892"/>
          </a:xfrm>
          <a:prstGeom prst="rect">
            <a:avLst/>
          </a:prstGeom>
          <a:noFill/>
          <a:ln>
            <a:noFill/>
          </a:ln>
        </p:spPr>
      </p:pic>
      <p:pic>
        <p:nvPicPr>
          <p:cNvPr id="419" name="Google Shape;419;p62"/>
          <p:cNvPicPr preferRelativeResize="0"/>
          <p:nvPr/>
        </p:nvPicPr>
        <p:blipFill>
          <a:blip r:embed="rId11">
            <a:alphaModFix/>
          </a:blip>
          <a:stretch>
            <a:fillRect/>
          </a:stretch>
        </p:blipFill>
        <p:spPr>
          <a:xfrm>
            <a:off x="6107550" y="3340325"/>
            <a:ext cx="2395549" cy="18031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23" name="Shape 423"/>
        <p:cNvGrpSpPr/>
        <p:nvPr/>
      </p:nvGrpSpPr>
      <p:grpSpPr>
        <a:xfrm>
          <a:off x="0" y="0"/>
          <a:ext cx="0" cy="0"/>
          <a:chOff x="0" y="0"/>
          <a:chExt cx="0" cy="0"/>
        </a:xfrm>
      </p:grpSpPr>
      <p:sp>
        <p:nvSpPr>
          <p:cNvPr id="424" name="Google Shape;424;p63"/>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3"/>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426" name="Google Shape;426;p63"/>
          <p:cNvSpPr txBox="1"/>
          <p:nvPr/>
        </p:nvSpPr>
        <p:spPr>
          <a:xfrm>
            <a:off x="2875500" y="342900"/>
            <a:ext cx="6268500" cy="48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u="sng">
                <a:solidFill>
                  <a:schemeClr val="hlink"/>
                </a:solidFill>
                <a:latin typeface="Proxima Nova"/>
                <a:ea typeface="Proxima Nova"/>
                <a:cs typeface="Proxima Nova"/>
                <a:sym typeface="Proxima Nova"/>
                <a:hlinkClick r:id="rId3"/>
              </a:rPr>
              <a:t>Duplicate Sample Visa Pages</a:t>
            </a:r>
            <a:endParaRPr b="1"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When visiting the page </a:t>
            </a:r>
            <a:r>
              <a:rPr lang="en" sz="1200" u="sng">
                <a:solidFill>
                  <a:schemeClr val="hlink"/>
                </a:solidFill>
                <a:latin typeface="Proxima Nova"/>
                <a:ea typeface="Proxima Nova"/>
                <a:cs typeface="Proxima Nova"/>
                <a:sym typeface="Proxima Nova"/>
                <a:hlinkClick r:id="rId4"/>
              </a:rPr>
              <a:t>https://cibtvisas.com/sample-visas/SAU/</a:t>
            </a:r>
            <a:r>
              <a:rPr lang="en" sz="1200">
                <a:solidFill>
                  <a:schemeClr val="dk1"/>
                </a:solidFill>
                <a:latin typeface="Proxima Nova"/>
                <a:ea typeface="Proxima Nova"/>
                <a:cs typeface="Proxima Nova"/>
                <a:sym typeface="Proxima Nova"/>
              </a:rPr>
              <a:t>, users from Saudi Arabia may be looking for a visa to visit another location. </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When clicking on “China Visa” under “Top Visa Destinations”, users are taken to the following page </a:t>
            </a:r>
            <a:r>
              <a:rPr lang="en" sz="1200" u="sng">
                <a:solidFill>
                  <a:schemeClr val="hlink"/>
                </a:solidFill>
                <a:latin typeface="Proxima Nova"/>
                <a:ea typeface="Proxima Nova"/>
                <a:cs typeface="Proxima Nova"/>
                <a:sym typeface="Proxima Nova"/>
                <a:hlinkClick r:id="rId5"/>
              </a:rPr>
              <a:t>https://cibtvisas.com/sample-visas/SAU/china-visa</a:t>
            </a:r>
            <a:r>
              <a:rPr lang="en" sz="1200">
                <a:solidFill>
                  <a:schemeClr val="dk1"/>
                </a:solidFill>
                <a:latin typeface="Proxima Nova"/>
                <a:ea typeface="Proxima Nova"/>
                <a:cs typeface="Proxima Nova"/>
                <a:sym typeface="Proxima Nova"/>
              </a:rPr>
              <a:t>, which contains the same Saudi Arabia Sample Visa</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Does the current user experience here make sense?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chemeClr val="dk1"/>
                </a:solidFill>
                <a:latin typeface="Proxima Nova"/>
                <a:ea typeface="Proxima Nova"/>
                <a:cs typeface="Proxima Nova"/>
                <a:sym typeface="Proxima Nova"/>
              </a:rPr>
              <a:t>302 URLs Found on Sample Visa Pages on “Get a Visa” Link </a:t>
            </a:r>
            <a:endParaRPr b="1"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When selecting a "Destination" from the dropdown filter under the text "To see a sample travel visa..." on pages such as </a:t>
            </a:r>
            <a:r>
              <a:rPr lang="en" sz="1200" u="sng">
                <a:solidFill>
                  <a:schemeClr val="hlink"/>
                </a:solidFill>
                <a:latin typeface="Proxima Nova"/>
                <a:ea typeface="Proxima Nova"/>
                <a:cs typeface="Proxima Nova"/>
                <a:sym typeface="Proxima Nova"/>
                <a:hlinkClick r:id="rId6"/>
              </a:rPr>
              <a:t>https://cibtvisas.com/sample-visas</a:t>
            </a:r>
            <a:r>
              <a:rPr lang="en" sz="1200">
                <a:solidFill>
                  <a:schemeClr val="dk1"/>
                </a:solidFill>
                <a:latin typeface="Proxima Nova"/>
                <a:ea typeface="Proxima Nova"/>
                <a:cs typeface="Proxima Nova"/>
                <a:sym typeface="Proxima Nova"/>
              </a:rPr>
              <a:t> and </a:t>
            </a:r>
            <a:r>
              <a:rPr lang="en" sz="1200" u="sng">
                <a:solidFill>
                  <a:schemeClr val="hlink"/>
                </a:solidFill>
                <a:latin typeface="Proxima Nova"/>
                <a:ea typeface="Proxima Nova"/>
                <a:cs typeface="Proxima Nova"/>
                <a:sym typeface="Proxima Nova"/>
                <a:hlinkClick r:id="rId7"/>
              </a:rPr>
              <a:t>https://cibtvisas.com/sample-visas/CHN/china.php</a:t>
            </a:r>
            <a:r>
              <a:rPr lang="en" sz="1200">
                <a:solidFill>
                  <a:schemeClr val="dk1"/>
                </a:solidFill>
                <a:latin typeface="Proxima Nova"/>
                <a:ea typeface="Proxima Nova"/>
                <a:cs typeface="Proxima Nova"/>
                <a:sym typeface="Proxima Nova"/>
              </a:rPr>
              <a:t>, the URL found linked on the text “Get a Visa” that appears each time the dropdown is changed links to a different 302 Redirect URL.</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Ex. When visiting </a:t>
            </a:r>
            <a:r>
              <a:rPr lang="en" sz="1200" u="sng">
                <a:solidFill>
                  <a:schemeClr val="hlink"/>
                </a:solidFill>
                <a:latin typeface="Proxima Nova"/>
                <a:ea typeface="Proxima Nova"/>
                <a:cs typeface="Proxima Nova"/>
                <a:sym typeface="Proxima Nova"/>
                <a:hlinkClick r:id="rId8"/>
              </a:rPr>
              <a:t>https://cibtvisas.com/sample-visas/CHN/china.php</a:t>
            </a:r>
            <a:r>
              <a:rPr lang="en" sz="1200">
                <a:solidFill>
                  <a:schemeClr val="dk1"/>
                </a:solidFill>
                <a:latin typeface="Proxima Nova"/>
                <a:ea typeface="Proxima Nova"/>
                <a:cs typeface="Proxima Nova"/>
                <a:sym typeface="Proxima Nova"/>
              </a:rPr>
              <a:t>, clicking the dropdown for “Indonesia” places </a:t>
            </a:r>
            <a:r>
              <a:rPr lang="en" sz="1200" u="sng">
                <a:solidFill>
                  <a:schemeClr val="hlink"/>
                </a:solidFill>
                <a:latin typeface="Proxima Nova"/>
                <a:ea typeface="Proxima Nova"/>
                <a:cs typeface="Proxima Nova"/>
                <a:sym typeface="Proxima Nova"/>
                <a:hlinkClick r:id="rId9"/>
              </a:rPr>
              <a:t>https://cibtvisas.com/indonesia-visa.php</a:t>
            </a:r>
            <a:r>
              <a:rPr lang="en" sz="1200">
                <a:solidFill>
                  <a:schemeClr val="dk1"/>
                </a:solidFill>
                <a:latin typeface="Proxima Nova"/>
                <a:ea typeface="Proxima Nova"/>
                <a:cs typeface="Proxima Nova"/>
                <a:sym typeface="Proxima Nova"/>
              </a:rPr>
              <a:t> as the link on “Get a Visa”.</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Action Item: </a:t>
            </a:r>
            <a:r>
              <a:rPr lang="en" sz="1200">
                <a:solidFill>
                  <a:schemeClr val="dk1"/>
                </a:solidFill>
                <a:latin typeface="Proxima Nova"/>
                <a:ea typeface="Proxima Nova"/>
                <a:cs typeface="Proxima Nova"/>
                <a:sym typeface="Proxima Nova"/>
              </a:rPr>
              <a:t>Replace all instances of these 302 URLs with their 200 Status counterpart. Locations for each of these URLs can be found in this </a:t>
            </a:r>
            <a:r>
              <a:rPr lang="en" sz="1200" u="sng">
                <a:solidFill>
                  <a:schemeClr val="hlink"/>
                </a:solidFill>
                <a:latin typeface="Proxima Nova"/>
                <a:ea typeface="Proxima Nova"/>
                <a:cs typeface="Proxima Nova"/>
                <a:sym typeface="Proxima Nova"/>
                <a:hlinkClick r:id="rId10"/>
              </a:rPr>
              <a:t>sheet linked here</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p:txBody>
      </p:sp>
      <p:pic>
        <p:nvPicPr>
          <p:cNvPr id="427" name="Google Shape;427;p63"/>
          <p:cNvPicPr preferRelativeResize="0"/>
          <p:nvPr/>
        </p:nvPicPr>
        <p:blipFill rotWithShape="1">
          <a:blip r:embed="rId11">
            <a:alphaModFix/>
          </a:blip>
          <a:srcRect b="0" l="0" r="0" t="0"/>
          <a:stretch/>
        </p:blipFill>
        <p:spPr>
          <a:xfrm>
            <a:off x="8432975" y="250200"/>
            <a:ext cx="465000" cy="393814"/>
          </a:xfrm>
          <a:prstGeom prst="rect">
            <a:avLst/>
          </a:prstGeom>
          <a:noFill/>
          <a:ln>
            <a:noFill/>
          </a:ln>
        </p:spPr>
      </p:pic>
      <p:pic>
        <p:nvPicPr>
          <p:cNvPr id="428" name="Google Shape;428;p63"/>
          <p:cNvPicPr preferRelativeResize="0"/>
          <p:nvPr/>
        </p:nvPicPr>
        <p:blipFill rotWithShape="1">
          <a:blip r:embed="rId12">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10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32" name="Shape 432"/>
        <p:cNvGrpSpPr/>
        <p:nvPr/>
      </p:nvGrpSpPr>
      <p:grpSpPr>
        <a:xfrm>
          <a:off x="0" y="0"/>
          <a:ext cx="0" cy="0"/>
          <a:chOff x="0" y="0"/>
          <a:chExt cx="0" cy="0"/>
        </a:xfrm>
      </p:grpSpPr>
      <p:sp>
        <p:nvSpPr>
          <p:cNvPr id="433" name="Google Shape;433;p64"/>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64"/>
          <p:cNvSpPr txBox="1"/>
          <p:nvPr>
            <p:ph type="title"/>
          </p:nvPr>
        </p:nvSpPr>
        <p:spPr>
          <a:xfrm>
            <a:off x="313100" y="1998025"/>
            <a:ext cx="2451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What’s next?</a:t>
            </a:r>
            <a:endParaRPr b="1" sz="2400">
              <a:solidFill>
                <a:srgbClr val="FFFFFF"/>
              </a:solidFill>
              <a:latin typeface="Proxima Nova"/>
              <a:ea typeface="Proxima Nova"/>
              <a:cs typeface="Proxima Nova"/>
              <a:sym typeface="Proxima Nova"/>
            </a:endParaRPr>
          </a:p>
        </p:txBody>
      </p:sp>
      <p:sp>
        <p:nvSpPr>
          <p:cNvPr id="435" name="Google Shape;435;p64"/>
          <p:cNvSpPr txBox="1"/>
          <p:nvPr/>
        </p:nvSpPr>
        <p:spPr>
          <a:xfrm>
            <a:off x="2875500" y="342900"/>
            <a:ext cx="4947000" cy="4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Recommended Action Items: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Create an updated XML Sitemap that:</a:t>
            </a:r>
            <a:endParaRPr b="1" sz="1200">
              <a:solidFill>
                <a:schemeClr val="dk1"/>
              </a:solidFill>
              <a:latin typeface="Proxima Nova"/>
              <a:ea typeface="Proxima Nova"/>
              <a:cs typeface="Proxima Nova"/>
              <a:sym typeface="Proxima Nova"/>
            </a:endParaRPr>
          </a:p>
          <a:p>
            <a:pPr indent="-304800" lvl="1" marL="9144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Only includes 200 Status Pages (Remove all other </a:t>
            </a:r>
            <a:r>
              <a:rPr lang="en" sz="1200" u="sng">
                <a:solidFill>
                  <a:schemeClr val="hlink"/>
                </a:solidFill>
                <a:latin typeface="Proxima Nova"/>
                <a:ea typeface="Proxima Nova"/>
                <a:cs typeface="Proxima Nova"/>
                <a:sym typeface="Proxima Nova"/>
                <a:hlinkClick r:id="rId3"/>
              </a:rPr>
              <a:t>URLs without this status</a:t>
            </a:r>
            <a:r>
              <a:rPr lang="en" sz="1200">
                <a:solidFill>
                  <a:schemeClr val="dk1"/>
                </a:solidFill>
                <a:latin typeface="Proxima Nova"/>
                <a:ea typeface="Proxima Nova"/>
                <a:cs typeface="Proxima Nova"/>
                <a:sym typeface="Proxima Nova"/>
              </a:rPr>
              <a:t>)</a:t>
            </a:r>
            <a:endParaRPr sz="1200">
              <a:solidFill>
                <a:schemeClr val="dk1"/>
              </a:solidFill>
              <a:latin typeface="Proxima Nova"/>
              <a:ea typeface="Proxima Nova"/>
              <a:cs typeface="Proxima Nova"/>
              <a:sym typeface="Proxima Nova"/>
            </a:endParaRPr>
          </a:p>
          <a:p>
            <a:pPr indent="-304800" lvl="1" marL="9144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Remove spaces from the beginning and end of all URLs</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Remove Duplicated Content, Where Applicable</a:t>
            </a:r>
            <a:endParaRPr b="1" sz="1200">
              <a:solidFill>
                <a:schemeClr val="dk1"/>
              </a:solidFill>
              <a:latin typeface="Proxima Nova"/>
              <a:ea typeface="Proxima Nova"/>
              <a:cs typeface="Proxima Nova"/>
              <a:sym typeface="Proxima Nova"/>
            </a:endParaRPr>
          </a:p>
          <a:p>
            <a:pPr indent="-304800" lvl="1" marL="914400" rtl="0" algn="l">
              <a:spcBef>
                <a:spcPts val="0"/>
              </a:spcBef>
              <a:spcAft>
                <a:spcPts val="0"/>
              </a:spcAft>
              <a:buClr>
                <a:schemeClr val="dk1"/>
              </a:buClr>
              <a:buSzPts val="1200"/>
              <a:buFont typeface="Proxima Nova"/>
              <a:buChar char="○"/>
            </a:pPr>
            <a:r>
              <a:rPr lang="en" sz="1200" u="sng">
                <a:solidFill>
                  <a:schemeClr val="hlink"/>
                </a:solidFill>
                <a:latin typeface="Proxima Nova"/>
                <a:ea typeface="Proxima Nova"/>
                <a:cs typeface="Proxima Nova"/>
                <a:sym typeface="Proxima Nova"/>
                <a:hlinkClick r:id="rId4"/>
              </a:rPr>
              <a:t>Sample Visa Pages</a:t>
            </a:r>
            <a:endParaRPr sz="1200" u="sng">
              <a:solidFill>
                <a:schemeClr val="dk1"/>
              </a:solidFill>
              <a:latin typeface="Proxima Nova"/>
              <a:ea typeface="Proxima Nova"/>
              <a:cs typeface="Proxima Nova"/>
              <a:sym typeface="Proxima Nova"/>
            </a:endParaRPr>
          </a:p>
          <a:p>
            <a:pPr indent="-304800" lvl="2" marL="13716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Determine &amp; Confirm Main Version of each Destination Sample Visa URL</a:t>
            </a:r>
            <a:endParaRPr sz="1200">
              <a:solidFill>
                <a:schemeClr val="dk1"/>
              </a:solidFill>
              <a:latin typeface="Proxima Nova"/>
              <a:ea typeface="Proxima Nova"/>
              <a:cs typeface="Proxima Nova"/>
              <a:sym typeface="Proxima Nova"/>
            </a:endParaRPr>
          </a:p>
          <a:p>
            <a:pPr indent="-304800" lvl="3" marL="18288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Ideal Action: Canonica</a:t>
            </a:r>
            <a:endParaRPr sz="1200">
              <a:solidFill>
                <a:schemeClr val="dk1"/>
              </a:solidFill>
              <a:latin typeface="Proxima Nova"/>
              <a:ea typeface="Proxima Nova"/>
              <a:cs typeface="Proxima Nova"/>
              <a:sym typeface="Proxima Nova"/>
            </a:endParaRPr>
          </a:p>
          <a:p>
            <a:pPr indent="-304800" lvl="3" marL="18288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Alternative Actino: Add a canonical tag to all other instances of the sample visa URL for the same destination, to canonicalize to that identified main Destination Sample VIsa URL.</a:t>
            </a:r>
            <a:endParaRPr sz="1200">
              <a:solidFill>
                <a:schemeClr val="dk1"/>
              </a:solidFill>
              <a:latin typeface="Proxima Nova"/>
              <a:ea typeface="Proxima Nova"/>
              <a:cs typeface="Proxima Nova"/>
              <a:sym typeface="Proxima Nova"/>
            </a:endParaRPr>
          </a:p>
          <a:p>
            <a:pPr indent="-304800" lvl="1" marL="914400" rtl="0" algn="l">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Visa Check Pages</a:t>
            </a:r>
            <a:endParaRPr b="1" sz="1200">
              <a:solidFill>
                <a:schemeClr val="dk1"/>
              </a:solidFill>
              <a:latin typeface="Proxima Nova"/>
              <a:ea typeface="Proxima Nova"/>
              <a:cs typeface="Proxima Nova"/>
              <a:sym typeface="Proxima Nova"/>
            </a:endParaRPr>
          </a:p>
          <a:p>
            <a:pPr indent="-304800" lvl="2" marL="13716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After determining which version of the visa check pages is the main one, have all other instances redirect to the main URL, and replace all internal locations of the Old URLs, with the new URLs</a:t>
            </a:r>
            <a:endParaRPr sz="1200">
              <a:solidFill>
                <a:schemeClr val="dk1"/>
              </a:solidFill>
              <a:latin typeface="Proxima Nova"/>
              <a:ea typeface="Proxima Nova"/>
              <a:cs typeface="Proxima Nova"/>
              <a:sym typeface="Proxima Nova"/>
            </a:endParaRPr>
          </a:p>
        </p:txBody>
      </p:sp>
      <p:pic>
        <p:nvPicPr>
          <p:cNvPr id="436" name="Google Shape;436;p6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437" name="Google Shape;437;p64"/>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10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41" name="Shape 441"/>
        <p:cNvGrpSpPr/>
        <p:nvPr/>
      </p:nvGrpSpPr>
      <p:grpSpPr>
        <a:xfrm>
          <a:off x="0" y="0"/>
          <a:ext cx="0" cy="0"/>
          <a:chOff x="0" y="0"/>
          <a:chExt cx="0" cy="0"/>
        </a:xfrm>
      </p:grpSpPr>
      <p:sp>
        <p:nvSpPr>
          <p:cNvPr id="442" name="Google Shape;442;p65"/>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443" name="Google Shape;443;p65"/>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444" name="Google Shape;444;p65"/>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445" name="Google Shape;445;p65"/>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