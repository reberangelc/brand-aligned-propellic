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Proxima Nova"/>
      <p:regular r:id="rId37"/>
      <p:bold r:id="rId38"/>
      <p:italic r:id="rId39"/>
      <p:boldItalic r:id="rId40"/>
    </p:embeddedFont>
    <p:embeddedFont>
      <p:font typeface="Roboto"/>
      <p:regular r:id="rId41"/>
      <p:bold r:id="rId42"/>
      <p:italic r:id="rId43"/>
      <p:boldItalic r:id="rId44"/>
    </p:embeddedFont>
    <p:embeddedFont>
      <p:font typeface="Proxima Nova Extrabold"/>
      <p:bold r:id="rId45"/>
    </p:embeddedFont>
    <p:embeddedFont>
      <p:font typeface="Proxima Nova Semibold"/>
      <p:regular r:id="rId46"/>
      <p:bold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7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C336D6-B2E7-4081-8EC9-E66BE20CBB55}">
  <a:tblStyle styleId="{3AC336D6-B2E7-4081-8EC9-E66BE20CBB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roximaNova-boldItalic.fntdata"/><Relationship Id="rId20" Type="http://schemas.openxmlformats.org/officeDocument/2006/relationships/slide" Target="slides/slide14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16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15.xml"/><Relationship Id="rId43" Type="http://schemas.openxmlformats.org/officeDocument/2006/relationships/font" Target="fonts/Roboto-italic.fntdata"/><Relationship Id="rId24" Type="http://schemas.openxmlformats.org/officeDocument/2006/relationships/slide" Target="slides/slide18.xml"/><Relationship Id="rId46" Type="http://schemas.openxmlformats.org/officeDocument/2006/relationships/font" Target="fonts/ProximaNovaSemibold-regular.fntdata"/><Relationship Id="rId23" Type="http://schemas.openxmlformats.org/officeDocument/2006/relationships/slide" Target="slides/slide17.xml"/><Relationship Id="rId45" Type="http://schemas.openxmlformats.org/officeDocument/2006/relationships/font" Target="fonts/ProximaNova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ProximaNovaSemibold-boldItalic.fntdata"/><Relationship Id="rId25" Type="http://schemas.openxmlformats.org/officeDocument/2006/relationships/slide" Target="slides/slide19.xml"/><Relationship Id="rId47" Type="http://schemas.openxmlformats.org/officeDocument/2006/relationships/font" Target="fonts/ProximaNovaSemibold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ProximaNova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ProximaNova-italic.fntdata"/><Relationship Id="rId16" Type="http://schemas.openxmlformats.org/officeDocument/2006/relationships/slide" Target="slides/slide10.xml"/><Relationship Id="rId38" Type="http://schemas.openxmlformats.org/officeDocument/2006/relationships/font" Target="fonts/ProximaNov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aea3b34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aea3b34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71da273d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1371da273d9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3aea3b34d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3aea3b34d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371da273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371da273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44ea192eb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44ea192eb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5803017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465803017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5803017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465803017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465803017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465803017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371da273d9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371da273d9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3aea3b34d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3aea3b34d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371da273d9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371da273d9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371da273d9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371da273d9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44ea192eb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44ea192eb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371da273d9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371da273d9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44ea192eb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44ea192eb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371da273d9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371da273d9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371da273d9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371da273d9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45780caeb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45780caeb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371da273d9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371da273d9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371da273d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371da273d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371da273d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371da273d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71da273d9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371da273d9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371da273d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371da273d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371da273d9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371da273d9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465803017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465803017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371da273d9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371da273d9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45780caeb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45780caeb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45780caeb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45780caeb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5780caeb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45780caeb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45780cae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45780cae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Relationship Id="rId5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Relationship Id="rId4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Relationship Id="rId4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Relationship Id="rId4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1A6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731950"/>
            <a:ext cx="8520600" cy="72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42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 Search Analysis</a:t>
            </a:r>
            <a:endParaRPr b="1" sz="442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553075"/>
            <a:ext cx="54075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Placeholder</a:t>
            </a:r>
            <a:endParaRPr sz="2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174" y="713560"/>
            <a:ext cx="1598936" cy="376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4961" y="645775"/>
            <a:ext cx="512113" cy="512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2068440" y="713548"/>
            <a:ext cx="4191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x</a:t>
            </a:r>
            <a:endParaRPr sz="23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5">
            <a:alphaModFix amt="50000"/>
          </a:blip>
          <a:srcRect b="0" l="21581" r="0" t="21210"/>
          <a:stretch/>
        </p:blipFill>
        <p:spPr>
          <a:xfrm flipH="1" rot="6">
            <a:off x="6911576" y="-146246"/>
            <a:ext cx="3858849" cy="5289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914295" y="2093176"/>
            <a:ext cx="274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AGEND</a:t>
            </a:r>
            <a:r>
              <a:rPr b="1" lang="en" sz="400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endParaRPr b="1" i="0" sz="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4572000" y="0"/>
            <a:ext cx="4569986" cy="5141235"/>
          </a:xfrm>
          <a:custGeom>
            <a:rect b="b" l="l" r="r" t="t"/>
            <a:pathLst>
              <a:path extrusionOk="0" h="3752726" w="3335756">
                <a:moveTo>
                  <a:pt x="0" y="0"/>
                </a:moveTo>
                <a:lnTo>
                  <a:pt x="3335756" y="0"/>
                </a:lnTo>
                <a:lnTo>
                  <a:pt x="3335756" y="3752726"/>
                </a:lnTo>
                <a:lnTo>
                  <a:pt x="0" y="3752726"/>
                </a:lnTo>
                <a:close/>
              </a:path>
            </a:pathLst>
          </a:custGeom>
          <a:solidFill>
            <a:srgbClr val="E21A6B"/>
          </a:solidFill>
          <a:ln>
            <a:noFill/>
          </a:ln>
        </p:spPr>
      </p:sp>
      <p:cxnSp>
        <p:nvCxnSpPr>
          <p:cNvPr id="66" name="Google Shape;66;p14"/>
          <p:cNvCxnSpPr/>
          <p:nvPr/>
        </p:nvCxnSpPr>
        <p:spPr>
          <a:xfrm rot="-5400000">
            <a:off x="4193521" y="2700419"/>
            <a:ext cx="55542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4"/>
          <p:cNvCxnSpPr/>
          <p:nvPr/>
        </p:nvCxnSpPr>
        <p:spPr>
          <a:xfrm>
            <a:off x="6963477" y="514350"/>
            <a:ext cx="3561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4"/>
          <p:cNvCxnSpPr/>
          <p:nvPr/>
        </p:nvCxnSpPr>
        <p:spPr>
          <a:xfrm>
            <a:off x="6607555" y="1278867"/>
            <a:ext cx="3561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4"/>
          <p:cNvCxnSpPr/>
          <p:nvPr/>
        </p:nvCxnSpPr>
        <p:spPr>
          <a:xfrm>
            <a:off x="6963477" y="2056424"/>
            <a:ext cx="3561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4"/>
          <p:cNvCxnSpPr/>
          <p:nvPr/>
        </p:nvCxnSpPr>
        <p:spPr>
          <a:xfrm>
            <a:off x="6614699" y="2878390"/>
            <a:ext cx="3561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4"/>
          <p:cNvCxnSpPr/>
          <p:nvPr/>
        </p:nvCxnSpPr>
        <p:spPr>
          <a:xfrm>
            <a:off x="6963477" y="3691223"/>
            <a:ext cx="3561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4"/>
          <p:cNvCxnSpPr/>
          <p:nvPr/>
        </p:nvCxnSpPr>
        <p:spPr>
          <a:xfrm>
            <a:off x="914295" y="2864103"/>
            <a:ext cx="420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14"/>
          <p:cNvSpPr txBox="1"/>
          <p:nvPr/>
        </p:nvSpPr>
        <p:spPr>
          <a:xfrm>
            <a:off x="7463175" y="332048"/>
            <a:ext cx="114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Relevant Branded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search terms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5486403" y="1107617"/>
            <a:ext cx="98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 Search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Performance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7463175" y="1920019"/>
            <a:ext cx="127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 Search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Above the Fold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5190632" y="2714758"/>
            <a:ext cx="127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 Search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Below the Fold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295" y="4102035"/>
            <a:ext cx="622399" cy="52711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7463175" y="3599028"/>
            <a:ext cx="1277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GMB Section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190632" y="4463810"/>
            <a:ext cx="1277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People Also Ask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14"/>
          <p:cNvCxnSpPr/>
          <p:nvPr/>
        </p:nvCxnSpPr>
        <p:spPr>
          <a:xfrm>
            <a:off x="6607555" y="4541718"/>
            <a:ext cx="3561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4480075" y="2120350"/>
            <a:ext cx="3710400" cy="17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A branded keyword, or a branded search, is a search that includes the name of your company, business or brand, or an entity closely aligned with the brand of your company.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4480075" y="1316675"/>
            <a:ext cx="4149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Branded Search?</a:t>
            </a:r>
            <a:endParaRPr b="1" sz="250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-75" y="-24375"/>
            <a:ext cx="3429000" cy="2423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5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482350" y="483075"/>
            <a:ext cx="38202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Why Does Branded Search Matter?</a:t>
            </a:r>
            <a:endParaRPr b="1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482350" y="1507425"/>
            <a:ext cx="3930000" cy="31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When someone searches for your brand, what do they find? 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Branded search queries are used by people who already know your brand, or are at the very least familiar and are actively seeking information or an offering from your brand. 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Those searching your brand name directly are more likely to convert into customers. 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Branded results say a lot about your company, services, and products. Branded results can either encourage or deter searches from purchasing from you.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2850" y="7"/>
            <a:ext cx="4341149" cy="301354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5131300" y="-25"/>
            <a:ext cx="4012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9149" y="483075"/>
            <a:ext cx="6827874" cy="4639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Your Traffic Breakdown</a:t>
            </a:r>
            <a:endParaRPr b="1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0461" y="1148825"/>
            <a:ext cx="3223076" cy="311922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2607000" y="4399150"/>
            <a:ext cx="3930000" cy="3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latin typeface="Proxima Nova"/>
                <a:ea typeface="Proxima Nova"/>
                <a:cs typeface="Proxima Nova"/>
                <a:sym typeface="Proxima Nova"/>
              </a:rPr>
              <a:t>Branded vs. Unbranded Traffic</a:t>
            </a:r>
            <a:endParaRPr sz="1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1241650" y="2783525"/>
            <a:ext cx="1476300" cy="3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latin typeface="Proxima Nova"/>
                <a:ea typeface="Proxima Nova"/>
                <a:cs typeface="Proxima Nova"/>
                <a:sym typeface="Proxima Nova"/>
              </a:rPr>
              <a:t>Unbranded</a:t>
            </a:r>
            <a:endParaRPr b="1"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1241650" y="3111525"/>
            <a:ext cx="1476300" cy="4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66.7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07" name="Google Shape;107;p17"/>
          <p:cNvCxnSpPr/>
          <p:nvPr/>
        </p:nvCxnSpPr>
        <p:spPr>
          <a:xfrm flipH="1" rot="10800000">
            <a:off x="1331250" y="3111550"/>
            <a:ext cx="19677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6356000" y="1665175"/>
            <a:ext cx="1476300" cy="3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latin typeface="Proxima Nova"/>
                <a:ea typeface="Proxima Nova"/>
                <a:cs typeface="Proxima Nova"/>
                <a:sym typeface="Proxima Nova"/>
              </a:rPr>
              <a:t>Unbranded</a:t>
            </a:r>
            <a:endParaRPr b="1"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6356000" y="1993175"/>
            <a:ext cx="914400" cy="4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33.3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10" name="Google Shape;110;p17"/>
          <p:cNvCxnSpPr/>
          <p:nvPr/>
        </p:nvCxnSpPr>
        <p:spPr>
          <a:xfrm flipH="1">
            <a:off x="5302600" y="1993200"/>
            <a:ext cx="19677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Your Branded Search Terms</a:t>
            </a:r>
            <a:endParaRPr b="1" sz="22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16" name="Google Shape;116;p18"/>
          <p:cNvGraphicFramePr/>
          <p:nvPr/>
        </p:nvGraphicFramePr>
        <p:xfrm>
          <a:off x="282688" y="159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20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grand european travel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1600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" name="Google Shape;117;p18"/>
          <p:cNvGraphicFramePr/>
          <p:nvPr/>
        </p:nvGraphicFramePr>
        <p:xfrm>
          <a:off x="282688" y="1913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grand european tours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300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" name="Google Shape;118;p18"/>
          <p:cNvGraphicFramePr/>
          <p:nvPr/>
        </p:nvGraphicFramePr>
        <p:xfrm>
          <a:off x="282688" y="223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3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 tours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400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9" name="Google Shape;119;p18"/>
          <p:cNvGraphicFramePr/>
          <p:nvPr/>
        </p:nvGraphicFramePr>
        <p:xfrm>
          <a:off x="282688" y="25537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32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getours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200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" name="Google Shape;120;p18"/>
          <p:cNvGraphicFramePr/>
          <p:nvPr/>
        </p:nvGraphicFramePr>
        <p:xfrm>
          <a:off x="282688" y="112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20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BRANDED SEARCH TERM</a:t>
                      </a:r>
                      <a:endParaRPr sz="900">
                        <a:solidFill>
                          <a:schemeClr val="l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1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SEARCH VOLUME</a:t>
                      </a:r>
                      <a:endParaRPr sz="900">
                        <a:solidFill>
                          <a:schemeClr val="l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1A6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1" name="Google Shape;121;p18"/>
          <p:cNvGraphicFramePr/>
          <p:nvPr/>
        </p:nvGraphicFramePr>
        <p:xfrm>
          <a:off x="282688" y="287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20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grand european travel reviews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90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" name="Google Shape;122;p18"/>
          <p:cNvGraphicFramePr/>
          <p:nvPr/>
        </p:nvGraphicFramePr>
        <p:xfrm>
          <a:off x="282688" y="31938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getours reviews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40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3" name="Google Shape;123;p18"/>
          <p:cNvGraphicFramePr/>
          <p:nvPr/>
        </p:nvGraphicFramePr>
        <p:xfrm>
          <a:off x="282688" y="351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3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 tours reviews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40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" name="Google Shape;124;p18"/>
          <p:cNvGraphicFramePr/>
          <p:nvPr/>
        </p:nvGraphicFramePr>
        <p:xfrm>
          <a:off x="282688" y="38338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32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 tours 2022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30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5" name="Google Shape;125;p18"/>
          <p:cNvGraphicFramePr/>
          <p:nvPr/>
        </p:nvGraphicFramePr>
        <p:xfrm>
          <a:off x="282688" y="411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3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 tours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30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" name="Google Shape;126;p18"/>
          <p:cNvGraphicFramePr/>
          <p:nvPr/>
        </p:nvGraphicFramePr>
        <p:xfrm>
          <a:off x="282688" y="44362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32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grand european tours reviews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10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7" name="Google Shape;127;p18"/>
          <p:cNvGraphicFramePr/>
          <p:nvPr/>
        </p:nvGraphicFramePr>
        <p:xfrm>
          <a:off x="4660113" y="159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20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grand european travel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1600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" name="Google Shape;128;p18"/>
          <p:cNvGraphicFramePr/>
          <p:nvPr/>
        </p:nvGraphicFramePr>
        <p:xfrm>
          <a:off x="4660113" y="1913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grand european tours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300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9" name="Google Shape;129;p18"/>
          <p:cNvGraphicFramePr/>
          <p:nvPr/>
        </p:nvGraphicFramePr>
        <p:xfrm>
          <a:off x="4660113" y="223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3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 tours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400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0" name="Google Shape;130;p18"/>
          <p:cNvGraphicFramePr/>
          <p:nvPr/>
        </p:nvGraphicFramePr>
        <p:xfrm>
          <a:off x="4660113" y="25537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32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getours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200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1" name="Google Shape;131;p18"/>
          <p:cNvGraphicFramePr/>
          <p:nvPr/>
        </p:nvGraphicFramePr>
        <p:xfrm>
          <a:off x="4660113" y="112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20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BRANDED SEARCH TERM</a:t>
                      </a:r>
                      <a:endParaRPr sz="900">
                        <a:solidFill>
                          <a:schemeClr val="l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1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SEARCH VOLUME</a:t>
                      </a:r>
                      <a:endParaRPr sz="900">
                        <a:solidFill>
                          <a:schemeClr val="l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1A6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" name="Google Shape;132;p18"/>
          <p:cNvGraphicFramePr/>
          <p:nvPr/>
        </p:nvGraphicFramePr>
        <p:xfrm>
          <a:off x="4660113" y="287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20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grand european travel reviews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90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3" name="Google Shape;133;p18"/>
          <p:cNvGraphicFramePr/>
          <p:nvPr/>
        </p:nvGraphicFramePr>
        <p:xfrm>
          <a:off x="4660113" y="31938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getours reviews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40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" name="Google Shape;134;p18"/>
          <p:cNvGraphicFramePr/>
          <p:nvPr/>
        </p:nvGraphicFramePr>
        <p:xfrm>
          <a:off x="4660113" y="351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3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 tours reviews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40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Google Shape;135;p18"/>
          <p:cNvGraphicFramePr/>
          <p:nvPr/>
        </p:nvGraphicFramePr>
        <p:xfrm>
          <a:off x="4660113" y="38338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32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 tours 2022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30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6" name="Google Shape;136;p18"/>
          <p:cNvGraphicFramePr/>
          <p:nvPr/>
        </p:nvGraphicFramePr>
        <p:xfrm>
          <a:off x="4660113" y="411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3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 tours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30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Google Shape;137;p18"/>
          <p:cNvGraphicFramePr/>
          <p:nvPr/>
        </p:nvGraphicFramePr>
        <p:xfrm>
          <a:off x="4660113" y="44362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{3AC336D6-B2E7-4081-8EC9-E66BE20CBB55}</a:tableStyleId>
              </a:tblPr>
              <a:tblGrid>
                <a:gridCol w="2100600"/>
                <a:gridCol w="2100600"/>
              </a:tblGrid>
              <a:tr h="32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grand european tours reviews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10</a:t>
                      </a:r>
                      <a:endParaRPr sz="900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Competitive Brand Search Volume Comparison</a:t>
            </a:r>
            <a:endParaRPr b="1" sz="22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1356900" y="2126200"/>
            <a:ext cx="1316400" cy="6429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3242250" y="2645225"/>
            <a:ext cx="62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</a:t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1281900" y="2921550"/>
            <a:ext cx="146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{Client Website}</a:t>
            </a:r>
            <a:endParaRPr sz="300">
              <a:solidFill>
                <a:schemeClr val="dk1"/>
              </a:solidFill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1281900" y="3195150"/>
            <a:ext cx="146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1600/month</a:t>
            </a:r>
            <a:endParaRPr b="1"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1652400" y="2278300"/>
            <a:ext cx="72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LOGO</a:t>
            </a:r>
            <a:endParaRPr sz="300">
              <a:solidFill>
                <a:schemeClr val="lt1"/>
              </a:solidFill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4360800" y="1387313"/>
            <a:ext cx="1316400" cy="6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4360800" y="2182663"/>
            <a:ext cx="131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{Competitor 1}</a:t>
            </a: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4360800" y="2456263"/>
            <a:ext cx="131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1600/month</a:t>
            </a:r>
            <a:endParaRPr b="1"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4656300" y="1539413"/>
            <a:ext cx="72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LOGO</a:t>
            </a:r>
            <a:endParaRPr sz="300">
              <a:solidFill>
                <a:schemeClr val="dk1"/>
              </a:solidFill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6561425" y="1387313"/>
            <a:ext cx="1316400" cy="6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6561425" y="2182663"/>
            <a:ext cx="131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{Competitor 2}</a:t>
            </a: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6561425" y="2456263"/>
            <a:ext cx="131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1600/month</a:t>
            </a:r>
            <a:endParaRPr b="1"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6856925" y="1539413"/>
            <a:ext cx="72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LOGO</a:t>
            </a:r>
            <a:endParaRPr sz="300">
              <a:solidFill>
                <a:schemeClr val="dk1"/>
              </a:solidFill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4360800" y="3180063"/>
            <a:ext cx="1316400" cy="6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4360800" y="3996175"/>
            <a:ext cx="131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{Competitor 3}</a:t>
            </a: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4360800" y="4210900"/>
            <a:ext cx="131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1600/month</a:t>
            </a:r>
            <a:endParaRPr b="1"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4656300" y="3332163"/>
            <a:ext cx="72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LOGO</a:t>
            </a:r>
            <a:endParaRPr sz="300">
              <a:solidFill>
                <a:schemeClr val="dk1"/>
              </a:solidFill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6561425" y="3138638"/>
            <a:ext cx="1316400" cy="6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6561425" y="3936400"/>
            <a:ext cx="131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{Competitor 4}</a:t>
            </a: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6561425" y="4151125"/>
            <a:ext cx="131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1600/month</a:t>
            </a:r>
            <a:endParaRPr b="1"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6856925" y="3290738"/>
            <a:ext cx="72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LOGO</a:t>
            </a:r>
            <a:endParaRPr sz="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/>
          <p:nvPr/>
        </p:nvSpPr>
        <p:spPr>
          <a:xfrm>
            <a:off x="-91850" y="-55100"/>
            <a:ext cx="3472800" cy="51987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 txBox="1"/>
          <p:nvPr>
            <p:ph type="title"/>
          </p:nvPr>
        </p:nvSpPr>
        <p:spPr>
          <a:xfrm>
            <a:off x="477600" y="2136450"/>
            <a:ext cx="2472000" cy="8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4595"/>
              <a:buNone/>
            </a:pPr>
            <a:r>
              <a:rPr b="1" lang="en" sz="222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Competitive Brand Search Volume Comparison</a:t>
            </a:r>
            <a:endParaRPr b="1" sz="222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6505375" y="823925"/>
            <a:ext cx="805800" cy="6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6489750" y="1788775"/>
            <a:ext cx="805800" cy="6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6505367" y="2753600"/>
            <a:ext cx="805800" cy="6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6489742" y="3676675"/>
            <a:ext cx="805800" cy="6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525838" y="2164950"/>
            <a:ext cx="62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7446850" y="823913"/>
            <a:ext cx="131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{Competitor 1}</a:t>
            </a: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7446850" y="1097513"/>
            <a:ext cx="131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1600/month</a:t>
            </a:r>
            <a:endParaRPr b="1"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7446850" y="1788763"/>
            <a:ext cx="131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{Competitor 2}</a:t>
            </a: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7446850" y="2062363"/>
            <a:ext cx="131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1600/month</a:t>
            </a:r>
            <a:endParaRPr b="1"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7446850" y="2753613"/>
            <a:ext cx="131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{Competitor 3}</a:t>
            </a: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7446850" y="3027213"/>
            <a:ext cx="131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1600/month</a:t>
            </a:r>
            <a:endParaRPr b="1"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7446850" y="3676663"/>
            <a:ext cx="131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{Competitor 4}</a:t>
            </a: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7446850" y="3950263"/>
            <a:ext cx="131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1600/month</a:t>
            </a:r>
            <a:endParaRPr b="1"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841075" y="2062375"/>
            <a:ext cx="1316400" cy="6429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3766075" y="2857725"/>
            <a:ext cx="146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{Client Website}</a:t>
            </a:r>
            <a:endParaRPr sz="300">
              <a:solidFill>
                <a:schemeClr val="dk1"/>
              </a:solidFill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766075" y="3131325"/>
            <a:ext cx="146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1600/month</a:t>
            </a:r>
            <a:endParaRPr b="1"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136575" y="2214475"/>
            <a:ext cx="72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LOGO</a:t>
            </a:r>
            <a:endParaRPr sz="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/>
          <p:nvPr/>
        </p:nvSpPr>
        <p:spPr>
          <a:xfrm rot="4823503">
            <a:off x="3917162" y="-343454"/>
            <a:ext cx="2284446" cy="10499308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10547">
            <a:off x="6869994" y="2316794"/>
            <a:ext cx="2209960" cy="444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>
            <p:ph type="title"/>
          </p:nvPr>
        </p:nvSpPr>
        <p:spPr>
          <a:xfrm>
            <a:off x="593850" y="2239500"/>
            <a:ext cx="4056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 Search Example</a:t>
            </a:r>
            <a:endParaRPr b="1" sz="34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2975" y="250200"/>
            <a:ext cx="465000" cy="393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2850" y="1683657"/>
            <a:ext cx="4341149" cy="301354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/>
          <p:nvPr/>
        </p:nvSpPr>
        <p:spPr>
          <a:xfrm rot="4823503">
            <a:off x="2229752" y="-4392734"/>
            <a:ext cx="2284446" cy="7511117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/>
          <p:nvPr/>
        </p:nvSpPr>
        <p:spPr>
          <a:xfrm>
            <a:off x="4953000" y="0"/>
            <a:ext cx="4191000" cy="51435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02" name="Google Shape;2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10547">
            <a:off x="7772169" y="1431713"/>
            <a:ext cx="2906306" cy="584794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Example: Branded Search Results</a:t>
            </a:r>
            <a:endParaRPr b="1" sz="22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04" name="Google Shape;20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1072875"/>
            <a:ext cx="5151467" cy="38209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05" name="Google Shape;205;p22"/>
          <p:cNvSpPr txBox="1"/>
          <p:nvPr/>
        </p:nvSpPr>
        <p:spPr>
          <a:xfrm>
            <a:off x="5655600" y="1745400"/>
            <a:ext cx="3255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Branded Advertisement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Branded Organic Result With Search &amp; Sitelinks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People Also Ask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Knowledge Panel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492850" y="1630475"/>
            <a:ext cx="285300" cy="3429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492850" y="1601825"/>
            <a:ext cx="28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492850" y="3250925"/>
            <a:ext cx="285300" cy="3429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492850" y="3222275"/>
            <a:ext cx="28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492850" y="4131975"/>
            <a:ext cx="285300" cy="3429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92850" y="4103325"/>
            <a:ext cx="28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2803850" y="1601825"/>
            <a:ext cx="285300" cy="3429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2803850" y="1573175"/>
            <a:ext cx="28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/>
          <p:nvPr/>
        </p:nvSpPr>
        <p:spPr>
          <a:xfrm rot="4823503">
            <a:off x="3917162" y="-343454"/>
            <a:ext cx="2284446" cy="10499308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10547">
            <a:off x="6869994" y="2316794"/>
            <a:ext cx="2209960" cy="4446787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>
            <p:ph type="title"/>
          </p:nvPr>
        </p:nvSpPr>
        <p:spPr>
          <a:xfrm>
            <a:off x="593850" y="2239500"/>
            <a:ext cx="4056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Knowledge Panel</a:t>
            </a:r>
            <a:endParaRPr b="1" sz="34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2975" y="250200"/>
            <a:ext cx="465000" cy="393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2850" y="1683657"/>
            <a:ext cx="4341149" cy="301354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/>
          <p:nvPr/>
        </p:nvSpPr>
        <p:spPr>
          <a:xfrm rot="4823503">
            <a:off x="2229752" y="-4392734"/>
            <a:ext cx="2284446" cy="7511117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/>
          <p:nvPr/>
        </p:nvSpPr>
        <p:spPr>
          <a:xfrm>
            <a:off x="4953000" y="0"/>
            <a:ext cx="4191000" cy="51435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9" name="Google Shape;2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Contiki’s Knowledge Panel</a:t>
            </a:r>
            <a:endParaRPr b="1" sz="22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30" name="Google Shape;2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3750" y="239638"/>
            <a:ext cx="2566100" cy="46642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31" name="Google Shape;23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237" y="1328906"/>
            <a:ext cx="3217238" cy="336546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 txBox="1"/>
          <p:nvPr/>
        </p:nvSpPr>
        <p:spPr>
          <a:xfrm>
            <a:off x="512989" y="1389251"/>
            <a:ext cx="46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endParaRPr sz="2100">
              <a:solidFill>
                <a:srgbClr val="6AA84F"/>
              </a:solidFill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2673375" y="1249750"/>
            <a:ext cx="46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endParaRPr sz="2100">
              <a:solidFill>
                <a:srgbClr val="6AA84F"/>
              </a:solidFill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2458449" y="1517425"/>
            <a:ext cx="46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endParaRPr sz="2100">
              <a:solidFill>
                <a:srgbClr val="6AA84F"/>
              </a:solidFill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471500" y="1886225"/>
            <a:ext cx="46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endParaRPr sz="2100">
              <a:solidFill>
                <a:srgbClr val="6AA84F"/>
              </a:solidFill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2496139" y="3322704"/>
            <a:ext cx="46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X</a:t>
            </a:r>
            <a:endParaRPr sz="2100">
              <a:solidFill>
                <a:srgbClr val="CC0000"/>
              </a:solidFill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2458449" y="3602416"/>
            <a:ext cx="46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endParaRPr sz="2100">
              <a:solidFill>
                <a:srgbClr val="6AA84F"/>
              </a:solidFill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2160568" y="3846772"/>
            <a:ext cx="46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X</a:t>
            </a:r>
            <a:endParaRPr sz="2100">
              <a:solidFill>
                <a:srgbClr val="CC0000"/>
              </a:solidFill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3284149" y="4111403"/>
            <a:ext cx="46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endParaRPr sz="2100">
              <a:solidFill>
                <a:srgbClr val="6AA84F"/>
              </a:solidFill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5066250" y="2521125"/>
            <a:ext cx="39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endParaRPr sz="1500">
              <a:solidFill>
                <a:srgbClr val="6AA84F"/>
              </a:solidFill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5515250" y="249555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X   </a:t>
            </a:r>
            <a:endParaRPr sz="1700">
              <a:solidFill>
                <a:srgbClr val="CC0000"/>
              </a:solidFill>
            </a:endParaRPr>
          </a:p>
        </p:txBody>
      </p:sp>
      <p:pic>
        <p:nvPicPr>
          <p:cNvPr id="242" name="Google Shape;24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910547">
            <a:off x="7204219" y="117013"/>
            <a:ext cx="2906306" cy="584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/>
        </p:nvSpPr>
        <p:spPr>
          <a:xfrm>
            <a:off x="5570100" y="1432250"/>
            <a:ext cx="26673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Missing Knowledge Graph Features</a:t>
            </a:r>
            <a:endParaRPr b="1" sz="220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5570100" y="2364525"/>
            <a:ext cx="32286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 sz="1800">
                <a:solidFill>
                  <a:schemeClr val="dk2"/>
                </a:solidFill>
              </a:rPr>
              <a:t>Stock Symbol</a:t>
            </a:r>
            <a:endParaRPr sz="1800">
              <a:solidFill>
                <a:schemeClr val="dk2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 sz="1800">
                <a:solidFill>
                  <a:schemeClr val="dk2"/>
                </a:solidFill>
              </a:rPr>
              <a:t>Sales Phone Number</a:t>
            </a:r>
            <a:endParaRPr sz="1800">
              <a:solidFill>
                <a:schemeClr val="dk2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 sz="1800">
                <a:solidFill>
                  <a:schemeClr val="dk2"/>
                </a:solidFill>
              </a:rPr>
              <a:t>Founding Date</a:t>
            </a:r>
            <a:endParaRPr sz="1800">
              <a:solidFill>
                <a:schemeClr val="dk2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 sz="1800">
                <a:solidFill>
                  <a:schemeClr val="dk2"/>
                </a:solidFill>
              </a:rPr>
              <a:t>Foundres</a:t>
            </a:r>
            <a:endParaRPr sz="1800">
              <a:solidFill>
                <a:schemeClr val="dk2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 sz="1800">
                <a:solidFill>
                  <a:schemeClr val="dk2"/>
                </a:solidFill>
              </a:rPr>
              <a:t>Products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0" y="0"/>
            <a:ext cx="4468500" cy="51435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50" name="Google Shape;250;p25"/>
          <p:cNvPicPr preferRelativeResize="0"/>
          <p:nvPr/>
        </p:nvPicPr>
        <p:blipFill rotWithShape="1">
          <a:blip r:embed="rId3">
            <a:alphaModFix/>
          </a:blip>
          <a:srcRect b="0" l="-14548" r="0" t="0"/>
          <a:stretch/>
        </p:blipFill>
        <p:spPr>
          <a:xfrm flipH="1" rot="-2910544">
            <a:off x="-400623" y="2196385"/>
            <a:ext cx="2531449" cy="4446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/>
          <p:nvPr/>
        </p:nvSpPr>
        <p:spPr>
          <a:xfrm rot="4823503">
            <a:off x="3917162" y="-343454"/>
            <a:ext cx="2284446" cy="10499308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10547">
            <a:off x="6869994" y="2316794"/>
            <a:ext cx="2209960" cy="4446787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6"/>
          <p:cNvSpPr txBox="1"/>
          <p:nvPr>
            <p:ph type="title"/>
          </p:nvPr>
        </p:nvSpPr>
        <p:spPr>
          <a:xfrm>
            <a:off x="593850" y="2239500"/>
            <a:ext cx="4056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Local Result</a:t>
            </a:r>
            <a:endParaRPr b="1" sz="34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58" name="Google Shape;25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2975" y="250200"/>
            <a:ext cx="465000" cy="393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2850" y="1683657"/>
            <a:ext cx="4341149" cy="301354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6"/>
          <p:cNvSpPr/>
          <p:nvPr/>
        </p:nvSpPr>
        <p:spPr>
          <a:xfrm rot="4823503">
            <a:off x="2229752" y="-4392734"/>
            <a:ext cx="2284446" cy="7511117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 txBox="1"/>
          <p:nvPr/>
        </p:nvSpPr>
        <p:spPr>
          <a:xfrm>
            <a:off x="5570100" y="1432250"/>
            <a:ext cx="26673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GET’s Knowledge Panel</a:t>
            </a:r>
            <a:endParaRPr b="1" sz="220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5570100" y="2364525"/>
            <a:ext cx="32286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Solicit positive reviews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Add correct hours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Add phone number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Add photos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67" name="Google Shape;267;p27"/>
          <p:cNvSpPr/>
          <p:nvPr/>
        </p:nvSpPr>
        <p:spPr>
          <a:xfrm>
            <a:off x="0" y="0"/>
            <a:ext cx="4468500" cy="51435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68" name="Google Shape;2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175" y="892400"/>
            <a:ext cx="2118248" cy="38209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69" name="Google Shape;26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7198" y="892400"/>
            <a:ext cx="2567133" cy="38209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/>
          <p:nvPr/>
        </p:nvSpPr>
        <p:spPr>
          <a:xfrm rot="4823503">
            <a:off x="3917162" y="-343454"/>
            <a:ext cx="2284446" cy="10499308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10547">
            <a:off x="6869994" y="2316794"/>
            <a:ext cx="2209960" cy="4446787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8"/>
          <p:cNvSpPr txBox="1"/>
          <p:nvPr>
            <p:ph type="title"/>
          </p:nvPr>
        </p:nvSpPr>
        <p:spPr>
          <a:xfrm>
            <a:off x="593850" y="2239500"/>
            <a:ext cx="4056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Structured Data</a:t>
            </a:r>
            <a:endParaRPr b="1" sz="34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77" name="Google Shape;27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2975" y="250200"/>
            <a:ext cx="465000" cy="393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2850" y="1683657"/>
            <a:ext cx="4341149" cy="3013543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8"/>
          <p:cNvSpPr/>
          <p:nvPr/>
        </p:nvSpPr>
        <p:spPr>
          <a:xfrm rot="4823503">
            <a:off x="2229752" y="-4392734"/>
            <a:ext cx="2284446" cy="7511117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9"/>
          <p:cNvSpPr/>
          <p:nvPr/>
        </p:nvSpPr>
        <p:spPr>
          <a:xfrm>
            <a:off x="0" y="0"/>
            <a:ext cx="4468500" cy="51435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440300" y="2285400"/>
            <a:ext cx="279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Current Markup Usage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86" name="Google Shape;2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2475" y="661263"/>
            <a:ext cx="5409831" cy="3820975"/>
          </a:xfrm>
          <a:prstGeom prst="rect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"/>
          <p:cNvSpPr/>
          <p:nvPr/>
        </p:nvSpPr>
        <p:spPr>
          <a:xfrm>
            <a:off x="0" y="0"/>
            <a:ext cx="5315100" cy="51435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2" name="Google Shape;292;p30"/>
          <p:cNvSpPr txBox="1"/>
          <p:nvPr>
            <p:ph type="title"/>
          </p:nvPr>
        </p:nvSpPr>
        <p:spPr>
          <a:xfrm>
            <a:off x="483175" y="1338853"/>
            <a:ext cx="279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Suggested M</a:t>
            </a: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arkup Usage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93" name="Google Shape;29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1475" y="253825"/>
            <a:ext cx="4079576" cy="4635850"/>
          </a:xfrm>
          <a:prstGeom prst="rect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4" name="Google Shape;294;p30"/>
          <p:cNvSpPr txBox="1"/>
          <p:nvPr/>
        </p:nvSpPr>
        <p:spPr>
          <a:xfrm>
            <a:off x="483175" y="2450303"/>
            <a:ext cx="26457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-"/>
            </a:pPr>
            <a:r>
              <a:rPr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Change to Corporation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-"/>
            </a:pPr>
            <a:r>
              <a:rPr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Add Address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-"/>
            </a:pPr>
            <a:r>
              <a:rPr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Add Contact Points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-"/>
            </a:pPr>
            <a:r>
              <a:rPr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Add Social Profiles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-"/>
            </a:pPr>
            <a:r>
              <a:rPr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Remove XYZ</a:t>
            </a:r>
            <a:endParaRPr sz="10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"/>
          <p:cNvSpPr/>
          <p:nvPr/>
        </p:nvSpPr>
        <p:spPr>
          <a:xfrm rot="4823503">
            <a:off x="3917162" y="-343454"/>
            <a:ext cx="2284446" cy="10499308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10547">
            <a:off x="6869994" y="2316794"/>
            <a:ext cx="2209960" cy="4446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1"/>
          <p:cNvSpPr txBox="1"/>
          <p:nvPr>
            <p:ph type="title"/>
          </p:nvPr>
        </p:nvSpPr>
        <p:spPr>
          <a:xfrm>
            <a:off x="593850" y="2239500"/>
            <a:ext cx="4056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SERP Ownership</a:t>
            </a:r>
            <a:endParaRPr b="1" sz="34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02" name="Google Shape;30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2975" y="250200"/>
            <a:ext cx="465000" cy="393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2850" y="1683657"/>
            <a:ext cx="4341149" cy="301354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1"/>
          <p:cNvSpPr/>
          <p:nvPr/>
        </p:nvSpPr>
        <p:spPr>
          <a:xfrm rot="4823503">
            <a:off x="2229752" y="-4392734"/>
            <a:ext cx="2284446" cy="7511117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2"/>
          <p:cNvSpPr/>
          <p:nvPr/>
        </p:nvSpPr>
        <p:spPr>
          <a:xfrm>
            <a:off x="-352975" y="4740100"/>
            <a:ext cx="9601200" cy="4035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21A6B"/>
              </a:solidFill>
            </a:endParaRPr>
          </a:p>
        </p:txBody>
      </p:sp>
      <p:sp>
        <p:nvSpPr>
          <p:cNvPr id="310" name="Google Shape;310;p32"/>
          <p:cNvSpPr txBox="1"/>
          <p:nvPr>
            <p:ph type="title"/>
          </p:nvPr>
        </p:nvSpPr>
        <p:spPr>
          <a:xfrm>
            <a:off x="311700" y="445025"/>
            <a:ext cx="596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Owned vs. Unowned Properties on Page One</a:t>
            </a:r>
            <a:endParaRPr b="1" sz="22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11" name="Google Shape;311;p32"/>
          <p:cNvPicPr preferRelativeResize="0"/>
          <p:nvPr/>
        </p:nvPicPr>
        <p:blipFill rotWithShape="1">
          <a:blip r:embed="rId3">
            <a:alphaModFix/>
          </a:blip>
          <a:srcRect b="18102" l="8734" r="51217" t="12885"/>
          <a:stretch/>
        </p:blipFill>
        <p:spPr>
          <a:xfrm>
            <a:off x="378115" y="1294033"/>
            <a:ext cx="2761649" cy="3468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8500" y="1078050"/>
            <a:ext cx="2549535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6548" y="1078038"/>
            <a:ext cx="292325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2"/>
          <p:cNvSpPr/>
          <p:nvPr/>
        </p:nvSpPr>
        <p:spPr>
          <a:xfrm>
            <a:off x="274188" y="1144275"/>
            <a:ext cx="2845800" cy="17883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2"/>
          <p:cNvSpPr/>
          <p:nvPr/>
        </p:nvSpPr>
        <p:spPr>
          <a:xfrm>
            <a:off x="274188" y="2986240"/>
            <a:ext cx="2845800" cy="19128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2"/>
          <p:cNvSpPr/>
          <p:nvPr/>
        </p:nvSpPr>
        <p:spPr>
          <a:xfrm>
            <a:off x="3374988" y="1134650"/>
            <a:ext cx="2420100" cy="4944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2"/>
          <p:cNvSpPr/>
          <p:nvPr/>
        </p:nvSpPr>
        <p:spPr>
          <a:xfrm>
            <a:off x="3374975" y="1666000"/>
            <a:ext cx="2420100" cy="4944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2"/>
          <p:cNvSpPr/>
          <p:nvPr/>
        </p:nvSpPr>
        <p:spPr>
          <a:xfrm>
            <a:off x="3375000" y="2197350"/>
            <a:ext cx="2420100" cy="14499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2"/>
          <p:cNvSpPr/>
          <p:nvPr/>
        </p:nvSpPr>
        <p:spPr>
          <a:xfrm>
            <a:off x="3374975" y="3684200"/>
            <a:ext cx="2420100" cy="12147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2"/>
          <p:cNvSpPr/>
          <p:nvPr/>
        </p:nvSpPr>
        <p:spPr>
          <a:xfrm>
            <a:off x="6094413" y="1144275"/>
            <a:ext cx="2420100" cy="6291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21" name="Google Shape;321;p32"/>
          <p:cNvSpPr/>
          <p:nvPr/>
        </p:nvSpPr>
        <p:spPr>
          <a:xfrm>
            <a:off x="6094413" y="1773375"/>
            <a:ext cx="2420100" cy="4239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22" name="Google Shape;322;p32"/>
          <p:cNvSpPr/>
          <p:nvPr/>
        </p:nvSpPr>
        <p:spPr>
          <a:xfrm>
            <a:off x="6094413" y="2236150"/>
            <a:ext cx="2420100" cy="5727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323" name="Google Shape;323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15600" y="225375"/>
            <a:ext cx="1616701" cy="101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3"/>
          <p:cNvSpPr/>
          <p:nvPr/>
        </p:nvSpPr>
        <p:spPr>
          <a:xfrm>
            <a:off x="-352975" y="4740100"/>
            <a:ext cx="9601200" cy="4035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21A6B"/>
              </a:solidFill>
            </a:endParaRPr>
          </a:p>
        </p:txBody>
      </p:sp>
      <p:sp>
        <p:nvSpPr>
          <p:cNvPr id="329" name="Google Shape;32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Owned vs. Unowned Properties on Page One</a:t>
            </a:r>
            <a:endParaRPr b="1" sz="22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30" name="Google Shape;33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863" y="1135050"/>
            <a:ext cx="4172450" cy="383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939" y="937707"/>
            <a:ext cx="3040675" cy="3977243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3"/>
          <p:cNvSpPr/>
          <p:nvPr/>
        </p:nvSpPr>
        <p:spPr>
          <a:xfrm>
            <a:off x="4057863" y="1135050"/>
            <a:ext cx="3744000" cy="8652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3"/>
          <p:cNvSpPr/>
          <p:nvPr/>
        </p:nvSpPr>
        <p:spPr>
          <a:xfrm>
            <a:off x="798464" y="1135050"/>
            <a:ext cx="2673000" cy="17094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34" name="Google Shape;334;p33"/>
          <p:cNvSpPr/>
          <p:nvPr/>
        </p:nvSpPr>
        <p:spPr>
          <a:xfrm>
            <a:off x="798464" y="3499350"/>
            <a:ext cx="2673000" cy="5376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35" name="Google Shape;335;p33"/>
          <p:cNvSpPr/>
          <p:nvPr/>
        </p:nvSpPr>
        <p:spPr>
          <a:xfrm>
            <a:off x="798463" y="2885550"/>
            <a:ext cx="2673000" cy="5727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3"/>
          <p:cNvSpPr/>
          <p:nvPr/>
        </p:nvSpPr>
        <p:spPr>
          <a:xfrm>
            <a:off x="798463" y="4084150"/>
            <a:ext cx="2673000" cy="6960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3"/>
          <p:cNvSpPr/>
          <p:nvPr/>
        </p:nvSpPr>
        <p:spPr>
          <a:xfrm>
            <a:off x="4057863" y="2053375"/>
            <a:ext cx="3744000" cy="5727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3"/>
          <p:cNvSpPr/>
          <p:nvPr/>
        </p:nvSpPr>
        <p:spPr>
          <a:xfrm>
            <a:off x="4057863" y="2679200"/>
            <a:ext cx="3744000" cy="7626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3"/>
          <p:cNvSpPr/>
          <p:nvPr/>
        </p:nvSpPr>
        <p:spPr>
          <a:xfrm>
            <a:off x="4057863" y="3494925"/>
            <a:ext cx="3744000" cy="7626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0" name="Google Shape;340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6677" y="525050"/>
            <a:ext cx="1886449" cy="412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"/>
          <p:cNvSpPr/>
          <p:nvPr/>
        </p:nvSpPr>
        <p:spPr>
          <a:xfrm>
            <a:off x="0" y="4740100"/>
            <a:ext cx="9144000" cy="4035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21A6B"/>
              </a:solidFill>
            </a:endParaRPr>
          </a:p>
        </p:txBody>
      </p:sp>
      <p:pic>
        <p:nvPicPr>
          <p:cNvPr id="346" name="Google Shape;346;p34"/>
          <p:cNvPicPr preferRelativeResize="0"/>
          <p:nvPr/>
        </p:nvPicPr>
        <p:blipFill rotWithShape="1">
          <a:blip r:embed="rId3">
            <a:alphaModFix/>
          </a:blip>
          <a:srcRect b="0" l="0" r="0" t="25479"/>
          <a:stretch/>
        </p:blipFill>
        <p:spPr>
          <a:xfrm>
            <a:off x="4278225" y="1059400"/>
            <a:ext cx="3805875" cy="383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4"/>
          <p:cNvPicPr preferRelativeResize="0"/>
          <p:nvPr/>
        </p:nvPicPr>
        <p:blipFill rotWithShape="1">
          <a:blip r:embed="rId4">
            <a:alphaModFix/>
          </a:blip>
          <a:srcRect b="13993" l="0" r="0" t="0"/>
          <a:stretch/>
        </p:blipFill>
        <p:spPr>
          <a:xfrm>
            <a:off x="1121788" y="1017725"/>
            <a:ext cx="3033225" cy="392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SERP Ownership Review</a:t>
            </a:r>
            <a:endParaRPr b="1" sz="22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9" name="Google Shape;349;p34"/>
          <p:cNvSpPr/>
          <p:nvPr/>
        </p:nvSpPr>
        <p:spPr>
          <a:xfrm>
            <a:off x="4278213" y="1702125"/>
            <a:ext cx="3744000" cy="6180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4"/>
          <p:cNvSpPr/>
          <p:nvPr/>
        </p:nvSpPr>
        <p:spPr>
          <a:xfrm>
            <a:off x="1121787" y="1055475"/>
            <a:ext cx="2880600" cy="19113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51" name="Google Shape;351;p34"/>
          <p:cNvSpPr/>
          <p:nvPr/>
        </p:nvSpPr>
        <p:spPr>
          <a:xfrm>
            <a:off x="1121788" y="3019900"/>
            <a:ext cx="2880600" cy="19242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52" name="Google Shape;352;p34"/>
          <p:cNvSpPr/>
          <p:nvPr/>
        </p:nvSpPr>
        <p:spPr>
          <a:xfrm>
            <a:off x="4278213" y="1084125"/>
            <a:ext cx="3744000" cy="6180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53" name="Google Shape;353;p34"/>
          <p:cNvSpPr/>
          <p:nvPr/>
        </p:nvSpPr>
        <p:spPr>
          <a:xfrm>
            <a:off x="4278213" y="2334450"/>
            <a:ext cx="3744000" cy="6180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4"/>
          <p:cNvSpPr/>
          <p:nvPr/>
        </p:nvSpPr>
        <p:spPr>
          <a:xfrm>
            <a:off x="4278213" y="2966775"/>
            <a:ext cx="3744000" cy="6180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4"/>
          <p:cNvSpPr/>
          <p:nvPr/>
        </p:nvSpPr>
        <p:spPr>
          <a:xfrm>
            <a:off x="4278213" y="3584775"/>
            <a:ext cx="3744000" cy="6180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4"/>
          <p:cNvSpPr/>
          <p:nvPr/>
        </p:nvSpPr>
        <p:spPr>
          <a:xfrm>
            <a:off x="4278213" y="4202775"/>
            <a:ext cx="3744000" cy="6180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5"/>
          <p:cNvSpPr/>
          <p:nvPr/>
        </p:nvSpPr>
        <p:spPr>
          <a:xfrm>
            <a:off x="0" y="0"/>
            <a:ext cx="4487700" cy="51435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5032750" y="1521063"/>
            <a:ext cx="31065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People Also Ask Ownership Example</a:t>
            </a:r>
            <a:endParaRPr b="1" sz="220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3" name="Google Shape;363;p35"/>
          <p:cNvSpPr txBox="1"/>
          <p:nvPr/>
        </p:nvSpPr>
        <p:spPr>
          <a:xfrm>
            <a:off x="5032750" y="2453338"/>
            <a:ext cx="3760200" cy="1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 In this example, a potentially damaging Q&amp;A is owned by TripAdvisor’s web properties, allowing them to control the narrative.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64" name="Google Shape;36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75" y="1554524"/>
            <a:ext cx="4585350" cy="20344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People Also Ask Ownership Review</a:t>
            </a:r>
            <a:endParaRPr b="1" sz="22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0" name="Google Shape;370;p36"/>
          <p:cNvSpPr/>
          <p:nvPr/>
        </p:nvSpPr>
        <p:spPr>
          <a:xfrm>
            <a:off x="4937622" y="2005900"/>
            <a:ext cx="3790800" cy="4608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  <p:sp>
        <p:nvSpPr>
          <p:cNvPr id="371" name="Google Shape;371;p36"/>
          <p:cNvSpPr/>
          <p:nvPr/>
        </p:nvSpPr>
        <p:spPr>
          <a:xfrm>
            <a:off x="4937513" y="2466585"/>
            <a:ext cx="3790800" cy="4176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  <p:sp>
        <p:nvSpPr>
          <p:cNvPr id="372" name="Google Shape;372;p36"/>
          <p:cNvSpPr/>
          <p:nvPr/>
        </p:nvSpPr>
        <p:spPr>
          <a:xfrm>
            <a:off x="4937622" y="2883990"/>
            <a:ext cx="3790800" cy="4176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  <p:sp>
        <p:nvSpPr>
          <p:cNvPr id="373" name="Google Shape;373;p36"/>
          <p:cNvSpPr/>
          <p:nvPr/>
        </p:nvSpPr>
        <p:spPr>
          <a:xfrm>
            <a:off x="4937513" y="3301395"/>
            <a:ext cx="3790800" cy="4176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  <p:sp>
        <p:nvSpPr>
          <p:cNvPr id="374" name="Google Shape;374;p36"/>
          <p:cNvSpPr/>
          <p:nvPr/>
        </p:nvSpPr>
        <p:spPr>
          <a:xfrm>
            <a:off x="4937622" y="3718800"/>
            <a:ext cx="3790800" cy="4176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  <p:sp>
        <p:nvSpPr>
          <p:cNvPr id="375" name="Google Shape;375;p36"/>
          <p:cNvSpPr txBox="1"/>
          <p:nvPr/>
        </p:nvSpPr>
        <p:spPr>
          <a:xfrm>
            <a:off x="5139478" y="2061408"/>
            <a:ext cx="325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What is the cheapest country in Europe to visit?</a:t>
            </a:r>
            <a:endParaRPr sz="1000"/>
          </a:p>
        </p:txBody>
      </p:sp>
      <p:sp>
        <p:nvSpPr>
          <p:cNvPr id="376" name="Google Shape;376;p36"/>
          <p:cNvSpPr txBox="1"/>
          <p:nvPr/>
        </p:nvSpPr>
        <p:spPr>
          <a:xfrm>
            <a:off x="5139478" y="2485170"/>
            <a:ext cx="325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What is the best way to tour Europe for the first time?</a:t>
            </a:r>
            <a:endParaRPr sz="1000"/>
          </a:p>
        </p:txBody>
      </p:sp>
      <p:sp>
        <p:nvSpPr>
          <p:cNvPr id="377" name="Google Shape;377;p36"/>
          <p:cNvSpPr txBox="1"/>
          <p:nvPr/>
        </p:nvSpPr>
        <p:spPr>
          <a:xfrm>
            <a:off x="5139478" y="2902536"/>
            <a:ext cx="325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Which is the most beautiful country in Europe?</a:t>
            </a:r>
            <a:endParaRPr sz="1000"/>
          </a:p>
        </p:txBody>
      </p:sp>
      <p:sp>
        <p:nvSpPr>
          <p:cNvPr id="378" name="Google Shape;378;p36"/>
          <p:cNvSpPr txBox="1"/>
          <p:nvPr/>
        </p:nvSpPr>
        <p:spPr>
          <a:xfrm>
            <a:off x="5139478" y="3319933"/>
            <a:ext cx="325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What </a:t>
            </a:r>
            <a:r>
              <a:rPr lang="en" sz="1000"/>
              <a:t>is the cheapest city in Europe to fly into?</a:t>
            </a:r>
            <a:endParaRPr sz="1000"/>
          </a:p>
        </p:txBody>
      </p:sp>
      <p:sp>
        <p:nvSpPr>
          <p:cNvPr id="379" name="Google Shape;379;p36"/>
          <p:cNvSpPr txBox="1"/>
          <p:nvPr/>
        </p:nvSpPr>
        <p:spPr>
          <a:xfrm>
            <a:off x="5139478" y="3718838"/>
            <a:ext cx="325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Which country is the most expensive in Europe?</a:t>
            </a:r>
            <a:endParaRPr sz="1000"/>
          </a:p>
        </p:txBody>
      </p:sp>
      <p:sp>
        <p:nvSpPr>
          <p:cNvPr id="380" name="Google Shape;380;p36"/>
          <p:cNvSpPr/>
          <p:nvPr/>
        </p:nvSpPr>
        <p:spPr>
          <a:xfrm>
            <a:off x="415711" y="2005900"/>
            <a:ext cx="4282500" cy="573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81" name="Google Shape;381;p36"/>
          <p:cNvSpPr/>
          <p:nvPr/>
        </p:nvSpPr>
        <p:spPr>
          <a:xfrm>
            <a:off x="415588" y="2578810"/>
            <a:ext cx="4282500" cy="519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82" name="Google Shape;382;p36"/>
          <p:cNvSpPr/>
          <p:nvPr/>
        </p:nvSpPr>
        <p:spPr>
          <a:xfrm>
            <a:off x="415711" y="3097896"/>
            <a:ext cx="4282500" cy="519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83" name="Google Shape;383;p36"/>
          <p:cNvSpPr/>
          <p:nvPr/>
        </p:nvSpPr>
        <p:spPr>
          <a:xfrm>
            <a:off x="415588" y="3616983"/>
            <a:ext cx="4282500" cy="519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84" name="Google Shape;384;p36"/>
          <p:cNvSpPr txBox="1"/>
          <p:nvPr/>
        </p:nvSpPr>
        <p:spPr>
          <a:xfrm>
            <a:off x="643747" y="2074930"/>
            <a:ext cx="367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How do I plan a European tour?</a:t>
            </a:r>
            <a:endParaRPr sz="1200"/>
          </a:p>
        </p:txBody>
      </p:sp>
      <p:sp>
        <p:nvSpPr>
          <p:cNvPr id="385" name="Google Shape;385;p36"/>
          <p:cNvSpPr txBox="1"/>
          <p:nvPr/>
        </p:nvSpPr>
        <p:spPr>
          <a:xfrm>
            <a:off x="643738" y="2663425"/>
            <a:ext cx="367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How much would it cost to travel across Euroope?</a:t>
            </a:r>
            <a:endParaRPr sz="1200"/>
          </a:p>
        </p:txBody>
      </p:sp>
      <p:sp>
        <p:nvSpPr>
          <p:cNvPr id="386" name="Google Shape;386;p36"/>
          <p:cNvSpPr txBox="1"/>
          <p:nvPr/>
        </p:nvSpPr>
        <p:spPr>
          <a:xfrm>
            <a:off x="643738" y="3182451"/>
            <a:ext cx="367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How much should you save to travel Europe</a:t>
            </a:r>
            <a:endParaRPr sz="1200"/>
          </a:p>
        </p:txBody>
      </p:sp>
      <p:sp>
        <p:nvSpPr>
          <p:cNvPr id="387" name="Google Shape;387;p36"/>
          <p:cNvSpPr txBox="1"/>
          <p:nvPr/>
        </p:nvSpPr>
        <p:spPr>
          <a:xfrm>
            <a:off x="643738" y="3701527"/>
            <a:ext cx="367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How do you plan a trip to Europe on a budget?</a:t>
            </a:r>
            <a:endParaRPr sz="1200"/>
          </a:p>
        </p:txBody>
      </p:sp>
      <p:sp>
        <p:nvSpPr>
          <p:cNvPr id="388" name="Google Shape;388;p36"/>
          <p:cNvSpPr txBox="1"/>
          <p:nvPr/>
        </p:nvSpPr>
        <p:spPr>
          <a:xfrm>
            <a:off x="415700" y="1442913"/>
            <a:ext cx="37908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People also ask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9" name="Google Shape;389;p36"/>
          <p:cNvSpPr/>
          <p:nvPr/>
        </p:nvSpPr>
        <p:spPr>
          <a:xfrm>
            <a:off x="0" y="4740100"/>
            <a:ext cx="9144000" cy="4035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21A6B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1A6B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7"/>
          <p:cNvSpPr/>
          <p:nvPr/>
        </p:nvSpPr>
        <p:spPr>
          <a:xfrm flipH="1">
            <a:off x="428625" y="0"/>
            <a:ext cx="35361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5" name="Google Shape;395;p37"/>
          <p:cNvSpPr txBox="1"/>
          <p:nvPr/>
        </p:nvSpPr>
        <p:spPr>
          <a:xfrm>
            <a:off x="4849575" y="877700"/>
            <a:ext cx="32469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SERP Ownership</a:t>
            </a:r>
            <a:br>
              <a:rPr b="1" lang="en" sz="2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b="1" lang="en" sz="2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Recommendations</a:t>
            </a:r>
            <a:endParaRPr b="1" sz="2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6" name="Google Shape;396;p37"/>
          <p:cNvSpPr txBox="1"/>
          <p:nvPr/>
        </p:nvSpPr>
        <p:spPr>
          <a:xfrm>
            <a:off x="4849575" y="1809975"/>
            <a:ext cx="3900600" cy="23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1800">
                <a:solidFill>
                  <a:schemeClr val="lt1"/>
                </a:solidFill>
              </a:rPr>
              <a:t>Create Page XYZ</a:t>
            </a:r>
            <a:endParaRPr sz="1800">
              <a:solidFill>
                <a:schemeClr val="lt1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1800">
                <a:solidFill>
                  <a:schemeClr val="lt1"/>
                </a:solidFill>
              </a:rPr>
              <a:t>Drive links to page XYZ</a:t>
            </a:r>
            <a:endParaRPr sz="1800">
              <a:solidFill>
                <a:schemeClr val="lt1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1800">
                <a:solidFill>
                  <a:schemeClr val="lt1"/>
                </a:solidFill>
              </a:rPr>
              <a:t>Remove link to BBB from Website</a:t>
            </a:r>
            <a:endParaRPr sz="1800">
              <a:solidFill>
                <a:schemeClr val="lt1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1800">
                <a:solidFill>
                  <a:schemeClr val="lt1"/>
                </a:solidFill>
              </a:rPr>
              <a:t>Answer People Also Ask Questions: </a:t>
            </a:r>
            <a:endParaRPr sz="1800">
              <a:solidFill>
                <a:schemeClr val="lt1"/>
              </a:solidFill>
            </a:endParaRPr>
          </a:p>
          <a:p>
            <a:pPr indent="-3041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">
                <a:solidFill>
                  <a:schemeClr val="lt1"/>
                </a:solidFill>
              </a:rPr>
              <a:t>Question 1</a:t>
            </a:r>
            <a:endParaRPr>
              <a:solidFill>
                <a:schemeClr val="lt1"/>
              </a:solidFill>
            </a:endParaRPr>
          </a:p>
          <a:p>
            <a:pPr indent="-3041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">
                <a:solidFill>
                  <a:schemeClr val="lt1"/>
                </a:solidFill>
              </a:rPr>
              <a:t>Question 2</a:t>
            </a:r>
            <a:endParaRPr>
              <a:solidFill>
                <a:schemeClr val="lt1"/>
              </a:solidFill>
            </a:endParaRPr>
          </a:p>
          <a:p>
            <a:pPr indent="-3041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">
                <a:solidFill>
                  <a:schemeClr val="lt1"/>
                </a:solidFill>
              </a:rPr>
              <a:t>Question 3</a:t>
            </a:r>
            <a:endParaRPr>
              <a:solidFill>
                <a:schemeClr val="lt1"/>
              </a:solidFill>
            </a:endParaRPr>
          </a:p>
          <a:p>
            <a:pPr indent="-3041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3333"/>
              <a:buChar char="○"/>
            </a:pPr>
            <a:r>
              <a:rPr lang="en">
                <a:solidFill>
                  <a:schemeClr val="lt1"/>
                </a:solidFill>
              </a:rPr>
              <a:t>Question 4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97" name="Google Shape;39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63223" y="798313"/>
            <a:ext cx="6383273" cy="406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7"/>
          <p:cNvPicPr preferRelativeResize="0"/>
          <p:nvPr/>
        </p:nvPicPr>
        <p:blipFill rotWithShape="1">
          <a:blip r:embed="rId4">
            <a:alphaModFix/>
          </a:blip>
          <a:srcRect b="0" l="21581" r="0" t="21210"/>
          <a:stretch/>
        </p:blipFill>
        <p:spPr>
          <a:xfrm rot="-8763944">
            <a:off x="6000147" y="3306967"/>
            <a:ext cx="3515956" cy="5976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8"/>
          <p:cNvSpPr/>
          <p:nvPr/>
        </p:nvSpPr>
        <p:spPr>
          <a:xfrm rot="4823503">
            <a:off x="3917162" y="-343454"/>
            <a:ext cx="2284446" cy="10499308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4" name="Google Shape;40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10547">
            <a:off x="6869994" y="2316794"/>
            <a:ext cx="2209960" cy="4446787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8"/>
          <p:cNvSpPr txBox="1"/>
          <p:nvPr>
            <p:ph type="title"/>
          </p:nvPr>
        </p:nvSpPr>
        <p:spPr>
          <a:xfrm>
            <a:off x="593850" y="2239500"/>
            <a:ext cx="4056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Your Web Properties</a:t>
            </a:r>
            <a:endParaRPr b="1" sz="34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06" name="Google Shape;40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2975" y="250200"/>
            <a:ext cx="465000" cy="393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2850" y="1683657"/>
            <a:ext cx="4341149" cy="3013543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8"/>
          <p:cNvSpPr/>
          <p:nvPr/>
        </p:nvSpPr>
        <p:spPr>
          <a:xfrm rot="4823503">
            <a:off x="2229752" y="-4392734"/>
            <a:ext cx="2284446" cy="7511117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1A6B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9"/>
          <p:cNvSpPr/>
          <p:nvPr/>
        </p:nvSpPr>
        <p:spPr>
          <a:xfrm>
            <a:off x="0" y="-225"/>
            <a:ext cx="5358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14" name="Google Shape;414;p39"/>
          <p:cNvSpPr txBox="1"/>
          <p:nvPr/>
        </p:nvSpPr>
        <p:spPr>
          <a:xfrm>
            <a:off x="5744500" y="876750"/>
            <a:ext cx="31065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Paid</a:t>
            </a:r>
            <a:r>
              <a:rPr b="1" lang="en" sz="2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Search Branded Result</a:t>
            </a:r>
            <a:endParaRPr b="1" sz="22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5744500" y="1809025"/>
            <a:ext cx="26673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Change to Corporation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Add Address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Add Contact Points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Add Social Profiles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Remove XYZ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16" name="Google Shape;416;p39"/>
          <p:cNvPicPr preferRelativeResize="0"/>
          <p:nvPr/>
        </p:nvPicPr>
        <p:blipFill rotWithShape="1">
          <a:blip r:embed="rId3">
            <a:alphaModFix/>
          </a:blip>
          <a:srcRect b="0" l="21581" r="0" t="21210"/>
          <a:stretch/>
        </p:blipFill>
        <p:spPr>
          <a:xfrm rot="-8763944">
            <a:off x="6000147" y="3306967"/>
            <a:ext cx="3515956" cy="5976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9"/>
          <p:cNvPicPr preferRelativeResize="0"/>
          <p:nvPr/>
        </p:nvPicPr>
        <p:blipFill rotWithShape="1">
          <a:blip r:embed="rId4">
            <a:alphaModFix/>
          </a:blip>
          <a:srcRect b="5393" l="0" r="0" t="0"/>
          <a:stretch/>
        </p:blipFill>
        <p:spPr>
          <a:xfrm>
            <a:off x="108800" y="855475"/>
            <a:ext cx="5140400" cy="324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1A6B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0"/>
          <p:cNvSpPr/>
          <p:nvPr/>
        </p:nvSpPr>
        <p:spPr>
          <a:xfrm>
            <a:off x="0" y="-225"/>
            <a:ext cx="5358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3" name="Google Shape;423;p40"/>
          <p:cNvSpPr txBox="1"/>
          <p:nvPr/>
        </p:nvSpPr>
        <p:spPr>
          <a:xfrm>
            <a:off x="5744500" y="876750"/>
            <a:ext cx="31065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Organic Search Branded Result</a:t>
            </a:r>
            <a:endParaRPr b="1" sz="22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4" name="Google Shape;424;p40"/>
          <p:cNvSpPr txBox="1"/>
          <p:nvPr/>
        </p:nvSpPr>
        <p:spPr>
          <a:xfrm>
            <a:off x="5744500" y="1809025"/>
            <a:ext cx="26673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Change to Corporation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Add Address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Add Contact Points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Add Social Profiles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Remove XYZ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25" name="Google Shape;425;p40"/>
          <p:cNvPicPr preferRelativeResize="0"/>
          <p:nvPr/>
        </p:nvPicPr>
        <p:blipFill rotWithShape="1">
          <a:blip r:embed="rId3">
            <a:alphaModFix/>
          </a:blip>
          <a:srcRect b="0" l="21581" r="0" t="21210"/>
          <a:stretch/>
        </p:blipFill>
        <p:spPr>
          <a:xfrm rot="-8763944">
            <a:off x="6000147" y="3306967"/>
            <a:ext cx="3515956" cy="5976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075" y="763813"/>
            <a:ext cx="5140401" cy="3615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1A6B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1"/>
          <p:cNvSpPr/>
          <p:nvPr/>
        </p:nvSpPr>
        <p:spPr>
          <a:xfrm>
            <a:off x="428625" y="-150"/>
            <a:ext cx="35361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2" name="Google Shape;432;p41"/>
          <p:cNvSpPr txBox="1"/>
          <p:nvPr/>
        </p:nvSpPr>
        <p:spPr>
          <a:xfrm>
            <a:off x="4801550" y="1093775"/>
            <a:ext cx="3771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22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Recommendation Summary</a:t>
            </a:r>
            <a:endParaRPr b="1" sz="2222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3" name="Google Shape;433;p41"/>
          <p:cNvSpPr txBox="1"/>
          <p:nvPr/>
        </p:nvSpPr>
        <p:spPr>
          <a:xfrm>
            <a:off x="4801550" y="1586075"/>
            <a:ext cx="4342500" cy="26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Create Page XYZ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Drive links to page XYZ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Remove link to BBB from Website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Answer People Also Ask Questions: 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○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Question 1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○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Question 2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○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Question 3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○"/>
            </a:pPr>
            <a:r>
              <a:rPr lang="en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Question 4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34" name="Google Shape;434;p41"/>
          <p:cNvPicPr preferRelativeResize="0"/>
          <p:nvPr/>
        </p:nvPicPr>
        <p:blipFill rotWithShape="1">
          <a:blip r:embed="rId3">
            <a:alphaModFix/>
          </a:blip>
          <a:srcRect b="0" l="21581" r="0" t="21210"/>
          <a:stretch/>
        </p:blipFill>
        <p:spPr>
          <a:xfrm rot="-8763944">
            <a:off x="6000147" y="3306967"/>
            <a:ext cx="3515956" cy="5976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63223" y="798313"/>
            <a:ext cx="6383273" cy="406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1A6B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2"/>
          <p:cNvSpPr txBox="1"/>
          <p:nvPr>
            <p:ph type="title"/>
          </p:nvPr>
        </p:nvSpPr>
        <p:spPr>
          <a:xfrm>
            <a:off x="4388400" y="2108000"/>
            <a:ext cx="4457700" cy="6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320">
                <a:solidFill>
                  <a:schemeClr val="lt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THANK YOU</a:t>
            </a:r>
            <a:endParaRPr sz="4320">
              <a:solidFill>
                <a:schemeClr val="lt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441" name="Google Shape;44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850" y="3988125"/>
            <a:ext cx="1897875" cy="44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020700">
            <a:off x="381281" y="-4029789"/>
            <a:ext cx="4595790" cy="9247453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2"/>
          <p:cNvSpPr txBox="1"/>
          <p:nvPr/>
        </p:nvSpPr>
        <p:spPr>
          <a:xfrm>
            <a:off x="366475" y="4251950"/>
            <a:ext cx="453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www.propellic.com</a:t>
            </a:r>
            <a:endParaRPr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