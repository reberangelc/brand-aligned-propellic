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6" r:id="rId4"/>
    <p:sldMasterId id="2147483697" r:id="rId5"/>
    <p:sldMasterId id="214748369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y="5143500" cx="9144000"/>
  <p:notesSz cx="6858000" cy="9144000"/>
  <p:embeddedFontLst>
    <p:embeddedFont>
      <p:font typeface="Roboto Slab Light"/>
      <p:regular r:id="rId40"/>
      <p:bold r:id="rId41"/>
    </p:embeddedFont>
    <p:embeddedFont>
      <p:font typeface="Roboto Slab"/>
      <p:regular r:id="rId42"/>
      <p:bold r:id="rId43"/>
    </p:embeddedFont>
    <p:embeddedFont>
      <p:font typeface="Roboto"/>
      <p:regular r:id="rId44"/>
      <p:bold r:id="rId45"/>
      <p:italic r:id="rId46"/>
      <p:boldItalic r:id="rId47"/>
    </p:embeddedFont>
    <p:embeddedFont>
      <p:font typeface="Proxima Nova"/>
      <p:regular r:id="rId48"/>
      <p:bold r:id="rId49"/>
      <p:italic r:id="rId50"/>
      <p:boldItalic r:id="rId51"/>
    </p:embeddedFont>
    <p:embeddedFont>
      <p:font typeface="Poppins"/>
      <p:regular r:id="rId52"/>
      <p:bold r:id="rId53"/>
      <p:italic r:id="rId54"/>
      <p:boldItalic r:id="rId55"/>
    </p:embeddedFont>
    <p:embeddedFont>
      <p:font typeface="Varela Round"/>
      <p:regular r:id="rId56"/>
    </p:embeddedFont>
    <p:embeddedFont>
      <p:font typeface="Proxima Nova Extrabold"/>
      <p:bold r:id="rId57"/>
    </p:embeddedFont>
    <p:embeddedFont>
      <p:font typeface="Roboto Light"/>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4E0A997-E762-483F-9531-3197180D424E}">
  <a:tblStyle styleId="{F4E0A997-E762-483F-9531-3197180D424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BC8F89EC-2594-4E93-BB12-5EB73C7D7D81}"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RobotoSlabLight-regular.fntdata"/><Relationship Id="rId42" Type="http://schemas.openxmlformats.org/officeDocument/2006/relationships/font" Target="fonts/RobotoSlab-regular.fntdata"/><Relationship Id="rId41" Type="http://schemas.openxmlformats.org/officeDocument/2006/relationships/font" Target="fonts/RobotoSlabLight-bold.fntdata"/><Relationship Id="rId44" Type="http://schemas.openxmlformats.org/officeDocument/2006/relationships/font" Target="fonts/Roboto-regular.fntdata"/><Relationship Id="rId43" Type="http://schemas.openxmlformats.org/officeDocument/2006/relationships/font" Target="fonts/RobotoSlab-bold.fntdata"/><Relationship Id="rId46" Type="http://schemas.openxmlformats.org/officeDocument/2006/relationships/font" Target="fonts/Roboto-italic.fntdata"/><Relationship Id="rId45"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font" Target="fonts/ProximaNova-regular.fntdata"/><Relationship Id="rId47" Type="http://schemas.openxmlformats.org/officeDocument/2006/relationships/font" Target="fonts/Roboto-boldItalic.fntdata"/><Relationship Id="rId49" Type="http://schemas.openxmlformats.org/officeDocument/2006/relationships/font" Target="fonts/ProximaNova-bold.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1" Type="http://schemas.openxmlformats.org/officeDocument/2006/relationships/font" Target="fonts/RobotoLight-boldItalic.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RobotoLight-italic.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ProximaNova-boldItalic.fntdata"/><Relationship Id="rId50" Type="http://schemas.openxmlformats.org/officeDocument/2006/relationships/font" Target="fonts/ProximaNova-italic.fntdata"/><Relationship Id="rId53" Type="http://schemas.openxmlformats.org/officeDocument/2006/relationships/font" Target="fonts/Poppins-bold.fntdata"/><Relationship Id="rId52" Type="http://schemas.openxmlformats.org/officeDocument/2006/relationships/font" Target="fonts/Poppins-regular.fntdata"/><Relationship Id="rId11" Type="http://schemas.openxmlformats.org/officeDocument/2006/relationships/slide" Target="slides/slide4.xml"/><Relationship Id="rId55" Type="http://schemas.openxmlformats.org/officeDocument/2006/relationships/font" Target="fonts/Poppins-boldItalic.fntdata"/><Relationship Id="rId10" Type="http://schemas.openxmlformats.org/officeDocument/2006/relationships/slide" Target="slides/slide3.xml"/><Relationship Id="rId54" Type="http://schemas.openxmlformats.org/officeDocument/2006/relationships/font" Target="fonts/Poppins-italic.fntdata"/><Relationship Id="rId13" Type="http://schemas.openxmlformats.org/officeDocument/2006/relationships/slide" Target="slides/slide6.xml"/><Relationship Id="rId57" Type="http://schemas.openxmlformats.org/officeDocument/2006/relationships/font" Target="fonts/ProximaNovaExtrabold-bold.fntdata"/><Relationship Id="rId12" Type="http://schemas.openxmlformats.org/officeDocument/2006/relationships/slide" Target="slides/slide5.xml"/><Relationship Id="rId56" Type="http://schemas.openxmlformats.org/officeDocument/2006/relationships/font" Target="fonts/VarelaRound-regular.fntdata"/><Relationship Id="rId15" Type="http://schemas.openxmlformats.org/officeDocument/2006/relationships/slide" Target="slides/slide8.xml"/><Relationship Id="rId59" Type="http://schemas.openxmlformats.org/officeDocument/2006/relationships/font" Target="fonts/RobotoLight-bold.fntdata"/><Relationship Id="rId14" Type="http://schemas.openxmlformats.org/officeDocument/2006/relationships/slide" Target="slides/slide7.xml"/><Relationship Id="rId58" Type="http://schemas.openxmlformats.org/officeDocument/2006/relationships/font" Target="fonts/RobotoLight-regular.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618588231#gid=1618588231"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975750220#gid=1975750220"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307378891#gid=1307378891"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92554350#gid=92554350"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065132173#gid=1065132173"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428278599#gid=1428278599"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3b4493eaa3_0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3b4493eaa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3b4493eaa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3b4493eaa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3b4493eaa3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3b4493eaa3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3b4493eaa3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3b4493eaa3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SLIDES_API1358694746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SLIDES_API1358694746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Tours, Activities &amp; Attractions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41615818f2_0_9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41615818f2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3b4493eaa3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13b4493eaa3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41615818f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41615818f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41615818f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41615818f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41615818f2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41615818f2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41615818f2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41615818f2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41615818f2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41615818f2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41615818f2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41615818f2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41615818f2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41615818f2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41615818f2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41615818f2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41615818f2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41615818f2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41615818f2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41615818f2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41615818f2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41615818f2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41615818f2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41615818f2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13b6442f6a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13b6442f6a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41615818f2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41615818f2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https://docs.google.com/spreadsheets/d/1CNChHS8-gO7lqbSYQlH-LxSfJwzyimmYhFJGy6CzZ-g/edit?gid=1618588231#gid=1618588231</a:t>
            </a:r>
            <a:r>
              <a:rPr lang="en"/>
              <a:t>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4339c09ea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4339c09ea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https://docs.google.com/spreadsheets/d/1CNChHS8-gO7lqbSYQlH-LxSfJwzyimmYhFJGy6CzZ-g/edit?gid=1975750220#gid=1975750220</a:t>
            </a:r>
            <a:r>
              <a:rPr lang="en"/>
              <a:t>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4339c09ea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4339c09ea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https://docs.google.com/spreadsheets/d/1CNChHS8-gO7lqbSYQlH-LxSfJwzyimmYhFJGy6CzZ-g/edit?gid=1307378891#gid=1307378891</a:t>
            </a:r>
            <a:r>
              <a:rPr lang="en"/>
              <a:t>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41615818f2_0_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41615818f2_0_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https://docs.google.com/spreadsheets/d/1CNChHS8-gO7lqbSYQlH-LxSfJwzyimmYhFJGy6CzZ-g/edit?gid=92554350#gid=92554350</a:t>
            </a:r>
            <a:r>
              <a:rPr lang="en"/>
              <a:t>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4339c09e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4339c09e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4339c09ea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4339c09ea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Revenue by Category Bar Chart: </a:t>
            </a:r>
            <a:r>
              <a:rPr lang="en" u="sng">
                <a:solidFill>
                  <a:schemeClr val="hlink"/>
                </a:solidFill>
                <a:hlinkClick r:id="rId2"/>
              </a:rPr>
              <a:t>https://docs.google.com/spreadsheets/d/1CNChHS8-gO7lqbSYQlH-LxSfJwzyimmYhFJGy6CzZ-g/edit?gid=1065132173#gid=1065132173</a:t>
            </a:r>
            <a:r>
              <a:rPr lang="en"/>
              <a:t> </a:t>
            </a:r>
            <a:endParaRPr/>
          </a:p>
          <a:p>
            <a:pPr indent="0" lvl="0" marL="0" rtl="0" algn="l">
              <a:spcBef>
                <a:spcPts val="0"/>
              </a:spcBef>
              <a:spcAft>
                <a:spcPts val="0"/>
              </a:spcAft>
              <a:buNone/>
            </a:pPr>
            <a:r>
              <a:rPr lang="en"/>
              <a:t>Link to Top 5 Pages by Revenue Table: https://docs.google.com/spreadsheets/d/1CNChHS8-gO7lqbSYQlH-LxSfJwzyimmYhFJGy6CzZ-g/edit?gid=1611787336#gid=1611787336</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477ebbe8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477ebbe8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 of Pages Driving Revenue by Category Bar Chart: </a:t>
            </a:r>
            <a:r>
              <a:rPr lang="en" u="sng">
                <a:solidFill>
                  <a:schemeClr val="hlink"/>
                </a:solidFill>
                <a:hlinkClick r:id="rId2"/>
              </a:rPr>
              <a:t>https://docs.google.com/spreadsheets/d/1CNChHS8-gO7lqbSYQlH-LxSfJwzyimmYhFJGy6CzZ-g/edit?gid=1428278599#gid=1428278599</a:t>
            </a:r>
            <a:r>
              <a:rPr lang="en"/>
              <a:t>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13b6442f6a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13b6442f6a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41615818f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41615818f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WQA: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13b6442f6a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13b6442f6a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13b6442f6aa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13b6442f6a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SLIDES_API1358694746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SLIDES_API1358694746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Tours, Activities &amp; Attractions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8.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52375" y="2435825"/>
            <a:ext cx="4659000" cy="16104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73763"/>
              </a:buClr>
              <a:buSzPts val="3600"/>
              <a:buFont typeface="Roboto Slab"/>
              <a:buNone/>
              <a:defRPr sz="3600">
                <a:solidFill>
                  <a:srgbClr val="073763"/>
                </a:solidFill>
                <a:latin typeface="Roboto Slab"/>
                <a:ea typeface="Roboto Slab"/>
                <a:cs typeface="Roboto Slab"/>
                <a:sym typeface="Roboto Slab"/>
              </a:defRPr>
            </a:lvl1pPr>
            <a:lvl2pPr lvl="1"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2pPr>
            <a:lvl3pPr lvl="2"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3pPr>
            <a:lvl4pPr lvl="3"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4pPr>
            <a:lvl5pPr lvl="4"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5pPr>
            <a:lvl6pPr lvl="5"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6pPr>
            <a:lvl7pPr lvl="6"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7pPr>
            <a:lvl8pPr lvl="7"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8pPr>
            <a:lvl9pPr lvl="8"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9pPr>
          </a:lstStyle>
          <a:p/>
        </p:txBody>
      </p:sp>
      <p:sp>
        <p:nvSpPr>
          <p:cNvPr id="11" name="Google Shape;11;p2"/>
          <p:cNvSpPr/>
          <p:nvPr/>
        </p:nvSpPr>
        <p:spPr>
          <a:xfrm>
            <a:off x="-8100" y="4238450"/>
            <a:ext cx="9160200" cy="9153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idx="1" type="subTitle"/>
          </p:nvPr>
        </p:nvSpPr>
        <p:spPr>
          <a:xfrm>
            <a:off x="31170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pic>
        <p:nvPicPr>
          <p:cNvPr id="13" name="Google Shape;13;p2"/>
          <p:cNvPicPr preferRelativeResize="0"/>
          <p:nvPr/>
        </p:nvPicPr>
        <p:blipFill>
          <a:blip r:embed="rId2">
            <a:alphaModFix/>
          </a:blip>
          <a:stretch>
            <a:fillRect/>
          </a:stretch>
        </p:blipFill>
        <p:spPr>
          <a:xfrm>
            <a:off x="462650" y="250076"/>
            <a:ext cx="2852902" cy="551300"/>
          </a:xfrm>
          <a:prstGeom prst="rect">
            <a:avLst/>
          </a:prstGeom>
          <a:noFill/>
          <a:ln>
            <a:noFill/>
          </a:ln>
        </p:spPr>
      </p:pic>
      <p:sp>
        <p:nvSpPr>
          <p:cNvPr id="14" name="Google Shape;14;p2"/>
          <p:cNvSpPr txBox="1"/>
          <p:nvPr>
            <p:ph idx="2" type="subTitle"/>
          </p:nvPr>
        </p:nvSpPr>
        <p:spPr>
          <a:xfrm>
            <a:off x="525575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15" name="Google Shape;15;p2"/>
          <p:cNvSpPr/>
          <p:nvPr/>
        </p:nvSpPr>
        <p:spPr>
          <a:xfrm>
            <a:off x="-8100" y="4238450"/>
            <a:ext cx="22275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2219275" y="4238438"/>
            <a:ext cx="22782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4497575" y="4238450"/>
            <a:ext cx="2241900" cy="732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6739575" y="4238450"/>
            <a:ext cx="24045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3"/>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 name="Google Shape;21;p3"/>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2" name="Google Shape;22;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3"/>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 name="Google Shape;25;p3"/>
          <p:cNvSpPr/>
          <p:nvPr/>
        </p:nvSpPr>
        <p:spPr>
          <a:xfrm>
            <a:off x="0" y="626375"/>
            <a:ext cx="91440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26" name="Shape 26"/>
        <p:cNvGrpSpPr/>
        <p:nvPr/>
      </p:nvGrpSpPr>
      <p:grpSpPr>
        <a:xfrm>
          <a:off x="0" y="0"/>
          <a:ext cx="0" cy="0"/>
          <a:chOff x="0" y="0"/>
          <a:chExt cx="0" cy="0"/>
        </a:xfrm>
      </p:grpSpPr>
      <p:sp>
        <p:nvSpPr>
          <p:cNvPr id="27" name="Google Shape;27;p4"/>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4"/>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4"/>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4"/>
          <p:cNvSpPr/>
          <p:nvPr/>
        </p:nvSpPr>
        <p:spPr>
          <a:xfrm>
            <a:off x="0" y="626375"/>
            <a:ext cx="91440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p:cSld name="TITLE_AND_BODY_2_1">
    <p:spTree>
      <p:nvGrpSpPr>
        <p:cNvPr id="33" name="Shape 33"/>
        <p:cNvGrpSpPr/>
        <p:nvPr/>
      </p:nvGrpSpPr>
      <p:grpSpPr>
        <a:xfrm>
          <a:off x="0" y="0"/>
          <a:ext cx="0" cy="0"/>
          <a:chOff x="0" y="0"/>
          <a:chExt cx="0" cy="0"/>
        </a:xfrm>
      </p:grpSpPr>
      <p:sp>
        <p:nvSpPr>
          <p:cNvPr id="34" name="Google Shape;34;p5"/>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 name="Google Shape;35;p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36" name="Google Shape;36;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5"/>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p:nvPr/>
        </p:nvSpPr>
        <p:spPr>
          <a:xfrm>
            <a:off x="0" y="626375"/>
            <a:ext cx="9144000" cy="73200"/>
          </a:xfrm>
          <a:prstGeom prst="rect">
            <a:avLst/>
          </a:prstGeom>
          <a:solidFill>
            <a:srgbClr val="A61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1">
  <p:cSld name="TITLE_AND_BODY_2_1_1">
    <p:spTree>
      <p:nvGrpSpPr>
        <p:cNvPr id="40" name="Shape 40"/>
        <p:cNvGrpSpPr/>
        <p:nvPr/>
      </p:nvGrpSpPr>
      <p:grpSpPr>
        <a:xfrm>
          <a:off x="0" y="0"/>
          <a:ext cx="0" cy="0"/>
          <a:chOff x="0" y="0"/>
          <a:chExt cx="0" cy="0"/>
        </a:xfrm>
      </p:grpSpPr>
      <p:sp>
        <p:nvSpPr>
          <p:cNvPr id="41" name="Google Shape;41;p6"/>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6"/>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 name="Google Shape;46;p6"/>
          <p:cNvSpPr/>
          <p:nvPr/>
        </p:nvSpPr>
        <p:spPr>
          <a:xfrm>
            <a:off x="0" y="626375"/>
            <a:ext cx="91440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7" name="Shape 4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MAIN_POINT_1">
    <p:spTree>
      <p:nvGrpSpPr>
        <p:cNvPr id="48" name="Shape 48"/>
        <p:cNvGrpSpPr/>
        <p:nvPr/>
      </p:nvGrpSpPr>
      <p:grpSpPr>
        <a:xfrm>
          <a:off x="0" y="0"/>
          <a:ext cx="0" cy="0"/>
          <a:chOff x="0" y="0"/>
          <a:chExt cx="0" cy="0"/>
        </a:xfrm>
      </p:grpSpPr>
      <p:sp>
        <p:nvSpPr>
          <p:cNvPr id="49" name="Google Shape;49;p8"/>
          <p:cNvSpPr/>
          <p:nvPr/>
        </p:nvSpPr>
        <p:spPr>
          <a:xfrm>
            <a:off x="1643325" y="667100"/>
            <a:ext cx="5963100" cy="39537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nvSpPr>
        <p:spPr>
          <a:xfrm>
            <a:off x="2025675" y="935550"/>
            <a:ext cx="5255400" cy="340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Text goes here.</a:t>
            </a:r>
            <a:endParaRPr>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4" name="Google Shape;54;p9"/>
          <p:cNvSpPr txBox="1"/>
          <p:nvPr>
            <p:ph idx="1" type="subTitle"/>
          </p:nvPr>
        </p:nvSpPr>
        <p:spPr>
          <a:xfrm>
            <a:off x="265500" y="175400"/>
            <a:ext cx="40452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73763"/>
              </a:buClr>
              <a:buSzPts val="2100"/>
              <a:buFont typeface="Roboto Slab"/>
              <a:buNone/>
              <a:defRPr sz="2100">
                <a:solidFill>
                  <a:srgbClr val="073763"/>
                </a:solidFill>
                <a:latin typeface="Roboto Slab"/>
                <a:ea typeface="Roboto Slab"/>
                <a:cs typeface="Roboto Slab"/>
                <a:sym typeface="Roboto Slab"/>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rtl="0">
              <a:spcBef>
                <a:spcPts val="0"/>
              </a:spcBef>
              <a:spcAft>
                <a:spcPts val="0"/>
              </a:spcAft>
              <a:buClr>
                <a:srgbClr val="FFFFFF"/>
              </a:buClr>
              <a:buSzPts val="1400"/>
              <a:buFont typeface="Roboto"/>
              <a:buChar char="●"/>
              <a:defRPr sz="1400">
                <a:solidFill>
                  <a:srgbClr val="FFFFFF"/>
                </a:solidFill>
                <a:latin typeface="Roboto"/>
                <a:ea typeface="Roboto"/>
                <a:cs typeface="Roboto"/>
                <a:sym typeface="Roboto"/>
              </a:defRPr>
            </a:lvl1pPr>
            <a:lvl2pPr indent="-317500" lvl="1" marL="914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2pPr>
            <a:lvl3pPr indent="-317500" lvl="2" marL="1371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3pPr>
            <a:lvl4pPr indent="-317500" lvl="3" marL="18288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4pPr>
            <a:lvl5pPr indent="-317500" lvl="4" marL="22860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5pPr>
            <a:lvl6pPr indent="-317500" lvl="5" marL="27432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6pPr>
            <a:lvl7pPr indent="-317500" lvl="6" marL="3200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7pPr>
            <a:lvl8pPr indent="-317500" lvl="7" marL="3657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8pPr>
            <a:lvl9pPr indent="-317500" lvl="8" marL="4114800" rtl="0">
              <a:spcBef>
                <a:spcPts val="1600"/>
              </a:spcBef>
              <a:spcAft>
                <a:spcPts val="1600"/>
              </a:spcAft>
              <a:buClr>
                <a:srgbClr val="FFFFFF"/>
              </a:buClr>
              <a:buSzPts val="1400"/>
              <a:buFont typeface="Roboto"/>
              <a:buChar char="■"/>
              <a:defRPr>
                <a:solidFill>
                  <a:srgbClr val="FFFFFF"/>
                </a:solidFill>
                <a:latin typeface="Roboto"/>
                <a:ea typeface="Roboto"/>
                <a:cs typeface="Roboto"/>
                <a:sym typeface="Roboto"/>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1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Font typeface="Varela Round"/>
              <a:buNone/>
              <a:defRPr sz="3600">
                <a:latin typeface="Varela Round"/>
                <a:ea typeface="Varela Round"/>
                <a:cs typeface="Varela Round"/>
                <a:sym typeface="Varela Round"/>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0" name="Shape 60"/>
        <p:cNvGrpSpPr/>
        <p:nvPr/>
      </p:nvGrpSpPr>
      <p:grpSpPr>
        <a:xfrm>
          <a:off x="0" y="0"/>
          <a:ext cx="0" cy="0"/>
          <a:chOff x="0" y="0"/>
          <a:chExt cx="0" cy="0"/>
        </a:xfrm>
      </p:grpSpPr>
      <p:sp>
        <p:nvSpPr>
          <p:cNvPr id="61" name="Google Shape;61;p11"/>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 name="Google Shape;62;p11"/>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64" name="Google Shape;64;p11"/>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5" name="Shape 65"/>
        <p:cNvGrpSpPr/>
        <p:nvPr/>
      </p:nvGrpSpPr>
      <p:grpSpPr>
        <a:xfrm>
          <a:off x="0" y="0"/>
          <a:ext cx="0" cy="0"/>
          <a:chOff x="0" y="0"/>
          <a:chExt cx="0" cy="0"/>
        </a:xfrm>
      </p:grpSpPr>
      <p:sp>
        <p:nvSpPr>
          <p:cNvPr id="66" name="Google Shape;66;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67" name="Shape 67"/>
        <p:cNvGrpSpPr/>
        <p:nvPr/>
      </p:nvGrpSpPr>
      <p:grpSpPr>
        <a:xfrm>
          <a:off x="0" y="0"/>
          <a:ext cx="0" cy="0"/>
          <a:chOff x="0" y="0"/>
          <a:chExt cx="0" cy="0"/>
        </a:xfrm>
      </p:grpSpPr>
      <p:sp>
        <p:nvSpPr>
          <p:cNvPr id="68" name="Google Shape;68;p13"/>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69" name="Google Shape;69;p13"/>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70" name="Google Shape;70;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3"/>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72" name="Google Shape;72;p13"/>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3" name="Shape 73"/>
        <p:cNvGrpSpPr/>
        <p:nvPr/>
      </p:nvGrpSpPr>
      <p:grpSpPr>
        <a:xfrm>
          <a:off x="0" y="0"/>
          <a:ext cx="0" cy="0"/>
          <a:chOff x="0" y="0"/>
          <a:chExt cx="0" cy="0"/>
        </a:xfrm>
      </p:grpSpPr>
      <p:sp>
        <p:nvSpPr>
          <p:cNvPr id="74" name="Google Shape;74;p1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400"/>
              <a:buNone/>
              <a:defRPr/>
            </a:lvl1pPr>
          </a:lstStyle>
          <a:p/>
        </p:txBody>
      </p:sp>
      <p:sp>
        <p:nvSpPr>
          <p:cNvPr id="75" name="Google Shape;7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76" name="Shape 76"/>
        <p:cNvGrpSpPr/>
        <p:nvPr/>
      </p:nvGrpSpPr>
      <p:grpSpPr>
        <a:xfrm>
          <a:off x="0" y="0"/>
          <a:ext cx="0" cy="0"/>
          <a:chOff x="0" y="0"/>
          <a:chExt cx="0" cy="0"/>
        </a:xfrm>
      </p:grpSpPr>
      <p:sp>
        <p:nvSpPr>
          <p:cNvPr id="77" name="Google Shape;77;p15"/>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 name="Google Shape;78;p1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79" name="Google Shape;79;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0" name="Google Shape;80;p15"/>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4">
    <p:spTree>
      <p:nvGrpSpPr>
        <p:cNvPr id="81" name="Shape 81"/>
        <p:cNvGrpSpPr/>
        <p:nvPr/>
      </p:nvGrpSpPr>
      <p:grpSpPr>
        <a:xfrm>
          <a:off x="0" y="0"/>
          <a:ext cx="0" cy="0"/>
          <a:chOff x="0" y="0"/>
          <a:chExt cx="0" cy="0"/>
        </a:xfrm>
      </p:grpSpPr>
      <p:sp>
        <p:nvSpPr>
          <p:cNvPr id="82" name="Google Shape;82;p16"/>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84" name="Google Shape;8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5" name="Google Shape;85;p16"/>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86" name="Shape 86"/>
        <p:cNvGrpSpPr/>
        <p:nvPr/>
      </p:nvGrpSpPr>
      <p:grpSpPr>
        <a:xfrm>
          <a:off x="0" y="0"/>
          <a:ext cx="0" cy="0"/>
          <a:chOff x="0" y="0"/>
          <a:chExt cx="0" cy="0"/>
        </a:xfrm>
      </p:grpSpPr>
      <p:sp>
        <p:nvSpPr>
          <p:cNvPr id="87" name="Google Shape;87;p17"/>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Font typeface="Roboto"/>
              <a:buNone/>
              <a:defRPr sz="4800">
                <a:latin typeface="Roboto"/>
                <a:ea typeface="Roboto"/>
                <a:cs typeface="Roboto"/>
                <a:sym typeface="Roboto"/>
              </a:defRPr>
            </a:lvl2pPr>
            <a:lvl3pPr lvl="2" rtl="0">
              <a:spcBef>
                <a:spcPts val="0"/>
              </a:spcBef>
              <a:spcAft>
                <a:spcPts val="0"/>
              </a:spcAft>
              <a:buSzPts val="4800"/>
              <a:buFont typeface="Roboto"/>
              <a:buNone/>
              <a:defRPr sz="4800">
                <a:latin typeface="Roboto"/>
                <a:ea typeface="Roboto"/>
                <a:cs typeface="Roboto"/>
                <a:sym typeface="Roboto"/>
              </a:defRPr>
            </a:lvl3pPr>
            <a:lvl4pPr lvl="3" rtl="0">
              <a:spcBef>
                <a:spcPts val="0"/>
              </a:spcBef>
              <a:spcAft>
                <a:spcPts val="0"/>
              </a:spcAft>
              <a:buSzPts val="4800"/>
              <a:buFont typeface="Roboto"/>
              <a:buNone/>
              <a:defRPr sz="4800">
                <a:latin typeface="Roboto"/>
                <a:ea typeface="Roboto"/>
                <a:cs typeface="Roboto"/>
                <a:sym typeface="Roboto"/>
              </a:defRPr>
            </a:lvl4pPr>
            <a:lvl5pPr lvl="4" rtl="0">
              <a:spcBef>
                <a:spcPts val="0"/>
              </a:spcBef>
              <a:spcAft>
                <a:spcPts val="0"/>
              </a:spcAft>
              <a:buSzPts val="4800"/>
              <a:buFont typeface="Roboto"/>
              <a:buNone/>
              <a:defRPr sz="4800">
                <a:latin typeface="Roboto"/>
                <a:ea typeface="Roboto"/>
                <a:cs typeface="Roboto"/>
                <a:sym typeface="Roboto"/>
              </a:defRPr>
            </a:lvl5pPr>
            <a:lvl6pPr lvl="5" rtl="0">
              <a:spcBef>
                <a:spcPts val="0"/>
              </a:spcBef>
              <a:spcAft>
                <a:spcPts val="0"/>
              </a:spcAft>
              <a:buSzPts val="4800"/>
              <a:buFont typeface="Roboto"/>
              <a:buNone/>
              <a:defRPr sz="4800">
                <a:latin typeface="Roboto"/>
                <a:ea typeface="Roboto"/>
                <a:cs typeface="Roboto"/>
                <a:sym typeface="Roboto"/>
              </a:defRPr>
            </a:lvl6pPr>
            <a:lvl7pPr lvl="6" rtl="0">
              <a:spcBef>
                <a:spcPts val="0"/>
              </a:spcBef>
              <a:spcAft>
                <a:spcPts val="0"/>
              </a:spcAft>
              <a:buSzPts val="4800"/>
              <a:buFont typeface="Roboto"/>
              <a:buNone/>
              <a:defRPr sz="4800">
                <a:latin typeface="Roboto"/>
                <a:ea typeface="Roboto"/>
                <a:cs typeface="Roboto"/>
                <a:sym typeface="Roboto"/>
              </a:defRPr>
            </a:lvl7pPr>
            <a:lvl8pPr lvl="7" rtl="0">
              <a:spcBef>
                <a:spcPts val="0"/>
              </a:spcBef>
              <a:spcAft>
                <a:spcPts val="0"/>
              </a:spcAft>
              <a:buSzPts val="4800"/>
              <a:buFont typeface="Roboto"/>
              <a:buNone/>
              <a:defRPr sz="4800">
                <a:latin typeface="Roboto"/>
                <a:ea typeface="Roboto"/>
                <a:cs typeface="Roboto"/>
                <a:sym typeface="Roboto"/>
              </a:defRPr>
            </a:lvl8pPr>
            <a:lvl9pPr lvl="8" rtl="0">
              <a:spcBef>
                <a:spcPts val="0"/>
              </a:spcBef>
              <a:spcAft>
                <a:spcPts val="0"/>
              </a:spcAft>
              <a:buSzPts val="4800"/>
              <a:buFont typeface="Roboto"/>
              <a:buNone/>
              <a:defRPr sz="4800">
                <a:latin typeface="Roboto"/>
                <a:ea typeface="Roboto"/>
                <a:cs typeface="Roboto"/>
                <a:sym typeface="Roboto"/>
              </a:defRPr>
            </a:lvl9pPr>
          </a:lstStyle>
          <a:p/>
        </p:txBody>
      </p:sp>
      <p:sp>
        <p:nvSpPr>
          <p:cNvPr id="88" name="Google Shape;88;p17"/>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89" name="Google Shape;8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90" name="Google Shape;90;p17"/>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91" name="Google Shape;91;p17"/>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5">
    <p:spTree>
      <p:nvGrpSpPr>
        <p:cNvPr id="92" name="Shape 92"/>
        <p:cNvGrpSpPr/>
        <p:nvPr/>
      </p:nvGrpSpPr>
      <p:grpSpPr>
        <a:xfrm>
          <a:off x="0" y="0"/>
          <a:ext cx="0" cy="0"/>
          <a:chOff x="0" y="0"/>
          <a:chExt cx="0" cy="0"/>
        </a:xfrm>
      </p:grpSpPr>
      <p:sp>
        <p:nvSpPr>
          <p:cNvPr id="93" name="Google Shape;93;p18"/>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4" name="Google Shape;94;p18"/>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95" name="Google Shape;95;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96" name="Google Shape;96;p18"/>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97" name="Shape 97"/>
        <p:cNvGrpSpPr/>
        <p:nvPr/>
      </p:nvGrpSpPr>
      <p:grpSpPr>
        <a:xfrm>
          <a:off x="0" y="0"/>
          <a:ext cx="0" cy="0"/>
          <a:chOff x="0" y="0"/>
          <a:chExt cx="0" cy="0"/>
        </a:xfrm>
      </p:grpSpPr>
      <p:sp>
        <p:nvSpPr>
          <p:cNvPr id="98" name="Google Shape;98;p19"/>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99" name="Google Shape;99;p19"/>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01" name="Google Shape;101;p19"/>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02" name="Google Shape;102;p19"/>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6">
  <p:cSld name="TITLE_AND_BODY_6">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5" name="Google Shape;105;p20"/>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06" name="Google Shape;10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07" name="Google Shape;107;p20"/>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108" name="Shape 108"/>
        <p:cNvGrpSpPr/>
        <p:nvPr/>
      </p:nvGrpSpPr>
      <p:grpSpPr>
        <a:xfrm>
          <a:off x="0" y="0"/>
          <a:ext cx="0" cy="0"/>
          <a:chOff x="0" y="0"/>
          <a:chExt cx="0" cy="0"/>
        </a:xfrm>
      </p:grpSpPr>
      <p:sp>
        <p:nvSpPr>
          <p:cNvPr id="109" name="Google Shape;109;p21"/>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10" name="Google Shape;110;p21"/>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11" name="Google Shape;11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12" name="Google Shape;112;p21"/>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13" name="Google Shape;113;p21"/>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7">
  <p:cSld name="TITLE_AND_BODY_7">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6" name="Google Shape;116;p22"/>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17" name="Google Shape;117;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18" name="Google Shape;118;p22"/>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3" name="Shape 123"/>
        <p:cNvGrpSpPr/>
        <p:nvPr/>
      </p:nvGrpSpPr>
      <p:grpSpPr>
        <a:xfrm>
          <a:off x="0" y="0"/>
          <a:ext cx="0" cy="0"/>
          <a:chOff x="0" y="0"/>
          <a:chExt cx="0" cy="0"/>
        </a:xfrm>
      </p:grpSpPr>
      <p:sp>
        <p:nvSpPr>
          <p:cNvPr id="124" name="Google Shape;124;p2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5" name="Google Shape;125;p2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6" name="Google Shape;12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29" name="Google Shape;129;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2" name="Google Shape;132;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33" name="Google Shape;133;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4" name="Shape 134"/>
        <p:cNvGrpSpPr/>
        <p:nvPr/>
      </p:nvGrpSpPr>
      <p:grpSpPr>
        <a:xfrm>
          <a:off x="0" y="0"/>
          <a:ext cx="0" cy="0"/>
          <a:chOff x="0" y="0"/>
          <a:chExt cx="0" cy="0"/>
        </a:xfrm>
      </p:grpSpPr>
      <p:sp>
        <p:nvSpPr>
          <p:cNvPr id="135" name="Google Shape;135;p2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6" name="Google Shape;136;p2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37" name="Google Shape;137;p2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38" name="Google Shape;138;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9" name="Shape 139"/>
        <p:cNvGrpSpPr/>
        <p:nvPr/>
      </p:nvGrpSpPr>
      <p:grpSpPr>
        <a:xfrm>
          <a:off x="0" y="0"/>
          <a:ext cx="0" cy="0"/>
          <a:chOff x="0" y="0"/>
          <a:chExt cx="0" cy="0"/>
        </a:xfrm>
      </p:grpSpPr>
      <p:sp>
        <p:nvSpPr>
          <p:cNvPr id="140" name="Google Shape;140;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1" name="Google Shape;14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2" name="Shape 142"/>
        <p:cNvGrpSpPr/>
        <p:nvPr/>
      </p:nvGrpSpPr>
      <p:grpSpPr>
        <a:xfrm>
          <a:off x="0" y="0"/>
          <a:ext cx="0" cy="0"/>
          <a:chOff x="0" y="0"/>
          <a:chExt cx="0" cy="0"/>
        </a:xfrm>
      </p:grpSpPr>
      <p:sp>
        <p:nvSpPr>
          <p:cNvPr id="143" name="Google Shape;143;p2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4" name="Google Shape;144;p2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45" name="Google Shape;145;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6" name="Shape 146"/>
        <p:cNvGrpSpPr/>
        <p:nvPr/>
      </p:nvGrpSpPr>
      <p:grpSpPr>
        <a:xfrm>
          <a:off x="0" y="0"/>
          <a:ext cx="0" cy="0"/>
          <a:chOff x="0" y="0"/>
          <a:chExt cx="0" cy="0"/>
        </a:xfrm>
      </p:grpSpPr>
      <p:sp>
        <p:nvSpPr>
          <p:cNvPr id="147" name="Google Shape;147;p3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48" name="Google Shape;14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9" name="Shape 149"/>
        <p:cNvGrpSpPr/>
        <p:nvPr/>
      </p:nvGrpSpPr>
      <p:grpSpPr>
        <a:xfrm>
          <a:off x="0" y="0"/>
          <a:ext cx="0" cy="0"/>
          <a:chOff x="0" y="0"/>
          <a:chExt cx="0" cy="0"/>
        </a:xfrm>
      </p:grpSpPr>
      <p:sp>
        <p:nvSpPr>
          <p:cNvPr id="150" name="Google Shape;150;p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52" name="Google Shape;152;p3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53" name="Google Shape;153;p3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4" name="Google Shape;154;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5" name="Shape 155"/>
        <p:cNvGrpSpPr/>
        <p:nvPr/>
      </p:nvGrpSpPr>
      <p:grpSpPr>
        <a:xfrm>
          <a:off x="0" y="0"/>
          <a:ext cx="0" cy="0"/>
          <a:chOff x="0" y="0"/>
          <a:chExt cx="0" cy="0"/>
        </a:xfrm>
      </p:grpSpPr>
      <p:sp>
        <p:nvSpPr>
          <p:cNvPr id="156" name="Google Shape;156;p3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157" name="Google Shape;157;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8" name="Shape 158"/>
        <p:cNvGrpSpPr/>
        <p:nvPr/>
      </p:nvGrpSpPr>
      <p:grpSpPr>
        <a:xfrm>
          <a:off x="0" y="0"/>
          <a:ext cx="0" cy="0"/>
          <a:chOff x="0" y="0"/>
          <a:chExt cx="0" cy="0"/>
        </a:xfrm>
      </p:grpSpPr>
      <p:sp>
        <p:nvSpPr>
          <p:cNvPr id="159" name="Google Shape;159;p3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60" name="Google Shape;160;p3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61" name="Google Shape;161;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2" name="Shape 162"/>
        <p:cNvGrpSpPr/>
        <p:nvPr/>
      </p:nvGrpSpPr>
      <p:grpSpPr>
        <a:xfrm>
          <a:off x="0" y="0"/>
          <a:ext cx="0" cy="0"/>
          <a:chOff x="0" y="0"/>
          <a:chExt cx="0" cy="0"/>
        </a:xfrm>
      </p:grpSpPr>
      <p:sp>
        <p:nvSpPr>
          <p:cNvPr id="163" name="Google Shape;16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8" name="Shape 168"/>
        <p:cNvGrpSpPr/>
        <p:nvPr/>
      </p:nvGrpSpPr>
      <p:grpSpPr>
        <a:xfrm>
          <a:off x="0" y="0"/>
          <a:ext cx="0" cy="0"/>
          <a:chOff x="0" y="0"/>
          <a:chExt cx="0" cy="0"/>
        </a:xfrm>
      </p:grpSpPr>
      <p:sp>
        <p:nvSpPr>
          <p:cNvPr id="169" name="Google Shape;169;p3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70" name="Google Shape;170;p3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1" name="Google Shape;171;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4" name="Google Shape;174;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5" name="Shape 175"/>
        <p:cNvGrpSpPr/>
        <p:nvPr/>
      </p:nvGrpSpPr>
      <p:grpSpPr>
        <a:xfrm>
          <a:off x="0" y="0"/>
          <a:ext cx="0" cy="0"/>
          <a:chOff x="0" y="0"/>
          <a:chExt cx="0" cy="0"/>
        </a:xfrm>
      </p:grpSpPr>
      <p:sp>
        <p:nvSpPr>
          <p:cNvPr id="176" name="Google Shape;176;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7" name="Google Shape;177;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78" name="Google Shape;178;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9" name="Shape 179"/>
        <p:cNvGrpSpPr/>
        <p:nvPr/>
      </p:nvGrpSpPr>
      <p:grpSpPr>
        <a:xfrm>
          <a:off x="0" y="0"/>
          <a:ext cx="0" cy="0"/>
          <a:chOff x="0" y="0"/>
          <a:chExt cx="0" cy="0"/>
        </a:xfrm>
      </p:grpSpPr>
      <p:sp>
        <p:nvSpPr>
          <p:cNvPr id="180" name="Google Shape;180;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1" name="Google Shape;181;p3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82" name="Google Shape;182;p39"/>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83" name="Google Shape;183;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4" name="Shape 184"/>
        <p:cNvGrpSpPr/>
        <p:nvPr/>
      </p:nvGrpSpPr>
      <p:grpSpPr>
        <a:xfrm>
          <a:off x="0" y="0"/>
          <a:ext cx="0" cy="0"/>
          <a:chOff x="0" y="0"/>
          <a:chExt cx="0" cy="0"/>
        </a:xfrm>
      </p:grpSpPr>
      <p:sp>
        <p:nvSpPr>
          <p:cNvPr id="185" name="Google Shape;185;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6" name="Google Shape;186;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87" name="Shape 187"/>
        <p:cNvGrpSpPr/>
        <p:nvPr/>
      </p:nvGrpSpPr>
      <p:grpSpPr>
        <a:xfrm>
          <a:off x="0" y="0"/>
          <a:ext cx="0" cy="0"/>
          <a:chOff x="0" y="0"/>
          <a:chExt cx="0" cy="0"/>
        </a:xfrm>
      </p:grpSpPr>
      <p:sp>
        <p:nvSpPr>
          <p:cNvPr id="188" name="Google Shape;188;p4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89" name="Google Shape;189;p4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90" name="Google Shape;190;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91" name="Shape 191"/>
        <p:cNvGrpSpPr/>
        <p:nvPr/>
      </p:nvGrpSpPr>
      <p:grpSpPr>
        <a:xfrm>
          <a:off x="0" y="0"/>
          <a:ext cx="0" cy="0"/>
          <a:chOff x="0" y="0"/>
          <a:chExt cx="0" cy="0"/>
        </a:xfrm>
      </p:grpSpPr>
      <p:sp>
        <p:nvSpPr>
          <p:cNvPr id="192" name="Google Shape;192;p4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93" name="Google Shape;193;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4" name="Shape 194"/>
        <p:cNvGrpSpPr/>
        <p:nvPr/>
      </p:nvGrpSpPr>
      <p:grpSpPr>
        <a:xfrm>
          <a:off x="0" y="0"/>
          <a:ext cx="0" cy="0"/>
          <a:chOff x="0" y="0"/>
          <a:chExt cx="0" cy="0"/>
        </a:xfrm>
      </p:grpSpPr>
      <p:sp>
        <p:nvSpPr>
          <p:cNvPr id="195" name="Google Shape;195;p4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4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97" name="Google Shape;197;p4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98" name="Google Shape;198;p4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9" name="Google Shape;199;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0" name="Shape 200"/>
        <p:cNvGrpSpPr/>
        <p:nvPr/>
      </p:nvGrpSpPr>
      <p:grpSpPr>
        <a:xfrm>
          <a:off x="0" y="0"/>
          <a:ext cx="0" cy="0"/>
          <a:chOff x="0" y="0"/>
          <a:chExt cx="0" cy="0"/>
        </a:xfrm>
      </p:grpSpPr>
      <p:sp>
        <p:nvSpPr>
          <p:cNvPr id="201" name="Google Shape;201;p4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202" name="Google Shape;202;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03" name="Shape 203"/>
        <p:cNvGrpSpPr/>
        <p:nvPr/>
      </p:nvGrpSpPr>
      <p:grpSpPr>
        <a:xfrm>
          <a:off x="0" y="0"/>
          <a:ext cx="0" cy="0"/>
          <a:chOff x="0" y="0"/>
          <a:chExt cx="0" cy="0"/>
        </a:xfrm>
      </p:grpSpPr>
      <p:sp>
        <p:nvSpPr>
          <p:cNvPr id="204" name="Google Shape;204;p4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05" name="Google Shape;205;p4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206" name="Google Shape;206;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7" name="Shape 207"/>
        <p:cNvGrpSpPr/>
        <p:nvPr/>
      </p:nvGrpSpPr>
      <p:grpSpPr>
        <a:xfrm>
          <a:off x="0" y="0"/>
          <a:ext cx="0" cy="0"/>
          <a:chOff x="0" y="0"/>
          <a:chExt cx="0" cy="0"/>
        </a:xfrm>
      </p:grpSpPr>
      <p:sp>
        <p:nvSpPr>
          <p:cNvPr id="208" name="Google Shape;208;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1">
    <p:spTree>
      <p:nvGrpSpPr>
        <p:cNvPr id="209" name="Shape 209"/>
        <p:cNvGrpSpPr/>
        <p:nvPr/>
      </p:nvGrpSpPr>
      <p:grpSpPr>
        <a:xfrm>
          <a:off x="0" y="0"/>
          <a:ext cx="0" cy="0"/>
          <a:chOff x="0" y="0"/>
          <a:chExt cx="0" cy="0"/>
        </a:xfrm>
      </p:grpSpPr>
      <p:sp>
        <p:nvSpPr>
          <p:cNvPr id="210" name="Google Shape;210;p47"/>
          <p:cNvSpPr/>
          <p:nvPr/>
        </p:nvSpPr>
        <p:spPr>
          <a:xfrm>
            <a:off x="7668138" y="4623011"/>
            <a:ext cx="559200" cy="559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47"/>
          <p:cNvSpPr/>
          <p:nvPr/>
        </p:nvSpPr>
        <p:spPr>
          <a:xfrm rot="2700000">
            <a:off x="24133" y="2719061"/>
            <a:ext cx="542634" cy="54263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47"/>
          <p:cNvSpPr/>
          <p:nvPr/>
        </p:nvSpPr>
        <p:spPr>
          <a:xfrm rot="2700000">
            <a:off x="8554394" y="1033337"/>
            <a:ext cx="805677" cy="805677"/>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47"/>
          <p:cNvSpPr/>
          <p:nvPr/>
        </p:nvSpPr>
        <p:spPr>
          <a:xfrm>
            <a:off x="544450" y="1432591"/>
            <a:ext cx="625800" cy="6258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47"/>
          <p:cNvSpPr/>
          <p:nvPr/>
        </p:nvSpPr>
        <p:spPr>
          <a:xfrm rot="-1799860">
            <a:off x="8526950" y="3105703"/>
            <a:ext cx="607243" cy="607243"/>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47"/>
          <p:cNvSpPr/>
          <p:nvPr/>
        </p:nvSpPr>
        <p:spPr>
          <a:xfrm rot="-1527899">
            <a:off x="453203" y="3864921"/>
            <a:ext cx="901480" cy="90148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47"/>
          <p:cNvSpPr/>
          <p:nvPr/>
        </p:nvSpPr>
        <p:spPr>
          <a:xfrm>
            <a:off x="1775778" y="3374078"/>
            <a:ext cx="450000" cy="4500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47"/>
          <p:cNvSpPr/>
          <p:nvPr/>
        </p:nvSpPr>
        <p:spPr>
          <a:xfrm>
            <a:off x="7559892" y="831025"/>
            <a:ext cx="436800" cy="4368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47"/>
          <p:cNvSpPr/>
          <p:nvPr/>
        </p:nvSpPr>
        <p:spPr>
          <a:xfrm rot="-722907">
            <a:off x="1537971" y="647226"/>
            <a:ext cx="648178" cy="648178"/>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47"/>
          <p:cNvSpPr/>
          <p:nvPr/>
        </p:nvSpPr>
        <p:spPr>
          <a:xfrm>
            <a:off x="6827225" y="-36363"/>
            <a:ext cx="398100" cy="3981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47"/>
          <p:cNvSpPr/>
          <p:nvPr/>
        </p:nvSpPr>
        <p:spPr>
          <a:xfrm rot="1498435">
            <a:off x="607987" y="273510"/>
            <a:ext cx="386542" cy="386542"/>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47"/>
          <p:cNvSpPr/>
          <p:nvPr/>
        </p:nvSpPr>
        <p:spPr>
          <a:xfrm>
            <a:off x="7094543" y="3312272"/>
            <a:ext cx="573600" cy="5736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47"/>
          <p:cNvSpPr/>
          <p:nvPr/>
        </p:nvSpPr>
        <p:spPr>
          <a:xfrm>
            <a:off x="2947575" y="209975"/>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47"/>
          <p:cNvSpPr/>
          <p:nvPr/>
        </p:nvSpPr>
        <p:spPr>
          <a:xfrm>
            <a:off x="2423393" y="4259284"/>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47"/>
          <p:cNvSpPr/>
          <p:nvPr/>
        </p:nvSpPr>
        <p:spPr>
          <a:xfrm>
            <a:off x="4083290" y="4254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47"/>
          <p:cNvSpPr/>
          <p:nvPr/>
        </p:nvSpPr>
        <p:spPr>
          <a:xfrm>
            <a:off x="7755550" y="214850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47"/>
          <p:cNvSpPr/>
          <p:nvPr/>
        </p:nvSpPr>
        <p:spPr>
          <a:xfrm>
            <a:off x="3415225" y="444955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47"/>
          <p:cNvSpPr/>
          <p:nvPr/>
        </p:nvSpPr>
        <p:spPr>
          <a:xfrm>
            <a:off x="1479240" y="22205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47"/>
          <p:cNvSpPr/>
          <p:nvPr/>
        </p:nvSpPr>
        <p:spPr>
          <a:xfrm>
            <a:off x="5371265" y="4390604"/>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47"/>
          <p:cNvSpPr/>
          <p:nvPr/>
        </p:nvSpPr>
        <p:spPr>
          <a:xfrm rot="-2700000">
            <a:off x="6337338" y="4348472"/>
            <a:ext cx="260074" cy="26007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47"/>
          <p:cNvSpPr/>
          <p:nvPr/>
        </p:nvSpPr>
        <p:spPr>
          <a:xfrm>
            <a:off x="5622218" y="263309"/>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47"/>
          <p:cNvSpPr/>
          <p:nvPr/>
        </p:nvSpPr>
        <p:spPr>
          <a:xfrm>
            <a:off x="-25" y="0"/>
            <a:ext cx="9144000" cy="5143500"/>
          </a:xfrm>
          <a:prstGeom prst="rect">
            <a:avLst/>
          </a:prstGeom>
          <a:solidFill>
            <a:srgbClr val="FFFFFF">
              <a:alpha val="6499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32" name="Google Shape;232;p47"/>
          <p:cNvSpPr txBox="1"/>
          <p:nvPr>
            <p:ph type="ctrTitle"/>
          </p:nvPr>
        </p:nvSpPr>
        <p:spPr>
          <a:xfrm>
            <a:off x="2068850" y="1991825"/>
            <a:ext cx="5006400" cy="11598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rgbClr val="434343"/>
              </a:buClr>
              <a:buSzPts val="4800"/>
              <a:buNone/>
              <a:defRPr sz="4800">
                <a:solidFill>
                  <a:srgbClr val="434343"/>
                </a:solidFill>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_1">
    <p:spTree>
      <p:nvGrpSpPr>
        <p:cNvPr id="233" name="Shape 233"/>
        <p:cNvGrpSpPr/>
        <p:nvPr/>
      </p:nvGrpSpPr>
      <p:grpSpPr>
        <a:xfrm>
          <a:off x="0" y="0"/>
          <a:ext cx="0" cy="0"/>
          <a:chOff x="0" y="0"/>
          <a:chExt cx="0" cy="0"/>
        </a:xfrm>
      </p:grpSpPr>
      <p:sp>
        <p:nvSpPr>
          <p:cNvPr id="234" name="Google Shape;234;p48"/>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35" name="Google Shape;235;p48"/>
          <p:cNvSpPr/>
          <p:nvPr/>
        </p:nvSpPr>
        <p:spPr>
          <a:xfrm>
            <a:off x="7613863" y="4623011"/>
            <a:ext cx="559200" cy="559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48"/>
          <p:cNvSpPr/>
          <p:nvPr/>
        </p:nvSpPr>
        <p:spPr>
          <a:xfrm rot="2700000">
            <a:off x="24133" y="2719061"/>
            <a:ext cx="542634" cy="54263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48"/>
          <p:cNvSpPr/>
          <p:nvPr/>
        </p:nvSpPr>
        <p:spPr>
          <a:xfrm rot="2700000">
            <a:off x="8500119" y="1033337"/>
            <a:ext cx="805677" cy="805677"/>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48"/>
          <p:cNvSpPr/>
          <p:nvPr/>
        </p:nvSpPr>
        <p:spPr>
          <a:xfrm>
            <a:off x="544450" y="1432591"/>
            <a:ext cx="625800" cy="6258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48"/>
          <p:cNvSpPr/>
          <p:nvPr/>
        </p:nvSpPr>
        <p:spPr>
          <a:xfrm rot="-1799860">
            <a:off x="8472675" y="3105703"/>
            <a:ext cx="607243" cy="607243"/>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48"/>
          <p:cNvSpPr/>
          <p:nvPr/>
        </p:nvSpPr>
        <p:spPr>
          <a:xfrm rot="-1527899">
            <a:off x="453203" y="3864921"/>
            <a:ext cx="901480" cy="90148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48"/>
          <p:cNvSpPr/>
          <p:nvPr/>
        </p:nvSpPr>
        <p:spPr>
          <a:xfrm>
            <a:off x="1775778" y="3374078"/>
            <a:ext cx="450000" cy="4500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48"/>
          <p:cNvSpPr/>
          <p:nvPr/>
        </p:nvSpPr>
        <p:spPr>
          <a:xfrm>
            <a:off x="7505617" y="831025"/>
            <a:ext cx="436800" cy="4368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48"/>
          <p:cNvSpPr/>
          <p:nvPr/>
        </p:nvSpPr>
        <p:spPr>
          <a:xfrm rot="-722907">
            <a:off x="1483696" y="647226"/>
            <a:ext cx="648178" cy="64817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48"/>
          <p:cNvSpPr/>
          <p:nvPr/>
        </p:nvSpPr>
        <p:spPr>
          <a:xfrm>
            <a:off x="6772950" y="-36363"/>
            <a:ext cx="398100" cy="398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48"/>
          <p:cNvSpPr/>
          <p:nvPr/>
        </p:nvSpPr>
        <p:spPr>
          <a:xfrm rot="1498435">
            <a:off x="553712" y="273510"/>
            <a:ext cx="386542" cy="386542"/>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48"/>
          <p:cNvSpPr/>
          <p:nvPr/>
        </p:nvSpPr>
        <p:spPr>
          <a:xfrm>
            <a:off x="7040268" y="3312272"/>
            <a:ext cx="573600" cy="5736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48"/>
          <p:cNvSpPr/>
          <p:nvPr/>
        </p:nvSpPr>
        <p:spPr>
          <a:xfrm>
            <a:off x="2893300" y="2099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48"/>
          <p:cNvSpPr/>
          <p:nvPr/>
        </p:nvSpPr>
        <p:spPr>
          <a:xfrm>
            <a:off x="2423393" y="4259284"/>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48"/>
          <p:cNvSpPr/>
          <p:nvPr/>
        </p:nvSpPr>
        <p:spPr>
          <a:xfrm>
            <a:off x="4029015" y="425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48"/>
          <p:cNvSpPr/>
          <p:nvPr/>
        </p:nvSpPr>
        <p:spPr>
          <a:xfrm>
            <a:off x="7701275" y="214850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48"/>
          <p:cNvSpPr/>
          <p:nvPr/>
        </p:nvSpPr>
        <p:spPr>
          <a:xfrm>
            <a:off x="3415225" y="444955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48"/>
          <p:cNvSpPr/>
          <p:nvPr/>
        </p:nvSpPr>
        <p:spPr>
          <a:xfrm>
            <a:off x="1479240" y="22205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48"/>
          <p:cNvSpPr/>
          <p:nvPr/>
        </p:nvSpPr>
        <p:spPr>
          <a:xfrm>
            <a:off x="5371265" y="4390604"/>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48"/>
          <p:cNvSpPr/>
          <p:nvPr/>
        </p:nvSpPr>
        <p:spPr>
          <a:xfrm rot="-2700000">
            <a:off x="6337338" y="4348472"/>
            <a:ext cx="260074" cy="26007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48"/>
          <p:cNvSpPr/>
          <p:nvPr/>
        </p:nvSpPr>
        <p:spPr>
          <a:xfrm>
            <a:off x="5567943" y="263309"/>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48"/>
          <p:cNvSpPr txBox="1"/>
          <p:nvPr>
            <p:ph type="ctrTitle"/>
          </p:nvPr>
        </p:nvSpPr>
        <p:spPr>
          <a:xfrm>
            <a:off x="2068850" y="1354750"/>
            <a:ext cx="5006400" cy="11598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57" name="Google Shape;257;p48"/>
          <p:cNvSpPr txBox="1"/>
          <p:nvPr>
            <p:ph idx="1" type="subTitle"/>
          </p:nvPr>
        </p:nvSpPr>
        <p:spPr>
          <a:xfrm>
            <a:off x="2961650" y="2992450"/>
            <a:ext cx="3220800" cy="7848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434343"/>
              </a:buClr>
              <a:buSzPts val="1800"/>
              <a:buNone/>
              <a:defRPr sz="1800">
                <a:solidFill>
                  <a:srgbClr val="434343"/>
                </a:solidFill>
              </a:defRPr>
            </a:lvl1pPr>
            <a:lvl2pPr lvl="1" algn="ctr">
              <a:spcBef>
                <a:spcPts val="1600"/>
              </a:spcBef>
              <a:spcAft>
                <a:spcPts val="0"/>
              </a:spcAft>
              <a:buClr>
                <a:srgbClr val="434343"/>
              </a:buClr>
              <a:buSzPts val="1800"/>
              <a:buNone/>
              <a:defRPr sz="1800">
                <a:solidFill>
                  <a:srgbClr val="434343"/>
                </a:solidFill>
              </a:defRPr>
            </a:lvl2pPr>
            <a:lvl3pPr lvl="2" algn="ctr">
              <a:spcBef>
                <a:spcPts val="1600"/>
              </a:spcBef>
              <a:spcAft>
                <a:spcPts val="0"/>
              </a:spcAft>
              <a:buClr>
                <a:srgbClr val="434343"/>
              </a:buClr>
              <a:buSzPts val="1800"/>
              <a:buNone/>
              <a:defRPr sz="1800">
                <a:solidFill>
                  <a:srgbClr val="434343"/>
                </a:solidFill>
              </a:defRPr>
            </a:lvl3pPr>
            <a:lvl4pPr lvl="3" algn="ctr">
              <a:spcBef>
                <a:spcPts val="1600"/>
              </a:spcBef>
              <a:spcAft>
                <a:spcPts val="0"/>
              </a:spcAft>
              <a:buClr>
                <a:srgbClr val="434343"/>
              </a:buClr>
              <a:buSzPts val="1400"/>
              <a:buNone/>
              <a:defRPr>
                <a:solidFill>
                  <a:srgbClr val="434343"/>
                </a:solidFill>
              </a:defRPr>
            </a:lvl4pPr>
            <a:lvl5pPr lvl="4" algn="ctr">
              <a:spcBef>
                <a:spcPts val="1600"/>
              </a:spcBef>
              <a:spcAft>
                <a:spcPts val="0"/>
              </a:spcAft>
              <a:buClr>
                <a:srgbClr val="434343"/>
              </a:buClr>
              <a:buSzPts val="1400"/>
              <a:buNone/>
              <a:defRPr>
                <a:solidFill>
                  <a:srgbClr val="434343"/>
                </a:solidFill>
              </a:defRPr>
            </a:lvl5pPr>
            <a:lvl6pPr lvl="5" algn="ctr">
              <a:spcBef>
                <a:spcPts val="1600"/>
              </a:spcBef>
              <a:spcAft>
                <a:spcPts val="0"/>
              </a:spcAft>
              <a:buClr>
                <a:srgbClr val="434343"/>
              </a:buClr>
              <a:buSzPts val="1400"/>
              <a:buNone/>
              <a:defRPr>
                <a:solidFill>
                  <a:srgbClr val="434343"/>
                </a:solidFill>
              </a:defRPr>
            </a:lvl6pPr>
            <a:lvl7pPr lvl="6" algn="ctr">
              <a:spcBef>
                <a:spcPts val="1600"/>
              </a:spcBef>
              <a:spcAft>
                <a:spcPts val="0"/>
              </a:spcAft>
              <a:buClr>
                <a:srgbClr val="434343"/>
              </a:buClr>
              <a:buSzPts val="1400"/>
              <a:buNone/>
              <a:defRPr>
                <a:solidFill>
                  <a:srgbClr val="434343"/>
                </a:solidFill>
              </a:defRPr>
            </a:lvl7pPr>
            <a:lvl8pPr lvl="7" algn="ctr">
              <a:spcBef>
                <a:spcPts val="1600"/>
              </a:spcBef>
              <a:spcAft>
                <a:spcPts val="0"/>
              </a:spcAft>
              <a:buClr>
                <a:srgbClr val="434343"/>
              </a:buClr>
              <a:buSzPts val="1400"/>
              <a:buNone/>
              <a:defRPr>
                <a:solidFill>
                  <a:srgbClr val="434343"/>
                </a:solidFill>
              </a:defRPr>
            </a:lvl8pPr>
            <a:lvl9pPr lvl="8" algn="ctr">
              <a:spcBef>
                <a:spcPts val="1600"/>
              </a:spcBef>
              <a:spcAft>
                <a:spcPts val="1600"/>
              </a:spcAft>
              <a:buClr>
                <a:srgbClr val="434343"/>
              </a:buClr>
              <a:buSzPts val="1400"/>
              <a:buNone/>
              <a:defRPr>
                <a:solidFill>
                  <a:srgbClr val="434343"/>
                </a:solidFill>
              </a:defRPr>
            </a:lvl9pPr>
          </a:lstStyle>
          <a:p/>
        </p:txBody>
      </p:sp>
      <p:sp>
        <p:nvSpPr>
          <p:cNvPr id="258" name="Google Shape;258;p48"/>
          <p:cNvSpPr/>
          <p:nvPr/>
        </p:nvSpPr>
        <p:spPr>
          <a:xfrm>
            <a:off x="4409077" y="2598899"/>
            <a:ext cx="325800" cy="325800"/>
          </a:xfrm>
          <a:prstGeom prst="mathMultiply">
            <a:avLst>
              <a:gd fmla="val 23520"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48"/>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_1">
    <p:spTree>
      <p:nvGrpSpPr>
        <p:cNvPr id="260" name="Shape 260"/>
        <p:cNvGrpSpPr/>
        <p:nvPr/>
      </p:nvGrpSpPr>
      <p:grpSpPr>
        <a:xfrm>
          <a:off x="0" y="0"/>
          <a:ext cx="0" cy="0"/>
          <a:chOff x="0" y="0"/>
          <a:chExt cx="0" cy="0"/>
        </a:xfrm>
      </p:grpSpPr>
      <p:sp>
        <p:nvSpPr>
          <p:cNvPr id="261" name="Google Shape;261;p49"/>
          <p:cNvSpPr txBox="1"/>
          <p:nvPr>
            <p:ph idx="1" type="body"/>
          </p:nvPr>
        </p:nvSpPr>
        <p:spPr>
          <a:xfrm>
            <a:off x="2032675" y="2161800"/>
            <a:ext cx="5078700" cy="819900"/>
          </a:xfrm>
          <a:prstGeom prst="rect">
            <a:avLst/>
          </a:prstGeom>
        </p:spPr>
        <p:txBody>
          <a:bodyPr anchorCtr="0" anchor="ctr" bIns="91425" lIns="91425" spcFirstLastPara="1" rIns="91425" wrap="square" tIns="91425">
            <a:noAutofit/>
          </a:bodyPr>
          <a:lstStyle>
            <a:lvl1pPr indent="-381000" lvl="0" marL="457200" algn="ctr">
              <a:spcBef>
                <a:spcPts val="0"/>
              </a:spcBef>
              <a:spcAft>
                <a:spcPts val="0"/>
              </a:spcAft>
              <a:buSzPts val="2400"/>
              <a:buChar char="●"/>
              <a:defRPr i="1" sz="2400"/>
            </a:lvl1pPr>
            <a:lvl2pPr indent="-317500" lvl="1" marL="914400" algn="ctr">
              <a:spcBef>
                <a:spcPts val="1600"/>
              </a:spcBef>
              <a:spcAft>
                <a:spcPts val="0"/>
              </a:spcAft>
              <a:buSzPts val="1400"/>
              <a:buChar char="○"/>
              <a:defRPr i="1"/>
            </a:lvl2pPr>
            <a:lvl3pPr indent="-317500" lvl="2" marL="1371600" algn="ctr">
              <a:spcBef>
                <a:spcPts val="1600"/>
              </a:spcBef>
              <a:spcAft>
                <a:spcPts val="0"/>
              </a:spcAft>
              <a:buSzPts val="1400"/>
              <a:buChar char="■"/>
              <a:defRPr i="1"/>
            </a:lvl3pPr>
            <a:lvl4pPr indent="-381000" lvl="3" marL="1828800" algn="ctr">
              <a:spcBef>
                <a:spcPts val="1600"/>
              </a:spcBef>
              <a:spcAft>
                <a:spcPts val="0"/>
              </a:spcAft>
              <a:buSzPts val="2400"/>
              <a:buChar char="●"/>
              <a:defRPr i="1" sz="2400"/>
            </a:lvl4pPr>
            <a:lvl5pPr indent="-381000" lvl="4" marL="2286000" algn="ctr">
              <a:spcBef>
                <a:spcPts val="1600"/>
              </a:spcBef>
              <a:spcAft>
                <a:spcPts val="0"/>
              </a:spcAft>
              <a:buSzPts val="2400"/>
              <a:buChar char="○"/>
              <a:defRPr i="1" sz="2400"/>
            </a:lvl5pPr>
            <a:lvl6pPr indent="-381000" lvl="5" marL="2743200" algn="ctr">
              <a:spcBef>
                <a:spcPts val="1600"/>
              </a:spcBef>
              <a:spcAft>
                <a:spcPts val="0"/>
              </a:spcAft>
              <a:buSzPts val="2400"/>
              <a:buChar char="■"/>
              <a:defRPr i="1" sz="2400"/>
            </a:lvl6pPr>
            <a:lvl7pPr indent="-381000" lvl="6" marL="3200400" algn="ctr">
              <a:spcBef>
                <a:spcPts val="1600"/>
              </a:spcBef>
              <a:spcAft>
                <a:spcPts val="0"/>
              </a:spcAft>
              <a:buSzPts val="2400"/>
              <a:buChar char="●"/>
              <a:defRPr i="1" sz="2400"/>
            </a:lvl7pPr>
            <a:lvl8pPr indent="-381000" lvl="7" marL="3657600" algn="ctr">
              <a:spcBef>
                <a:spcPts val="1600"/>
              </a:spcBef>
              <a:spcAft>
                <a:spcPts val="0"/>
              </a:spcAft>
              <a:buSzPts val="2400"/>
              <a:buChar char="○"/>
              <a:defRPr i="1" sz="2400"/>
            </a:lvl8pPr>
            <a:lvl9pPr indent="-381000" lvl="8" marL="4114800" algn="ctr">
              <a:spcBef>
                <a:spcPts val="1600"/>
              </a:spcBef>
              <a:spcAft>
                <a:spcPts val="1600"/>
              </a:spcAft>
              <a:buSzPts val="2400"/>
              <a:buChar char="■"/>
              <a:defRPr i="1" sz="2400"/>
            </a:lvl9pPr>
          </a:lstStyle>
          <a:p/>
        </p:txBody>
      </p:sp>
      <p:sp>
        <p:nvSpPr>
          <p:cNvPr id="262" name="Google Shape;262;p49"/>
          <p:cNvSpPr txBox="1"/>
          <p:nvPr/>
        </p:nvSpPr>
        <p:spPr>
          <a:xfrm>
            <a:off x="3689900" y="133119"/>
            <a:ext cx="19572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solidFill>
                  <a:srgbClr val="434343"/>
                </a:solidFill>
                <a:latin typeface="Varela Round"/>
                <a:ea typeface="Varela Round"/>
                <a:cs typeface="Varela Round"/>
                <a:sym typeface="Varela Round"/>
              </a:rPr>
              <a:t>“</a:t>
            </a:r>
            <a:endParaRPr sz="9600">
              <a:solidFill>
                <a:srgbClr val="434343"/>
              </a:solidFill>
              <a:latin typeface="Varela Round"/>
              <a:ea typeface="Varela Round"/>
              <a:cs typeface="Varela Round"/>
              <a:sym typeface="Varela Round"/>
            </a:endParaRPr>
          </a:p>
        </p:txBody>
      </p:sp>
      <p:sp>
        <p:nvSpPr>
          <p:cNvPr id="263" name="Google Shape;263;p49"/>
          <p:cNvSpPr/>
          <p:nvPr/>
        </p:nvSpPr>
        <p:spPr>
          <a:xfrm>
            <a:off x="7613863" y="4623011"/>
            <a:ext cx="559200" cy="559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49"/>
          <p:cNvSpPr/>
          <p:nvPr/>
        </p:nvSpPr>
        <p:spPr>
          <a:xfrm rot="2700000">
            <a:off x="24133" y="2719061"/>
            <a:ext cx="542634" cy="54263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49"/>
          <p:cNvSpPr/>
          <p:nvPr/>
        </p:nvSpPr>
        <p:spPr>
          <a:xfrm rot="2700000">
            <a:off x="8500119" y="1033337"/>
            <a:ext cx="805677" cy="805677"/>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49"/>
          <p:cNvSpPr/>
          <p:nvPr/>
        </p:nvSpPr>
        <p:spPr>
          <a:xfrm>
            <a:off x="544450" y="1432591"/>
            <a:ext cx="625800" cy="6258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49"/>
          <p:cNvSpPr/>
          <p:nvPr/>
        </p:nvSpPr>
        <p:spPr>
          <a:xfrm rot="-1799860">
            <a:off x="8472675" y="3105703"/>
            <a:ext cx="607243" cy="607243"/>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49"/>
          <p:cNvSpPr/>
          <p:nvPr/>
        </p:nvSpPr>
        <p:spPr>
          <a:xfrm rot="-1527899">
            <a:off x="453203" y="3864921"/>
            <a:ext cx="901480" cy="90148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49"/>
          <p:cNvSpPr/>
          <p:nvPr/>
        </p:nvSpPr>
        <p:spPr>
          <a:xfrm>
            <a:off x="1775778" y="3374078"/>
            <a:ext cx="450000" cy="4500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49"/>
          <p:cNvSpPr/>
          <p:nvPr/>
        </p:nvSpPr>
        <p:spPr>
          <a:xfrm>
            <a:off x="7505617" y="831025"/>
            <a:ext cx="436800" cy="4368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49"/>
          <p:cNvSpPr/>
          <p:nvPr/>
        </p:nvSpPr>
        <p:spPr>
          <a:xfrm rot="-722907">
            <a:off x="1483696" y="647226"/>
            <a:ext cx="648178" cy="648178"/>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49"/>
          <p:cNvSpPr/>
          <p:nvPr/>
        </p:nvSpPr>
        <p:spPr>
          <a:xfrm>
            <a:off x="6772950" y="-36363"/>
            <a:ext cx="398100" cy="3981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9"/>
          <p:cNvSpPr/>
          <p:nvPr/>
        </p:nvSpPr>
        <p:spPr>
          <a:xfrm rot="1498435">
            <a:off x="553712" y="273510"/>
            <a:ext cx="386542" cy="386542"/>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49"/>
          <p:cNvSpPr/>
          <p:nvPr/>
        </p:nvSpPr>
        <p:spPr>
          <a:xfrm>
            <a:off x="7040268" y="3312272"/>
            <a:ext cx="573600" cy="5736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49"/>
          <p:cNvSpPr/>
          <p:nvPr/>
        </p:nvSpPr>
        <p:spPr>
          <a:xfrm>
            <a:off x="2893300" y="209975"/>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49"/>
          <p:cNvSpPr/>
          <p:nvPr/>
        </p:nvSpPr>
        <p:spPr>
          <a:xfrm>
            <a:off x="2423393" y="4259284"/>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49"/>
          <p:cNvSpPr/>
          <p:nvPr/>
        </p:nvSpPr>
        <p:spPr>
          <a:xfrm>
            <a:off x="4029015" y="4254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49"/>
          <p:cNvSpPr/>
          <p:nvPr/>
        </p:nvSpPr>
        <p:spPr>
          <a:xfrm>
            <a:off x="7701275" y="214850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9"/>
          <p:cNvSpPr/>
          <p:nvPr/>
        </p:nvSpPr>
        <p:spPr>
          <a:xfrm>
            <a:off x="3415225" y="444955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49"/>
          <p:cNvSpPr/>
          <p:nvPr/>
        </p:nvSpPr>
        <p:spPr>
          <a:xfrm>
            <a:off x="1479240" y="22205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9"/>
          <p:cNvSpPr/>
          <p:nvPr/>
        </p:nvSpPr>
        <p:spPr>
          <a:xfrm>
            <a:off x="5371265" y="4390604"/>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49"/>
          <p:cNvSpPr/>
          <p:nvPr/>
        </p:nvSpPr>
        <p:spPr>
          <a:xfrm rot="-2700000">
            <a:off x="6337338" y="4348472"/>
            <a:ext cx="260074" cy="26007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49"/>
          <p:cNvSpPr/>
          <p:nvPr/>
        </p:nvSpPr>
        <p:spPr>
          <a:xfrm>
            <a:off x="5567943" y="263309"/>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49"/>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285" name="Shape 285"/>
        <p:cNvGrpSpPr/>
        <p:nvPr/>
      </p:nvGrpSpPr>
      <p:grpSpPr>
        <a:xfrm>
          <a:off x="0" y="0"/>
          <a:ext cx="0" cy="0"/>
          <a:chOff x="0" y="0"/>
          <a:chExt cx="0" cy="0"/>
        </a:xfrm>
      </p:grpSpPr>
      <p:sp>
        <p:nvSpPr>
          <p:cNvPr id="286" name="Google Shape;286;p50"/>
          <p:cNvSpPr/>
          <p:nvPr/>
        </p:nvSpPr>
        <p:spPr>
          <a:xfrm>
            <a:off x="-25" y="0"/>
            <a:ext cx="9144000" cy="106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87" name="Google Shape;287;p50"/>
          <p:cNvSpPr/>
          <p:nvPr/>
        </p:nvSpPr>
        <p:spPr>
          <a:xfrm>
            <a:off x="0" y="1063500"/>
            <a:ext cx="9144000" cy="4080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50"/>
          <p:cNvSpPr/>
          <p:nvPr/>
        </p:nvSpPr>
        <p:spPr>
          <a:xfrm>
            <a:off x="600350" y="3191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50"/>
          <p:cNvSpPr/>
          <p:nvPr/>
        </p:nvSpPr>
        <p:spPr>
          <a:xfrm>
            <a:off x="1771440" y="586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50"/>
          <p:cNvSpPr/>
          <p:nvPr/>
        </p:nvSpPr>
        <p:spPr>
          <a:xfrm rot="-1295565">
            <a:off x="1719773" y="-14241"/>
            <a:ext cx="260049" cy="260049"/>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50"/>
          <p:cNvSpPr/>
          <p:nvPr/>
        </p:nvSpPr>
        <p:spPr>
          <a:xfrm>
            <a:off x="7099000" y="-1832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50"/>
          <p:cNvSpPr/>
          <p:nvPr/>
        </p:nvSpPr>
        <p:spPr>
          <a:xfrm rot="1050327">
            <a:off x="7064662" y="770637"/>
            <a:ext cx="385975" cy="385975"/>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50"/>
          <p:cNvSpPr/>
          <p:nvPr/>
        </p:nvSpPr>
        <p:spPr>
          <a:xfrm rot="1498139">
            <a:off x="8048547" y="796761"/>
            <a:ext cx="260111" cy="260111"/>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50"/>
          <p:cNvSpPr/>
          <p:nvPr/>
        </p:nvSpPr>
        <p:spPr>
          <a:xfrm>
            <a:off x="272750" y="91451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50"/>
          <p:cNvSpPr/>
          <p:nvPr/>
        </p:nvSpPr>
        <p:spPr>
          <a:xfrm rot="1222482">
            <a:off x="108247" y="115143"/>
            <a:ext cx="266258" cy="26625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50"/>
          <p:cNvSpPr/>
          <p:nvPr/>
        </p:nvSpPr>
        <p:spPr>
          <a:xfrm rot="2700000">
            <a:off x="1130105" y="721484"/>
            <a:ext cx="179464" cy="17946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50"/>
          <p:cNvSpPr/>
          <p:nvPr/>
        </p:nvSpPr>
        <p:spPr>
          <a:xfrm>
            <a:off x="8797925" y="68696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50"/>
          <p:cNvSpPr/>
          <p:nvPr/>
        </p:nvSpPr>
        <p:spPr>
          <a:xfrm>
            <a:off x="8434357" y="190568"/>
            <a:ext cx="266400" cy="2664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50"/>
          <p:cNvSpPr/>
          <p:nvPr/>
        </p:nvSpPr>
        <p:spPr>
          <a:xfrm>
            <a:off x="7656287" y="319171"/>
            <a:ext cx="179400" cy="1794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50"/>
          <p:cNvSpPr txBox="1"/>
          <p:nvPr>
            <p:ph type="title"/>
          </p:nvPr>
        </p:nvSpPr>
        <p:spPr>
          <a:xfrm>
            <a:off x="457200" y="-1"/>
            <a:ext cx="8229600" cy="10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1" name="Google Shape;301;p50"/>
          <p:cNvSpPr txBox="1"/>
          <p:nvPr>
            <p:ph idx="1" type="body"/>
          </p:nvPr>
        </p:nvSpPr>
        <p:spPr>
          <a:xfrm>
            <a:off x="457200" y="1363150"/>
            <a:ext cx="2631900" cy="3562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02" name="Google Shape;302;p50"/>
          <p:cNvSpPr txBox="1"/>
          <p:nvPr>
            <p:ph idx="2" type="body"/>
          </p:nvPr>
        </p:nvSpPr>
        <p:spPr>
          <a:xfrm>
            <a:off x="3223964" y="1363150"/>
            <a:ext cx="2631900" cy="3562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03" name="Google Shape;303;p50"/>
          <p:cNvSpPr txBox="1"/>
          <p:nvPr>
            <p:ph idx="3" type="body"/>
          </p:nvPr>
        </p:nvSpPr>
        <p:spPr>
          <a:xfrm>
            <a:off x="5990727" y="1363150"/>
            <a:ext cx="2631900" cy="3562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04" name="Google Shape;304;p50"/>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out decoration">
  <p:cSld name="BLANK_1">
    <p:spTree>
      <p:nvGrpSpPr>
        <p:cNvPr id="305" name="Shape 305"/>
        <p:cNvGrpSpPr/>
        <p:nvPr/>
      </p:nvGrpSpPr>
      <p:grpSpPr>
        <a:xfrm>
          <a:off x="0" y="0"/>
          <a:ext cx="0" cy="0"/>
          <a:chOff x="0" y="0"/>
          <a:chExt cx="0" cy="0"/>
        </a:xfrm>
      </p:grpSpPr>
      <p:sp>
        <p:nvSpPr>
          <p:cNvPr id="306" name="Google Shape;306;p51"/>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7" name="Google Shape;307;p51"/>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2.xml"/><Relationship Id="rId10" Type="http://schemas.openxmlformats.org/officeDocument/2006/relationships/slideLayout" Target="../slideLayouts/slideLayout31.xml"/><Relationship Id="rId12" Type="http://schemas.openxmlformats.org/officeDocument/2006/relationships/theme" Target="../theme/theme3.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43.xml"/><Relationship Id="rId10" Type="http://schemas.openxmlformats.org/officeDocument/2006/relationships/slideLayout" Target="../slideLayouts/slideLayout42.xml"/><Relationship Id="rId13" Type="http://schemas.openxmlformats.org/officeDocument/2006/relationships/slideLayout" Target="../slideLayouts/slideLayout45.xml"/><Relationship Id="rId12" Type="http://schemas.openxmlformats.org/officeDocument/2006/relationships/slideLayout" Target="../slideLayouts/slideLayout44.xml"/><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5" Type="http://schemas.openxmlformats.org/officeDocument/2006/relationships/slideLayout" Target="../slideLayouts/slideLayout47.xml"/><Relationship Id="rId14" Type="http://schemas.openxmlformats.org/officeDocument/2006/relationships/slideLayout" Target="../slideLayouts/slideLayout46.xml"/><Relationship Id="rId17" Type="http://schemas.openxmlformats.org/officeDocument/2006/relationships/theme" Target="../theme/theme4.xml"/><Relationship Id="rId16" Type="http://schemas.openxmlformats.org/officeDocument/2006/relationships/slideLayout" Target="../slideLayouts/slideLayout48.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87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FFFFFF"/>
              </a:buClr>
              <a:buSzPts val="2800"/>
              <a:buFont typeface="Roboto Slab Light"/>
              <a:buNone/>
              <a:defRPr sz="2800">
                <a:solidFill>
                  <a:srgbClr val="FFFFFF"/>
                </a:solidFill>
                <a:latin typeface="Roboto Slab Light"/>
                <a:ea typeface="Roboto Slab Light"/>
                <a:cs typeface="Roboto Slab Light"/>
                <a:sym typeface="Roboto Slab Light"/>
              </a:defRPr>
            </a:lvl1pPr>
            <a:lvl2pPr lvl="1" rtl="0">
              <a:spcBef>
                <a:spcPts val="0"/>
              </a:spcBef>
              <a:spcAft>
                <a:spcPts val="0"/>
              </a:spcAft>
              <a:buClr>
                <a:srgbClr val="FFFFFF"/>
              </a:buClr>
              <a:buSzPts val="2800"/>
              <a:buNone/>
              <a:defRPr sz="2800">
                <a:solidFill>
                  <a:srgbClr val="FFFFFF"/>
                </a:solidFill>
              </a:defRPr>
            </a:lvl2pPr>
            <a:lvl3pPr lvl="2" rtl="0">
              <a:spcBef>
                <a:spcPts val="0"/>
              </a:spcBef>
              <a:spcAft>
                <a:spcPts val="0"/>
              </a:spcAft>
              <a:buClr>
                <a:srgbClr val="FFFFFF"/>
              </a:buClr>
              <a:buSzPts val="2800"/>
              <a:buNone/>
              <a:defRPr sz="2800">
                <a:solidFill>
                  <a:srgbClr val="FFFFFF"/>
                </a:solidFill>
              </a:defRPr>
            </a:lvl3pPr>
            <a:lvl4pPr lvl="3" rtl="0">
              <a:spcBef>
                <a:spcPts val="0"/>
              </a:spcBef>
              <a:spcAft>
                <a:spcPts val="0"/>
              </a:spcAft>
              <a:buClr>
                <a:srgbClr val="FFFFFF"/>
              </a:buClr>
              <a:buSzPts val="2800"/>
              <a:buNone/>
              <a:defRPr sz="2800">
                <a:solidFill>
                  <a:srgbClr val="FFFFFF"/>
                </a:solidFill>
              </a:defRPr>
            </a:lvl4pPr>
            <a:lvl5pPr lvl="4" rtl="0">
              <a:spcBef>
                <a:spcPts val="0"/>
              </a:spcBef>
              <a:spcAft>
                <a:spcPts val="0"/>
              </a:spcAft>
              <a:buClr>
                <a:srgbClr val="FFFFFF"/>
              </a:buClr>
              <a:buSzPts val="2800"/>
              <a:buNone/>
              <a:defRPr sz="2800">
                <a:solidFill>
                  <a:srgbClr val="FFFFFF"/>
                </a:solidFill>
              </a:defRPr>
            </a:lvl5pPr>
            <a:lvl6pPr lvl="5" rtl="0">
              <a:spcBef>
                <a:spcPts val="0"/>
              </a:spcBef>
              <a:spcAft>
                <a:spcPts val="0"/>
              </a:spcAft>
              <a:buClr>
                <a:srgbClr val="FFFFFF"/>
              </a:buClr>
              <a:buSzPts val="2800"/>
              <a:buNone/>
              <a:defRPr sz="2800">
                <a:solidFill>
                  <a:srgbClr val="FFFFFF"/>
                </a:solidFill>
              </a:defRPr>
            </a:lvl6pPr>
            <a:lvl7pPr lvl="6" rtl="0">
              <a:spcBef>
                <a:spcPts val="0"/>
              </a:spcBef>
              <a:spcAft>
                <a:spcPts val="0"/>
              </a:spcAft>
              <a:buClr>
                <a:srgbClr val="FFFFFF"/>
              </a:buClr>
              <a:buSzPts val="2800"/>
              <a:buNone/>
              <a:defRPr sz="2800">
                <a:solidFill>
                  <a:srgbClr val="FFFFFF"/>
                </a:solidFill>
              </a:defRPr>
            </a:lvl7pPr>
            <a:lvl8pPr lvl="7" rtl="0">
              <a:spcBef>
                <a:spcPts val="0"/>
              </a:spcBef>
              <a:spcAft>
                <a:spcPts val="0"/>
              </a:spcAft>
              <a:buClr>
                <a:srgbClr val="FFFFFF"/>
              </a:buClr>
              <a:buSzPts val="2800"/>
              <a:buNone/>
              <a:defRPr sz="2800">
                <a:solidFill>
                  <a:srgbClr val="FFFFFF"/>
                </a:solidFill>
              </a:defRPr>
            </a:lvl8pPr>
            <a:lvl9pPr lvl="8" rtl="0">
              <a:spcBef>
                <a:spcPts val="0"/>
              </a:spcBef>
              <a:spcAft>
                <a:spcPts val="0"/>
              </a:spcAft>
              <a:buClr>
                <a:srgbClr val="FFFFFF"/>
              </a:buClr>
              <a:buSzPts val="2800"/>
              <a:buNone/>
              <a:defRPr sz="2800">
                <a:solidFill>
                  <a:srgbClr val="FFFFFF"/>
                </a:solidFill>
              </a:defRPr>
            </a:lvl9pPr>
          </a:lstStyle>
          <a:p/>
        </p:txBody>
      </p:sp>
      <p:sp>
        <p:nvSpPr>
          <p:cNvPr id="7" name="Google Shape;7;p1"/>
          <p:cNvSpPr txBox="1"/>
          <p:nvPr>
            <p:ph idx="1" type="body"/>
          </p:nvPr>
        </p:nvSpPr>
        <p:spPr>
          <a:xfrm>
            <a:off x="311700" y="863550"/>
            <a:ext cx="85206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Font typeface="Roboto"/>
              <a:buChar char="●"/>
              <a:defRPr>
                <a:latin typeface="Roboto"/>
                <a:ea typeface="Roboto"/>
                <a:cs typeface="Roboto"/>
                <a:sym typeface="Roboto"/>
              </a:defRPr>
            </a:lvl1pPr>
            <a:lvl2pPr indent="-317500" lvl="1" marL="914400" rtl="0">
              <a:lnSpc>
                <a:spcPct val="115000"/>
              </a:lnSpc>
              <a:spcBef>
                <a:spcPts val="1600"/>
              </a:spcBef>
              <a:spcAft>
                <a:spcPts val="0"/>
              </a:spcAft>
              <a:buSzPts val="1400"/>
              <a:buFont typeface="Roboto"/>
              <a:buChar char="○"/>
              <a:defRPr>
                <a:latin typeface="Roboto"/>
                <a:ea typeface="Roboto"/>
                <a:cs typeface="Roboto"/>
                <a:sym typeface="Roboto"/>
              </a:defRPr>
            </a:lvl2pPr>
            <a:lvl3pPr indent="-317500" lvl="2" marL="1371600" rtl="0">
              <a:lnSpc>
                <a:spcPct val="115000"/>
              </a:lnSpc>
              <a:spcBef>
                <a:spcPts val="1600"/>
              </a:spcBef>
              <a:spcAft>
                <a:spcPts val="0"/>
              </a:spcAft>
              <a:buSzPts val="1400"/>
              <a:buFont typeface="Roboto"/>
              <a:buChar char="■"/>
              <a:defRPr>
                <a:latin typeface="Roboto"/>
                <a:ea typeface="Roboto"/>
                <a:cs typeface="Roboto"/>
                <a:sym typeface="Roboto"/>
              </a:defRPr>
            </a:lvl3pPr>
            <a:lvl4pPr indent="-317500" lvl="3" marL="1828800" rtl="0">
              <a:lnSpc>
                <a:spcPct val="115000"/>
              </a:lnSpc>
              <a:spcBef>
                <a:spcPts val="1600"/>
              </a:spcBef>
              <a:spcAft>
                <a:spcPts val="0"/>
              </a:spcAft>
              <a:buSzPts val="1400"/>
              <a:buFont typeface="Roboto"/>
              <a:buChar char="●"/>
              <a:defRPr>
                <a:latin typeface="Roboto"/>
                <a:ea typeface="Roboto"/>
                <a:cs typeface="Roboto"/>
                <a:sym typeface="Roboto"/>
              </a:defRPr>
            </a:lvl4pPr>
            <a:lvl5pPr indent="-317500" lvl="4" marL="2286000" rtl="0">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rtl="0">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rtl="0">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rtl="0">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rtl="0">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21" name="Google Shape;121;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122" name="Google Shape;12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164" name="Shape 164"/>
        <p:cNvGrpSpPr/>
        <p:nvPr/>
      </p:nvGrpSpPr>
      <p:grpSpPr>
        <a:xfrm>
          <a:off x="0" y="0"/>
          <a:ext cx="0" cy="0"/>
          <a:chOff x="0" y="0"/>
          <a:chExt cx="0" cy="0"/>
        </a:xfrm>
      </p:grpSpPr>
      <p:sp>
        <p:nvSpPr>
          <p:cNvPr id="165" name="Google Shape;165;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66" name="Google Shape;166;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167" name="Google Shape;167;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 Id="rId3" Type="http://schemas.openxmlformats.org/officeDocument/2006/relationships/hyperlink" Target="https://support.google.com/webmasters/answer/40349?hl=en" TargetMode="External"/><Relationship Id="rId4" Type="http://schemas.openxmlformats.org/officeDocument/2006/relationships/hyperlink" Target="https://moz.com/blog/organic-quality-score" TargetMode="External"/><Relationship Id="rId5" Type="http://schemas.openxmlformats.org/officeDocument/2006/relationships/image" Target="../media/image1.png"/><Relationship Id="rId6" Type="http://schemas.openxmlformats.org/officeDocument/2006/relationships/image" Target="../media/image12.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1.png"/><Relationship Id="rId5" Type="http://schemas.openxmlformats.org/officeDocument/2006/relationships/image" Target="../media/image5.png"/><Relationship Id="rId6" Type="http://schemas.openxmlformats.org/officeDocument/2006/relationships/image" Target="../media/image10.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 Id="rId3" Type="http://schemas.openxmlformats.org/officeDocument/2006/relationships/image" Target="../media/image12.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 Id="rId3" Type="http://schemas.openxmlformats.org/officeDocument/2006/relationships/image" Target="../media/image12.pn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 Id="rId3" Type="http://schemas.openxmlformats.org/officeDocument/2006/relationships/image" Target="../media/image12.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8.xml"/><Relationship Id="rId3" Type="http://schemas.openxmlformats.org/officeDocument/2006/relationships/image" Target="../media/image12.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9.xml"/><Relationship Id="rId3" Type="http://schemas.openxmlformats.org/officeDocument/2006/relationships/image" Target="../media/image12.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1.xml"/><Relationship Id="rId3" Type="http://schemas.openxmlformats.org/officeDocument/2006/relationships/image" Target="../media/image12.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2.xml"/><Relationship Id="rId3" Type="http://schemas.openxmlformats.org/officeDocument/2006/relationships/image" Target="../media/image12.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3.xml"/><Relationship Id="rId3" Type="http://schemas.openxmlformats.org/officeDocument/2006/relationships/image" Target="../media/image12.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4.xml"/><Relationship Id="rId3" Type="http://schemas.openxmlformats.org/officeDocument/2006/relationships/image" Target="../media/image12.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5.xml"/><Relationship Id="rId3" Type="http://schemas.openxmlformats.org/officeDocument/2006/relationships/image" Target="../media/image12.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6.xml"/><Relationship Id="rId3" Type="http://schemas.openxmlformats.org/officeDocument/2006/relationships/image" Target="../media/image12.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8.xml"/><Relationship Id="rId3" Type="http://schemas.openxmlformats.org/officeDocument/2006/relationships/image" Target="../media/image12.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9.xml"/><Relationship Id="rId3" Type="http://schemas.openxmlformats.org/officeDocument/2006/relationships/image" Target="../media/image12.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0.xml"/><Relationship Id="rId3" Type="http://schemas.openxmlformats.org/officeDocument/2006/relationships/image" Target="../media/image12.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1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24.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15.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hyperlink" Target="https://modernadventure.com/" TargetMode="External"/><Relationship Id="rId9" Type="http://schemas.openxmlformats.org/officeDocument/2006/relationships/image" Target="../media/image22.png"/><Relationship Id="rId5" Type="http://schemas.openxmlformats.org/officeDocument/2006/relationships/hyperlink" Target="https://modernadventure.com/our-trips/" TargetMode="External"/><Relationship Id="rId6" Type="http://schemas.openxmlformats.org/officeDocument/2006/relationships/hyperlink" Target="https://modernadventure.com/our-trips/oaxaca-with-erik-anderson/" TargetMode="External"/><Relationship Id="rId7" Type="http://schemas.openxmlformats.org/officeDocument/2006/relationships/hyperlink" Target="https://modernadventure.com/our-trips/oaxaca-with-heath-ceramics/" TargetMode="External"/><Relationship Id="rId8" Type="http://schemas.openxmlformats.org/officeDocument/2006/relationships/hyperlink" Target="https://modernadventure.com/our-trips/oaxaca-with-fany-gerson/"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2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8.xml"/><Relationship Id="rId3" Type="http://schemas.openxmlformats.org/officeDocument/2006/relationships/image" Target="../media/image16.png"/><Relationship Id="rId4" Type="http://schemas.openxmlformats.org/officeDocument/2006/relationships/image" Target="../media/image12.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9.xml"/><Relationship Id="rId3" Type="http://schemas.openxmlformats.org/officeDocument/2006/relationships/hyperlink" Target="https://www.gracerosefarm.com/blogs/news/extending-our-season" TargetMode="External"/><Relationship Id="rId4" Type="http://schemas.openxmlformats.org/officeDocument/2006/relationships/hyperlink" Target="https://www.gracerosefarm.com/blogs/news/getting-to-know-our-customers" TargetMode="External"/><Relationship Id="rId5" Type="http://schemas.openxmlformats.org/officeDocument/2006/relationships/image" Target="../media/image16.png"/><Relationship Id="rId6" Type="http://schemas.openxmlformats.org/officeDocument/2006/relationships/image" Target="../media/image1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0.xml"/><Relationship Id="rId3" Type="http://schemas.openxmlformats.org/officeDocument/2006/relationships/image" Target="../media/image16.png"/><Relationship Id="rId4" Type="http://schemas.openxmlformats.org/officeDocument/2006/relationships/image" Target="../media/image1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1.xml"/><Relationship Id="rId3" Type="http://schemas.openxmlformats.org/officeDocument/2006/relationships/image" Target="../media/image3.png"/><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2.xml"/><Relationship Id="rId3" Type="http://schemas.openxmlformats.org/officeDocument/2006/relationships/image" Target="../media/image12.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11" name="Shape 311"/>
        <p:cNvGrpSpPr/>
        <p:nvPr/>
      </p:nvGrpSpPr>
      <p:grpSpPr>
        <a:xfrm>
          <a:off x="0" y="0"/>
          <a:ext cx="0" cy="0"/>
          <a:chOff x="0" y="0"/>
          <a:chExt cx="0" cy="0"/>
        </a:xfrm>
      </p:grpSpPr>
      <p:pic>
        <p:nvPicPr>
          <p:cNvPr id="312" name="Google Shape;312;p52"/>
          <p:cNvPicPr preferRelativeResize="0"/>
          <p:nvPr/>
        </p:nvPicPr>
        <p:blipFill rotWithShape="1">
          <a:blip r:embed="rId3">
            <a:alphaModFix/>
          </a:blip>
          <a:srcRect b="0" l="21581" r="0" t="21210"/>
          <a:stretch/>
        </p:blipFill>
        <p:spPr>
          <a:xfrm flipH="1" rot="-2036056">
            <a:off x="6081547" y="-1118983"/>
            <a:ext cx="3515956" cy="5976892"/>
          </a:xfrm>
          <a:prstGeom prst="rect">
            <a:avLst/>
          </a:prstGeom>
          <a:noFill/>
          <a:ln>
            <a:noFill/>
          </a:ln>
        </p:spPr>
      </p:pic>
      <p:sp>
        <p:nvSpPr>
          <p:cNvPr id="313" name="Google Shape;313;p52"/>
          <p:cNvSpPr txBox="1"/>
          <p:nvPr/>
        </p:nvSpPr>
        <p:spPr>
          <a:xfrm>
            <a:off x="384550" y="1195525"/>
            <a:ext cx="53046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Breaking Down Your</a:t>
            </a:r>
            <a:endParaRPr b="1" sz="2400">
              <a:solidFill>
                <a:schemeClr val="lt1"/>
              </a:solidFill>
              <a:latin typeface="Proxima Nova"/>
              <a:ea typeface="Proxima Nova"/>
              <a:cs typeface="Proxima Nova"/>
              <a:sym typeface="Proxima Nova"/>
            </a:endParaRPr>
          </a:p>
        </p:txBody>
      </p:sp>
      <p:sp>
        <p:nvSpPr>
          <p:cNvPr id="314" name="Google Shape;314;p52"/>
          <p:cNvSpPr txBox="1"/>
          <p:nvPr/>
        </p:nvSpPr>
        <p:spPr>
          <a:xfrm>
            <a:off x="384550" y="1650925"/>
            <a:ext cx="4280400" cy="13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1"/>
                </a:solidFill>
                <a:latin typeface="Proxima Nova"/>
                <a:ea typeface="Proxima Nova"/>
                <a:cs typeface="Proxima Nova"/>
                <a:sym typeface="Proxima Nova"/>
              </a:rPr>
              <a:t>Website Quality Assessment</a:t>
            </a:r>
            <a:endParaRPr b="1" sz="3600">
              <a:solidFill>
                <a:schemeClr val="lt1"/>
              </a:solidFill>
              <a:latin typeface="Proxima Nova"/>
              <a:ea typeface="Proxima Nova"/>
              <a:cs typeface="Proxima Nova"/>
              <a:sym typeface="Proxima Nova"/>
            </a:endParaRPr>
          </a:p>
        </p:txBody>
      </p:sp>
      <p:sp>
        <p:nvSpPr>
          <p:cNvPr id="315" name="Google Shape;315;p52"/>
          <p:cNvSpPr txBox="1"/>
          <p:nvPr/>
        </p:nvSpPr>
        <p:spPr>
          <a:xfrm>
            <a:off x="591000" y="3084550"/>
            <a:ext cx="3438900" cy="842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800">
                <a:solidFill>
                  <a:schemeClr val="lt1"/>
                </a:solidFill>
                <a:latin typeface="Proxima Nova"/>
                <a:ea typeface="Proxima Nova"/>
                <a:cs typeface="Proxima Nova"/>
                <a:sym typeface="Proxima Nova"/>
              </a:rPr>
              <a:t>PREPARED FOR</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b="1" lang="en" sz="1800">
                <a:solidFill>
                  <a:schemeClr val="lt1"/>
                </a:solidFill>
                <a:latin typeface="Proxima Nova"/>
                <a:ea typeface="Proxima Nova"/>
                <a:cs typeface="Proxima Nova"/>
                <a:sym typeface="Proxima Nova"/>
              </a:rPr>
              <a:t>[Client Name]</a:t>
            </a:r>
            <a:endParaRPr b="1" sz="1800">
              <a:solidFill>
                <a:schemeClr val="lt1"/>
              </a:solidFill>
              <a:latin typeface="Proxima Nova"/>
              <a:ea typeface="Proxima Nova"/>
              <a:cs typeface="Proxima Nova"/>
              <a:sym typeface="Proxima Nova"/>
            </a:endParaRPr>
          </a:p>
        </p:txBody>
      </p:sp>
      <p:sp>
        <p:nvSpPr>
          <p:cNvPr id="316" name="Google Shape;316;p52"/>
          <p:cNvSpPr txBox="1"/>
          <p:nvPr/>
        </p:nvSpPr>
        <p:spPr>
          <a:xfrm>
            <a:off x="591000" y="3802575"/>
            <a:ext cx="3438900" cy="300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chemeClr val="lt1"/>
                </a:solidFill>
                <a:latin typeface="Proxima Nova"/>
                <a:ea typeface="Proxima Nova"/>
                <a:cs typeface="Proxima Nova"/>
                <a:sym typeface="Proxima Nova"/>
              </a:rPr>
              <a:t>[Month]</a:t>
            </a:r>
            <a:r>
              <a:rPr lang="en" sz="1000">
                <a:solidFill>
                  <a:schemeClr val="lt1"/>
                </a:solidFill>
                <a:latin typeface="Proxima Nova"/>
                <a:ea typeface="Proxima Nova"/>
                <a:cs typeface="Proxima Nova"/>
                <a:sym typeface="Proxima Nova"/>
              </a:rPr>
              <a:t> 2025</a:t>
            </a:r>
            <a:endParaRPr sz="1000">
              <a:solidFill>
                <a:schemeClr val="lt1"/>
              </a:solidFill>
              <a:latin typeface="Proxima Nova"/>
              <a:ea typeface="Proxima Nova"/>
              <a:cs typeface="Proxima Nova"/>
              <a:sym typeface="Proxima Nova"/>
            </a:endParaRPr>
          </a:p>
        </p:txBody>
      </p:sp>
      <p:pic>
        <p:nvPicPr>
          <p:cNvPr id="317" name="Google Shape;317;p52"/>
          <p:cNvPicPr preferRelativeResize="0"/>
          <p:nvPr/>
        </p:nvPicPr>
        <p:blipFill>
          <a:blip r:embed="rId4">
            <a:alphaModFix/>
          </a:blip>
          <a:stretch>
            <a:fillRect/>
          </a:stretch>
        </p:blipFill>
        <p:spPr>
          <a:xfrm>
            <a:off x="7029450" y="4278199"/>
            <a:ext cx="1712674" cy="403325"/>
          </a:xfrm>
          <a:prstGeom prst="rect">
            <a:avLst/>
          </a:prstGeom>
          <a:noFill/>
          <a:ln>
            <a:noFill/>
          </a:ln>
        </p:spPr>
      </p:pic>
      <p:sp>
        <p:nvSpPr>
          <p:cNvPr id="318" name="Google Shape;318;p52"/>
          <p:cNvSpPr/>
          <p:nvPr/>
        </p:nvSpPr>
        <p:spPr>
          <a:xfrm>
            <a:off x="491675" y="3234625"/>
            <a:ext cx="24900" cy="71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2" name="Shape 322"/>
        <p:cNvGrpSpPr/>
        <p:nvPr/>
      </p:nvGrpSpPr>
      <p:grpSpPr>
        <a:xfrm>
          <a:off x="0" y="0"/>
          <a:ext cx="0" cy="0"/>
          <a:chOff x="0" y="0"/>
          <a:chExt cx="0" cy="0"/>
        </a:xfrm>
      </p:grpSpPr>
      <p:pic>
        <p:nvPicPr>
          <p:cNvPr id="323" name="Google Shape;323;p53"/>
          <p:cNvPicPr preferRelativeResize="0"/>
          <p:nvPr/>
        </p:nvPicPr>
        <p:blipFill>
          <a:blip r:embed="rId3">
            <a:alphaModFix/>
          </a:blip>
          <a:stretch>
            <a:fillRect/>
          </a:stretch>
        </p:blipFill>
        <p:spPr>
          <a:xfrm>
            <a:off x="489274" y="644025"/>
            <a:ext cx="3336549" cy="2466880"/>
          </a:xfrm>
          <a:prstGeom prst="rect">
            <a:avLst/>
          </a:prstGeom>
          <a:noFill/>
          <a:ln>
            <a:noFill/>
          </a:ln>
        </p:spPr>
      </p:pic>
      <p:sp>
        <p:nvSpPr>
          <p:cNvPr id="324" name="Google Shape;324;p53"/>
          <p:cNvSpPr txBox="1"/>
          <p:nvPr>
            <p:ph type="title"/>
          </p:nvPr>
        </p:nvSpPr>
        <p:spPr>
          <a:xfrm>
            <a:off x="489275" y="3124125"/>
            <a:ext cx="3560700" cy="99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rgbClr val="E21A6B"/>
                </a:solidFill>
                <a:latin typeface="Poppins"/>
                <a:ea typeface="Poppins"/>
                <a:cs typeface="Poppins"/>
                <a:sym typeface="Poppins"/>
              </a:rPr>
              <a:t>What’s in this document?</a:t>
            </a:r>
            <a:endParaRPr sz="1400">
              <a:solidFill>
                <a:srgbClr val="E21A6B"/>
              </a:solidFill>
              <a:latin typeface="Poppins"/>
              <a:ea typeface="Poppins"/>
              <a:cs typeface="Poppins"/>
              <a:sym typeface="Poppins"/>
            </a:endParaRPr>
          </a:p>
        </p:txBody>
      </p:sp>
      <p:sp>
        <p:nvSpPr>
          <p:cNvPr id="325" name="Google Shape;325;p53"/>
          <p:cNvSpPr txBox="1"/>
          <p:nvPr>
            <p:ph idx="4294967295" type="body"/>
          </p:nvPr>
        </p:nvSpPr>
        <p:spPr>
          <a:xfrm>
            <a:off x="5219050" y="1244650"/>
            <a:ext cx="3256800" cy="613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“website quality” is and why it’s important.</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sp>
        <p:nvSpPr>
          <p:cNvPr id="326" name="Google Shape;326;p53"/>
          <p:cNvSpPr/>
          <p:nvPr/>
        </p:nvSpPr>
        <p:spPr>
          <a:xfrm>
            <a:off x="4625650" y="1310500"/>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1</a:t>
            </a:r>
            <a:endParaRPr b="1" sz="1800">
              <a:solidFill>
                <a:srgbClr val="E21A6B"/>
              </a:solidFill>
              <a:latin typeface="Poppins"/>
              <a:ea typeface="Poppins"/>
              <a:cs typeface="Poppins"/>
              <a:sym typeface="Poppins"/>
            </a:endParaRPr>
          </a:p>
        </p:txBody>
      </p:sp>
      <p:sp>
        <p:nvSpPr>
          <p:cNvPr id="327" name="Google Shape;327;p53"/>
          <p:cNvSpPr/>
          <p:nvPr/>
        </p:nvSpPr>
        <p:spPr>
          <a:xfrm>
            <a:off x="4625650" y="22573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2</a:t>
            </a:r>
            <a:endParaRPr b="1" sz="1800">
              <a:solidFill>
                <a:srgbClr val="E21A6B"/>
              </a:solidFill>
              <a:latin typeface="Poppins"/>
              <a:ea typeface="Poppins"/>
              <a:cs typeface="Poppins"/>
              <a:sym typeface="Poppins"/>
            </a:endParaRPr>
          </a:p>
        </p:txBody>
      </p:sp>
      <p:sp>
        <p:nvSpPr>
          <p:cNvPr id="328" name="Google Shape;328;p53"/>
          <p:cNvSpPr txBox="1"/>
          <p:nvPr>
            <p:ph idx="4294967295" type="body"/>
          </p:nvPr>
        </p:nvSpPr>
        <p:spPr>
          <a:xfrm>
            <a:off x="5219050" y="3164675"/>
            <a:ext cx="3486600" cy="885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600"/>
              </a:spcAft>
              <a:buNone/>
            </a:pPr>
            <a:r>
              <a:rPr lang="en" sz="1500">
                <a:solidFill>
                  <a:schemeClr val="dk1"/>
                </a:solidFill>
                <a:latin typeface="Proxima Nova"/>
                <a:ea typeface="Proxima Nova"/>
                <a:cs typeface="Proxima Nova"/>
                <a:sym typeface="Proxima Nova"/>
              </a:rPr>
              <a:t>The </a:t>
            </a:r>
            <a:r>
              <a:rPr lang="en" sz="1500" u="sng">
                <a:solidFill>
                  <a:schemeClr val="dk1"/>
                </a:solidFill>
                <a:latin typeface="Proxima Nova"/>
                <a:ea typeface="Proxima Nova"/>
                <a:cs typeface="Proxima Nova"/>
                <a:sym typeface="Proxima Nova"/>
              </a:rPr>
              <a:t>outputs</a:t>
            </a:r>
            <a:r>
              <a:rPr lang="en" sz="1500">
                <a:solidFill>
                  <a:schemeClr val="dk1"/>
                </a:solidFill>
                <a:latin typeface="Proxima Nova"/>
                <a:ea typeface="Proxima Nova"/>
                <a:cs typeface="Proxima Nova"/>
                <a:sym typeface="Proxima Nova"/>
              </a:rPr>
              <a:t> of the report and how we use them to execute your campaign.</a:t>
            </a:r>
            <a:endParaRPr sz="1500">
              <a:solidFill>
                <a:schemeClr val="dk1"/>
              </a:solidFill>
              <a:latin typeface="Proxima Nova"/>
              <a:ea typeface="Proxima Nova"/>
              <a:cs typeface="Proxima Nova"/>
              <a:sym typeface="Proxima Nova"/>
            </a:endParaRPr>
          </a:p>
        </p:txBody>
      </p:sp>
      <p:sp>
        <p:nvSpPr>
          <p:cNvPr id="329" name="Google Shape;329;p53"/>
          <p:cNvSpPr/>
          <p:nvPr/>
        </p:nvSpPr>
        <p:spPr>
          <a:xfrm>
            <a:off x="4625650" y="32479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3</a:t>
            </a:r>
            <a:endParaRPr b="1" sz="1800">
              <a:solidFill>
                <a:srgbClr val="E21A6B"/>
              </a:solidFill>
              <a:latin typeface="Poppins"/>
              <a:ea typeface="Poppins"/>
              <a:cs typeface="Poppins"/>
              <a:sym typeface="Poppins"/>
            </a:endParaRPr>
          </a:p>
        </p:txBody>
      </p:sp>
      <p:sp>
        <p:nvSpPr>
          <p:cNvPr id="330" name="Google Shape;330;p53"/>
          <p:cNvSpPr txBox="1"/>
          <p:nvPr>
            <p:ph idx="4294967295" type="body"/>
          </p:nvPr>
        </p:nvSpPr>
        <p:spPr>
          <a:xfrm>
            <a:off x="5219050" y="2224675"/>
            <a:ext cx="3256800" cy="699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a:t>
            </a:r>
            <a:r>
              <a:rPr lang="en" sz="1500" u="sng">
                <a:solidFill>
                  <a:schemeClr val="dk1"/>
                </a:solidFill>
                <a:latin typeface="Proxima Nova"/>
                <a:ea typeface="Proxima Nova"/>
                <a:cs typeface="Proxima Nova"/>
                <a:sym typeface="Proxima Nova"/>
              </a:rPr>
              <a:t>inputs</a:t>
            </a:r>
            <a:r>
              <a:rPr lang="en" sz="1500">
                <a:solidFill>
                  <a:schemeClr val="dk1"/>
                </a:solidFill>
                <a:latin typeface="Proxima Nova"/>
                <a:ea typeface="Proxima Nova"/>
                <a:cs typeface="Proxima Nova"/>
                <a:sym typeface="Proxima Nova"/>
              </a:rPr>
              <a:t> go into the report and how we analyze them.</a:t>
            </a:r>
            <a:endParaRPr sz="1500">
              <a:solidFill>
                <a:schemeClr val="dk1"/>
              </a:solidFill>
              <a:latin typeface="Proxima Nova"/>
              <a:ea typeface="Proxima Nova"/>
              <a:cs typeface="Proxima Nova"/>
              <a:sym typeface="Proxima Nova"/>
            </a:endParaRPr>
          </a:p>
          <a:p>
            <a:pPr indent="0" lvl="0" marL="0" rtl="0" algn="l">
              <a:spcBef>
                <a:spcPts val="1600"/>
              </a:spcBef>
              <a:spcAft>
                <a:spcPts val="0"/>
              </a:spcAft>
              <a:buNone/>
            </a:pPr>
            <a:r>
              <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pic>
        <p:nvPicPr>
          <p:cNvPr id="331" name="Google Shape;331;p53"/>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5" name="Shape 335"/>
        <p:cNvGrpSpPr/>
        <p:nvPr/>
      </p:nvGrpSpPr>
      <p:grpSpPr>
        <a:xfrm>
          <a:off x="0" y="0"/>
          <a:ext cx="0" cy="0"/>
          <a:chOff x="0" y="0"/>
          <a:chExt cx="0" cy="0"/>
        </a:xfrm>
      </p:grpSpPr>
      <p:sp>
        <p:nvSpPr>
          <p:cNvPr id="336" name="Google Shape;336;p54"/>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sp>
        <p:nvSpPr>
          <p:cNvPr id="337" name="Google Shape;337;p54"/>
          <p:cNvSpPr txBox="1"/>
          <p:nvPr>
            <p:ph type="title"/>
          </p:nvPr>
        </p:nvSpPr>
        <p:spPr>
          <a:xfrm>
            <a:off x="101925" y="2084550"/>
            <a:ext cx="27966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is</a:t>
            </a:r>
            <a:r>
              <a:rPr b="1" lang="en" sz="2400">
                <a:solidFill>
                  <a:srgbClr val="FFFFFF"/>
                </a:solidFill>
                <a:latin typeface="Proxima Nova"/>
                <a:ea typeface="Proxima Nova"/>
                <a:cs typeface="Proxima Nova"/>
                <a:sym typeface="Proxima Nova"/>
              </a:rPr>
              <a:t> </a:t>
            </a:r>
            <a:br>
              <a:rPr b="1" lang="en" sz="2400">
                <a:solidFill>
                  <a:srgbClr val="FFFFFF"/>
                </a:solidFill>
                <a:latin typeface="Proxima Nova"/>
                <a:ea typeface="Proxima Nova"/>
                <a:cs typeface="Proxima Nova"/>
                <a:sym typeface="Proxima Nova"/>
              </a:rPr>
            </a:br>
            <a:r>
              <a:rPr lang="en" sz="2400">
                <a:solidFill>
                  <a:srgbClr val="FFFFFF"/>
                </a:solidFill>
                <a:latin typeface="Proxima Nova"/>
                <a:ea typeface="Proxima Nova"/>
                <a:cs typeface="Proxima Nova"/>
                <a:sym typeface="Proxima Nova"/>
              </a:rPr>
              <a:t>“</a:t>
            </a:r>
            <a:r>
              <a:rPr b="1" lang="en" sz="2400">
                <a:solidFill>
                  <a:srgbClr val="FFFFFF"/>
                </a:solidFill>
                <a:latin typeface="Proxima Nova"/>
                <a:ea typeface="Proxima Nova"/>
                <a:cs typeface="Proxima Nova"/>
                <a:sym typeface="Proxima Nova"/>
              </a:rPr>
              <a:t>W</a:t>
            </a:r>
            <a:r>
              <a:rPr b="1" lang="en" sz="2400">
                <a:solidFill>
                  <a:srgbClr val="FFFFFF"/>
                </a:solidFill>
                <a:latin typeface="Proxima Nova"/>
                <a:ea typeface="Proxima Nova"/>
                <a:cs typeface="Proxima Nova"/>
                <a:sym typeface="Proxima Nova"/>
              </a:rPr>
              <a:t>ebsite Quality</a:t>
            </a:r>
            <a:r>
              <a:rPr lang="en" sz="2400">
                <a:solidFill>
                  <a:srgbClr val="FFFFFF"/>
                </a:solidFill>
                <a:latin typeface="Proxima Nova"/>
                <a:ea typeface="Proxima Nova"/>
                <a:cs typeface="Proxima Nova"/>
                <a:sym typeface="Proxima Nova"/>
              </a:rPr>
              <a:t>”?</a:t>
            </a:r>
            <a:endParaRPr sz="1200">
              <a:solidFill>
                <a:srgbClr val="FFFFFF"/>
              </a:solidFill>
              <a:latin typeface="Proxima Nova"/>
              <a:ea typeface="Proxima Nova"/>
              <a:cs typeface="Proxima Nova"/>
              <a:sym typeface="Proxima Nova"/>
            </a:endParaRPr>
          </a:p>
        </p:txBody>
      </p:sp>
      <p:sp>
        <p:nvSpPr>
          <p:cNvPr id="338" name="Google Shape;338;p54"/>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Search engines send traffic to websites they deem as “high quality”. That means a few things:</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coded and structured according to their </a:t>
            </a:r>
            <a:r>
              <a:rPr lang="en" sz="1200" u="sng">
                <a:solidFill>
                  <a:srgbClr val="222222"/>
                </a:solidFill>
                <a:latin typeface="Proxima Nova"/>
                <a:ea typeface="Proxima Nova"/>
                <a:cs typeface="Proxima Nova"/>
                <a:sym typeface="Proxima Nova"/>
                <a:hlinkClick r:id="rId3">
                  <a:extLst>
                    <a:ext uri="{A12FA001-AC4F-418D-AE19-62706E023703}">
                      <ahyp:hlinkClr val="tx"/>
                    </a:ext>
                  </a:extLst>
                </a:hlinkClick>
              </a:rPr>
              <a:t>webmaster guidelines</a:t>
            </a:r>
            <a:r>
              <a:rPr lang="en" sz="1200">
                <a:solidFill>
                  <a:srgbClr val="222222"/>
                </a:solidFill>
                <a:latin typeface="Proxima Nova"/>
                <a:ea typeface="Proxima Nova"/>
                <a:cs typeface="Proxima Nova"/>
                <a:sym typeface="Proxima Nova"/>
              </a:rPr>
              <a:t>.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“popular”, i.e. getting mentioned across the web.</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satisfy “searcher intent” through relevant and quality content.</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Having low quality pages, content, poor structure and lack of web mentions causes Google to lose trust in your website and crawl, index and rank it less and less over time.</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We assess quality of your website by looking at a number of different data inputs, including inbound links, titles, content depth, sales from organic traffic, keyword rankings and more.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Additional resources:</a:t>
            </a:r>
            <a:br>
              <a:rPr lang="en" sz="1200">
                <a:solidFill>
                  <a:srgbClr val="222222"/>
                </a:solidFill>
                <a:latin typeface="Proxima Nova"/>
                <a:ea typeface="Proxima Nova"/>
                <a:cs typeface="Proxima Nova"/>
                <a:sym typeface="Proxima Nova"/>
              </a:rPr>
            </a:b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Char char="●"/>
            </a:pPr>
            <a:r>
              <a:rPr lang="en" sz="1200" u="sng">
                <a:solidFill>
                  <a:srgbClr val="222222"/>
                </a:solidFill>
                <a:latin typeface="Proxima Nova"/>
                <a:ea typeface="Proxima Nova"/>
                <a:cs typeface="Proxima Nova"/>
                <a:sym typeface="Proxima Nova"/>
                <a:hlinkClick r:id="rId4">
                  <a:extLst>
                    <a:ext uri="{A12FA001-AC4F-418D-AE19-62706E023703}">
                      <ahyp:hlinkClr val="tx"/>
                    </a:ext>
                  </a:extLst>
                </a:hlinkClick>
              </a:rPr>
              <a:t>Google’s Quality Score</a:t>
            </a:r>
            <a:r>
              <a:rPr lang="en" sz="1200">
                <a:solidFill>
                  <a:srgbClr val="222222"/>
                </a:solidFill>
                <a:latin typeface="Proxima Nova"/>
                <a:ea typeface="Proxima Nova"/>
                <a:cs typeface="Proxima Nova"/>
                <a:sym typeface="Proxima Nova"/>
              </a:rPr>
              <a:t> (Moz)</a:t>
            </a:r>
            <a:endParaRPr b="1" sz="1200">
              <a:solidFill>
                <a:srgbClr val="222222"/>
              </a:solidFill>
              <a:latin typeface="Proxima Nova"/>
              <a:ea typeface="Proxima Nova"/>
              <a:cs typeface="Proxima Nova"/>
              <a:sym typeface="Proxima Nova"/>
            </a:endParaRPr>
          </a:p>
        </p:txBody>
      </p:sp>
      <p:pic>
        <p:nvPicPr>
          <p:cNvPr id="339" name="Google Shape;339;p54"/>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340" name="Google Shape;340;p54"/>
          <p:cNvPicPr preferRelativeResize="0"/>
          <p:nvPr/>
        </p:nvPicPr>
        <p:blipFill rotWithShape="1">
          <a:blip r:embed="rId6">
            <a:alphaModFix amt="52999"/>
          </a:blip>
          <a:srcRect b="0" l="21581" r="0" t="21210"/>
          <a:stretch/>
        </p:blipFill>
        <p:spPr>
          <a:xfrm rot="2036056">
            <a:off x="-4101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4" name="Shape 344"/>
        <p:cNvGrpSpPr/>
        <p:nvPr/>
      </p:nvGrpSpPr>
      <p:grpSpPr>
        <a:xfrm>
          <a:off x="0" y="0"/>
          <a:ext cx="0" cy="0"/>
          <a:chOff x="0" y="0"/>
          <a:chExt cx="0" cy="0"/>
        </a:xfrm>
      </p:grpSpPr>
      <p:sp>
        <p:nvSpPr>
          <p:cNvPr id="345" name="Google Shape;345;p55"/>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pic>
        <p:nvPicPr>
          <p:cNvPr id="346" name="Google Shape;346;p55"/>
          <p:cNvPicPr preferRelativeResize="0"/>
          <p:nvPr/>
        </p:nvPicPr>
        <p:blipFill rotWithShape="1">
          <a:blip r:embed="rId3">
            <a:alphaModFix amt="50000"/>
          </a:blip>
          <a:srcRect b="0" l="21581" r="0" t="21210"/>
          <a:stretch/>
        </p:blipFill>
        <p:spPr>
          <a:xfrm rot="2036056">
            <a:off x="-410153" y="-3551033"/>
            <a:ext cx="3515956" cy="5976892"/>
          </a:xfrm>
          <a:prstGeom prst="rect">
            <a:avLst/>
          </a:prstGeom>
          <a:noFill/>
          <a:ln>
            <a:noFill/>
          </a:ln>
        </p:spPr>
      </p:pic>
      <p:sp>
        <p:nvSpPr>
          <p:cNvPr id="347" name="Google Shape;347;p55"/>
          <p:cNvSpPr txBox="1"/>
          <p:nvPr>
            <p:ph type="title"/>
          </p:nvPr>
        </p:nvSpPr>
        <p:spPr>
          <a:xfrm>
            <a:off x="242425" y="994800"/>
            <a:ext cx="2480700" cy="102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Proxima Nova"/>
                <a:ea typeface="Proxima Nova"/>
                <a:cs typeface="Proxima Nova"/>
                <a:sym typeface="Proxima Nova"/>
              </a:rPr>
              <a:t>What goes into the</a:t>
            </a:r>
            <a:r>
              <a:rPr b="1" lang="en" sz="2400">
                <a:solidFill>
                  <a:schemeClr val="lt1"/>
                </a:solidFill>
                <a:latin typeface="Proxima Nova"/>
                <a:ea typeface="Proxima Nova"/>
                <a:cs typeface="Proxima Nova"/>
                <a:sym typeface="Proxima Nova"/>
              </a:rPr>
              <a:t> </a:t>
            </a:r>
            <a:r>
              <a:rPr lang="en" sz="2400">
                <a:solidFill>
                  <a:schemeClr val="lt1"/>
                </a:solidFill>
                <a:latin typeface="Proxima Nova"/>
                <a:ea typeface="Proxima Nova"/>
                <a:cs typeface="Proxima Nova"/>
                <a:sym typeface="Proxima Nova"/>
              </a:rPr>
              <a:t>“</a:t>
            </a:r>
            <a:r>
              <a:rPr b="1" lang="en" sz="2400">
                <a:solidFill>
                  <a:schemeClr val="lt1"/>
                </a:solidFill>
                <a:latin typeface="Proxima Nova"/>
                <a:ea typeface="Proxima Nova"/>
                <a:cs typeface="Proxima Nova"/>
                <a:sym typeface="Proxima Nova"/>
              </a:rPr>
              <a:t>WQA</a:t>
            </a:r>
            <a:r>
              <a:rPr lang="en" sz="2400">
                <a:solidFill>
                  <a:schemeClr val="lt1"/>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348" name="Google Shape;348;p55"/>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team built a tool using API data from 5 vital SEO data sources:</a:t>
            </a:r>
            <a:br>
              <a:rPr lang="en" sz="1200">
                <a:solidFill>
                  <a:schemeClr val="dk1"/>
                </a:solidFill>
                <a:latin typeface="Proxima Nova"/>
                <a:ea typeface="Proxima Nova"/>
                <a:cs typeface="Proxima Nova"/>
                <a:sym typeface="Proxima Nova"/>
              </a:rPr>
            </a:b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XML sitemaps</a:t>
            </a:r>
            <a:r>
              <a:rPr lang="en" sz="1200">
                <a:solidFill>
                  <a:schemeClr val="dk1"/>
                </a:solidFill>
                <a:latin typeface="Proxima Nova"/>
                <a:ea typeface="Proxima Nova"/>
                <a:cs typeface="Proxima Nova"/>
                <a:sym typeface="Proxima Nova"/>
              </a:rPr>
              <a:t> - to get a list of URLs included in your Sitemap.</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Screaming Frog</a:t>
            </a:r>
            <a:r>
              <a:rPr lang="en" sz="1200">
                <a:solidFill>
                  <a:schemeClr val="dk1"/>
                </a:solidFill>
                <a:latin typeface="Proxima Nova"/>
                <a:ea typeface="Proxima Nova"/>
                <a:cs typeface="Proxima Nova"/>
                <a:sym typeface="Proxima Nova"/>
              </a:rPr>
              <a:t> - to get a full list of URLs and files uploaded to your site, page titles, metas, canonical tags and word count per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Ahrefs (Backlinks) </a:t>
            </a:r>
            <a:r>
              <a:rPr lang="en" sz="1200">
                <a:solidFill>
                  <a:schemeClr val="dk1"/>
                </a:solidFill>
                <a:latin typeface="Proxima Nova"/>
                <a:ea typeface="Proxima Nova"/>
                <a:cs typeface="Proxima Nova"/>
                <a:sym typeface="Proxima Nova"/>
              </a:rPr>
              <a:t>- to get a list of the links pointing to your website and which pages they point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Ahrefs (Keywords) </a:t>
            </a:r>
            <a:r>
              <a:rPr lang="en" sz="1200">
                <a:solidFill>
                  <a:schemeClr val="dk1"/>
                </a:solidFill>
                <a:latin typeface="Proxima Nova"/>
                <a:ea typeface="Proxima Nova"/>
                <a:cs typeface="Proxima Nova"/>
                <a:sym typeface="Proxima Nova"/>
              </a:rPr>
              <a:t>- to get your current keyword rankings and which pages they correlate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Analytics</a:t>
            </a:r>
            <a:r>
              <a:rPr lang="en" sz="1200">
                <a:solidFill>
                  <a:schemeClr val="dk1"/>
                </a:solidFill>
                <a:latin typeface="Proxima Nova"/>
                <a:ea typeface="Proxima Nova"/>
                <a:cs typeface="Proxima Nova"/>
                <a:sym typeface="Proxima Nova"/>
              </a:rPr>
              <a:t> - to get sales, leads, and traffic data from search engines only.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Search Console</a:t>
            </a:r>
            <a:r>
              <a:rPr lang="en" sz="1200">
                <a:solidFill>
                  <a:schemeClr val="dk1"/>
                </a:solidFill>
                <a:latin typeface="Proxima Nova"/>
                <a:ea typeface="Proxima Nova"/>
                <a:cs typeface="Proxima Nova"/>
                <a:sym typeface="Proxima Nova"/>
              </a:rPr>
              <a:t> - to get SERP impressions and page level click through rates in Google.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tool aggregates this data and allows us to assess quality metrics at the page level. From here, we can make a decision about what to do with every page on your site.</a:t>
            </a:r>
            <a:endParaRPr sz="1200">
              <a:solidFill>
                <a:schemeClr val="dk1"/>
              </a:solidFill>
              <a:latin typeface="Proxima Nova"/>
              <a:ea typeface="Proxima Nova"/>
              <a:cs typeface="Proxima Nova"/>
              <a:sym typeface="Proxima Nova"/>
            </a:endParaRPr>
          </a:p>
        </p:txBody>
      </p:sp>
      <p:pic>
        <p:nvPicPr>
          <p:cNvPr id="349" name="Google Shape;349;p55"/>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pSp>
        <p:nvGrpSpPr>
          <p:cNvPr id="350" name="Google Shape;350;p55"/>
          <p:cNvGrpSpPr/>
          <p:nvPr/>
        </p:nvGrpSpPr>
        <p:grpSpPr>
          <a:xfrm>
            <a:off x="-85725" y="2507450"/>
            <a:ext cx="3574025" cy="2228850"/>
            <a:chOff x="-85725" y="2839650"/>
            <a:chExt cx="3574025" cy="2228850"/>
          </a:xfrm>
        </p:grpSpPr>
        <p:pic>
          <p:nvPicPr>
            <p:cNvPr id="351" name="Google Shape;351;p55"/>
            <p:cNvPicPr preferRelativeResize="0"/>
            <p:nvPr/>
          </p:nvPicPr>
          <p:blipFill rotWithShape="1">
            <a:blip r:embed="rId5">
              <a:alphaModFix/>
            </a:blip>
            <a:srcRect b="0" l="990" r="990" t="0"/>
            <a:stretch/>
          </p:blipFill>
          <p:spPr>
            <a:xfrm>
              <a:off x="-85725" y="2839650"/>
              <a:ext cx="3574025" cy="2228850"/>
            </a:xfrm>
            <a:prstGeom prst="rect">
              <a:avLst/>
            </a:prstGeom>
            <a:noFill/>
            <a:ln>
              <a:noFill/>
            </a:ln>
          </p:spPr>
        </p:pic>
        <p:pic>
          <p:nvPicPr>
            <p:cNvPr id="352" name="Google Shape;352;p55"/>
            <p:cNvPicPr preferRelativeResize="0"/>
            <p:nvPr/>
          </p:nvPicPr>
          <p:blipFill rotWithShape="1">
            <a:blip r:embed="rId6">
              <a:alphaModFix/>
            </a:blip>
            <a:srcRect b="25340" l="0" r="0" t="0"/>
            <a:stretch/>
          </p:blipFill>
          <p:spPr>
            <a:xfrm>
              <a:off x="247500" y="2903925"/>
              <a:ext cx="2907573" cy="1896676"/>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1000"/>
                                        <p:tgtEl>
                                          <p:spTgt spid="3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56" name="Shape 356"/>
        <p:cNvGrpSpPr/>
        <p:nvPr/>
      </p:nvGrpSpPr>
      <p:grpSpPr>
        <a:xfrm>
          <a:off x="0" y="0"/>
          <a:ext cx="0" cy="0"/>
          <a:chOff x="0" y="0"/>
          <a:chExt cx="0" cy="0"/>
        </a:xfrm>
      </p:grpSpPr>
      <p:pic>
        <p:nvPicPr>
          <p:cNvPr id="357" name="Google Shape;357;p56"/>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58" name="Google Shape;358;p56"/>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56"/>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360" name="Google Shape;360;p56"/>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361" name="Google Shape;361;p56"/>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362" name="Google Shape;362;p56"/>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Tours, Activities &amp; Attractions</a:t>
            </a:r>
            <a:endParaRPr sz="1600">
              <a:solidFill>
                <a:srgbClr val="E21A6B"/>
              </a:solidFill>
              <a:latin typeface="Proxima Nova"/>
              <a:ea typeface="Proxima Nova"/>
              <a:cs typeface="Proxima Nova"/>
              <a:sym typeface="Proxima Nova"/>
            </a:endParaRPr>
          </a:p>
        </p:txBody>
      </p:sp>
      <p:graphicFrame>
        <p:nvGraphicFramePr>
          <p:cNvPr id="363" name="Google Shape;363;p56"/>
          <p:cNvGraphicFramePr/>
          <p:nvPr/>
        </p:nvGraphicFramePr>
        <p:xfrm>
          <a:off x="4205638" y="929363"/>
          <a:ext cx="3000000" cy="3000000"/>
        </p:xfrm>
        <a:graphic>
          <a:graphicData uri="http://schemas.openxmlformats.org/drawingml/2006/table">
            <a:tbl>
              <a:tblPr>
                <a:noFill/>
                <a:tableStyleId>{F4E0A997-E762-483F-9531-3197180D424E}</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1000"/>
                                        <p:tgtEl>
                                          <p:spTgt spid="3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67" name="Shape 367"/>
        <p:cNvGrpSpPr/>
        <p:nvPr/>
      </p:nvGrpSpPr>
      <p:grpSpPr>
        <a:xfrm>
          <a:off x="0" y="0"/>
          <a:ext cx="0" cy="0"/>
          <a:chOff x="0" y="0"/>
          <a:chExt cx="0" cy="0"/>
        </a:xfrm>
      </p:grpSpPr>
      <p:pic>
        <p:nvPicPr>
          <p:cNvPr id="368" name="Google Shape;368;p57"/>
          <p:cNvPicPr preferRelativeResize="0"/>
          <p:nvPr/>
        </p:nvPicPr>
        <p:blipFill rotWithShape="1">
          <a:blip r:embed="rId3">
            <a:alphaModFix/>
          </a:blip>
          <a:srcRect b="0" l="21581" r="0" t="21210"/>
          <a:stretch/>
        </p:blipFill>
        <p:spPr>
          <a:xfrm flipH="1" rot="-2036056">
            <a:off x="6081547" y="-1118983"/>
            <a:ext cx="3515956" cy="5976892"/>
          </a:xfrm>
          <a:prstGeom prst="rect">
            <a:avLst/>
          </a:prstGeom>
          <a:noFill/>
          <a:ln>
            <a:noFill/>
          </a:ln>
        </p:spPr>
      </p:pic>
      <p:sp>
        <p:nvSpPr>
          <p:cNvPr id="369" name="Google Shape;369;p57"/>
          <p:cNvSpPr txBox="1"/>
          <p:nvPr/>
        </p:nvSpPr>
        <p:spPr>
          <a:xfrm>
            <a:off x="384550" y="1195525"/>
            <a:ext cx="85848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[ACTION TO TAKE - DELETE THIS SLDIE WHEN COMPLETE]</a:t>
            </a:r>
            <a:endParaRPr b="1" sz="2400">
              <a:solidFill>
                <a:schemeClr val="lt1"/>
              </a:solidFill>
              <a:latin typeface="Proxima Nova"/>
              <a:ea typeface="Proxima Nova"/>
              <a:cs typeface="Proxima Nova"/>
              <a:sym typeface="Proxima Nova"/>
            </a:endParaRPr>
          </a:p>
        </p:txBody>
      </p:sp>
      <p:sp>
        <p:nvSpPr>
          <p:cNvPr id="370" name="Google Shape;370;p57"/>
          <p:cNvSpPr txBox="1"/>
          <p:nvPr/>
        </p:nvSpPr>
        <p:spPr>
          <a:xfrm>
            <a:off x="384550" y="1650925"/>
            <a:ext cx="7140000" cy="27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Proxima Nova"/>
                <a:ea typeface="Proxima Nova"/>
                <a:cs typeface="Proxima Nova"/>
                <a:sym typeface="Proxima Nova"/>
              </a:rPr>
              <a:t>From the following set of slides (6-18), keep the slide that applies to your client’s Target Industry (what you selected in the “Getting Started” tab of the WQA, and delete all of the other “What comes out of the “WQA” - Site Sections” slides.</a:t>
            </a:r>
            <a:endParaRPr sz="2400">
              <a:solidFill>
                <a:schemeClr val="lt1"/>
              </a:solidFill>
              <a:latin typeface="Proxima Nova"/>
              <a:ea typeface="Proxima Nova"/>
              <a:cs typeface="Proxima Nova"/>
              <a:sym typeface="Proxima Nova"/>
            </a:endParaRPr>
          </a:p>
        </p:txBody>
      </p:sp>
      <p:pic>
        <p:nvPicPr>
          <p:cNvPr id="371" name="Google Shape;371;p57"/>
          <p:cNvPicPr preferRelativeResize="0"/>
          <p:nvPr/>
        </p:nvPicPr>
        <p:blipFill>
          <a:blip r:embed="rId4">
            <a:alphaModFix/>
          </a:blip>
          <a:stretch>
            <a:fillRect/>
          </a:stretch>
        </p:blipFill>
        <p:spPr>
          <a:xfrm>
            <a:off x="7029450" y="4278199"/>
            <a:ext cx="1712674" cy="4033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21A6B"/>
        </a:solidFill>
      </p:bgPr>
    </p:bg>
    <p:spTree>
      <p:nvGrpSpPr>
        <p:cNvPr id="375" name="Shape 375"/>
        <p:cNvGrpSpPr/>
        <p:nvPr/>
      </p:nvGrpSpPr>
      <p:grpSpPr>
        <a:xfrm>
          <a:off x="0" y="0"/>
          <a:ext cx="0" cy="0"/>
          <a:chOff x="0" y="0"/>
          <a:chExt cx="0" cy="0"/>
        </a:xfrm>
      </p:grpSpPr>
      <p:pic>
        <p:nvPicPr>
          <p:cNvPr id="376" name="Google Shape;376;p58"/>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77" name="Google Shape;377;p58"/>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58"/>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379" name="Google Shape;379;p58"/>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graphicFrame>
        <p:nvGraphicFramePr>
          <p:cNvPr id="380" name="Google Shape;380;p58"/>
          <p:cNvGraphicFramePr/>
          <p:nvPr/>
        </p:nvGraphicFramePr>
        <p:xfrm>
          <a:off x="4264750" y="829363"/>
          <a:ext cx="3000000" cy="3000000"/>
        </p:xfrm>
        <a:graphic>
          <a:graphicData uri="http://schemas.openxmlformats.org/drawingml/2006/table">
            <a:tbl>
              <a:tblPr>
                <a:noFill/>
                <a:tableStyleId>{BC8F89EC-2594-4E93-BB12-5EB73C7D7D81}</a:tableStyleId>
              </a:tblPr>
              <a:tblGrid>
                <a:gridCol w="601425"/>
                <a:gridCol w="3938875"/>
              </a:tblGrid>
              <a:tr h="100000">
                <a:tc>
                  <a:txBody>
                    <a:bodyPr/>
                    <a:lstStyle/>
                    <a:p>
                      <a:pPr indent="0" lvl="0" marL="0" rtl="0" algn="l">
                        <a:spcBef>
                          <a:spcPts val="0"/>
                        </a:spcBef>
                        <a:spcAft>
                          <a:spcPts val="0"/>
                        </a:spcAft>
                        <a:buNone/>
                      </a:pPr>
                      <a:r>
                        <a:rPr b="1" lang="en" sz="700">
                          <a:solidFill>
                            <a:srgbClr val="FFFFFF"/>
                          </a:solidFill>
                          <a:latin typeface="Proxima Nova"/>
                          <a:ea typeface="Proxima Nova"/>
                          <a:cs typeface="Proxima Nova"/>
                          <a:sym typeface="Proxima Nova"/>
                        </a:rPr>
                        <a:t>Tag</a:t>
                      </a:r>
                      <a:endParaRPr b="1" sz="700">
                        <a:solidFill>
                          <a:srgbClr val="FFFFFF"/>
                        </a:solidFill>
                        <a:latin typeface="Proxima Nova"/>
                        <a:ea typeface="Proxima Nova"/>
                        <a:cs typeface="Proxima Nova"/>
                        <a:sym typeface="Proxima Nova"/>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B7B7B7"/>
                      </a:solidFill>
                      <a:prstDash val="solid"/>
                      <a:round/>
                      <a:headEnd len="sm" w="sm" type="none"/>
                      <a:tailEnd len="sm" w="sm" type="none"/>
                    </a:lnB>
                    <a:solidFill>
                      <a:srgbClr val="222222"/>
                    </a:solidFill>
                  </a:tcPr>
                </a:tc>
                <a:tc>
                  <a:txBody>
                    <a:bodyPr/>
                    <a:lstStyle/>
                    <a:p>
                      <a:pPr indent="0" lvl="0" marL="0" rtl="0" algn="l">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1"/>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Page</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eCommerce websites only</a:t>
                      </a:r>
                      <a:r>
                        <a:rPr lang="en" sz="700">
                          <a:latin typeface="Proxima Nova"/>
                          <a:ea typeface="Proxima Nova"/>
                          <a:cs typeface="Proxima Nova"/>
                          <a:sym typeface="Proxima Nova"/>
                        </a:rPr>
                        <a:t>. A product page is where they are selling the product (i.e. cart, price, etc).</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4789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Category</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eCommerce websites only</a:t>
                      </a:r>
                      <a:r>
                        <a:rPr lang="en" sz="700">
                          <a:latin typeface="Proxima Nova"/>
                          <a:ea typeface="Proxima Nova"/>
                          <a:cs typeface="Proxima Nova"/>
                          <a:sym typeface="Proxima Nova"/>
                        </a:rPr>
                        <a:t>. A product category page is where the website lists their products based product type. For example, a website that sells shoes could have category pages for brands like Nike, Reebok, etc. Each of these pages will filter products to show them based on category.</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4789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Lander</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local websites only</a:t>
                      </a:r>
                      <a:r>
                        <a:rPr lang="en" sz="700">
                          <a:latin typeface="Proxima Nova"/>
                          <a:ea typeface="Proxima Nova"/>
                          <a:cs typeface="Proxima Nova"/>
                          <a:sym typeface="Proxima Nova"/>
                        </a:rPr>
                        <a:t>. A local lander is the dedicated page to a given location. If the business has multiple locations, each store should have it’s own dedicated landing page. If the business only has 1 location, this can apply to the home page.</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5978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Lead Generation</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pages on a site that are geared towards generating leads. For example, an attorney’s website could be trying to rank for keywords related to the different services they provide (DUI attorney, Criminal defense attorney, etc). Each of these keywords should have a dedicated landing page targeting those keywords.</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blog posts. Some sites will have /blog/ or /news/ (or something similar) build into the URL structure.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categories of blog posts. These are generally used on bigger sites that publish a lot of content in order to better organize posts.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Similar to a blog post, but more in depth and robust. Resources or guides NOT connected to the blog, but instead are stand alone pages or site sections.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3484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is a broad tag that applies to a wide range of pages. Essentially, these are the required pages to build out a full site but generally have little SEO (i.e. traffic potential) value. This can include about pages, cart pages, terms and services, contact page, shipping, FAQ and more.</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bl>
          </a:graphicData>
        </a:graphic>
      </p:graphicFrame>
      <p:pic>
        <p:nvPicPr>
          <p:cNvPr id="381" name="Google Shape;381;p58"/>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1000"/>
                                        <p:tgtEl>
                                          <p:spTgt spid="3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85" name="Shape 385"/>
        <p:cNvGrpSpPr/>
        <p:nvPr/>
      </p:nvGrpSpPr>
      <p:grpSpPr>
        <a:xfrm>
          <a:off x="0" y="0"/>
          <a:ext cx="0" cy="0"/>
          <a:chOff x="0" y="0"/>
          <a:chExt cx="0" cy="0"/>
        </a:xfrm>
      </p:grpSpPr>
      <p:pic>
        <p:nvPicPr>
          <p:cNvPr id="386" name="Google Shape;386;p59"/>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87" name="Google Shape;387;p59"/>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59"/>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389" name="Google Shape;389;p59"/>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390" name="Google Shape;390;p59"/>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391" name="Google Shape;391;p59"/>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Tours, Activities &amp; Attractions</a:t>
            </a:r>
            <a:endParaRPr sz="1600">
              <a:solidFill>
                <a:srgbClr val="E21A6B"/>
              </a:solidFill>
              <a:latin typeface="Proxima Nova"/>
              <a:ea typeface="Proxima Nova"/>
              <a:cs typeface="Proxima Nova"/>
              <a:sym typeface="Proxima Nova"/>
            </a:endParaRPr>
          </a:p>
        </p:txBody>
      </p:sp>
      <p:graphicFrame>
        <p:nvGraphicFramePr>
          <p:cNvPr id="392" name="Google Shape;392;p59"/>
          <p:cNvGraphicFramePr/>
          <p:nvPr/>
        </p:nvGraphicFramePr>
        <p:xfrm>
          <a:off x="4205638" y="929363"/>
          <a:ext cx="3000000" cy="3000000"/>
        </p:xfrm>
        <a:graphic>
          <a:graphicData uri="http://schemas.openxmlformats.org/drawingml/2006/table">
            <a:tbl>
              <a:tblPr>
                <a:noFill/>
                <a:tableStyleId>{F4E0A997-E762-483F-9531-3197180D424E}</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1000"/>
                                        <p:tgtEl>
                                          <p:spTgt spid="3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96" name="Shape 396"/>
        <p:cNvGrpSpPr/>
        <p:nvPr/>
      </p:nvGrpSpPr>
      <p:grpSpPr>
        <a:xfrm>
          <a:off x="0" y="0"/>
          <a:ext cx="0" cy="0"/>
          <a:chOff x="0" y="0"/>
          <a:chExt cx="0" cy="0"/>
        </a:xfrm>
      </p:grpSpPr>
      <p:pic>
        <p:nvPicPr>
          <p:cNvPr id="397" name="Google Shape;397;p60"/>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98" name="Google Shape;398;p60"/>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60"/>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00" name="Google Shape;400;p60"/>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01" name="Google Shape;401;p60"/>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02" name="Google Shape;402;p60"/>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OTA (Online Travel Agencies)</a:t>
            </a:r>
            <a:endParaRPr sz="1600">
              <a:solidFill>
                <a:srgbClr val="E21A6B"/>
              </a:solidFill>
              <a:latin typeface="Proxima Nova"/>
              <a:ea typeface="Proxima Nova"/>
              <a:cs typeface="Proxima Nova"/>
              <a:sym typeface="Proxima Nova"/>
            </a:endParaRPr>
          </a:p>
        </p:txBody>
      </p:sp>
      <p:graphicFrame>
        <p:nvGraphicFramePr>
          <p:cNvPr id="403" name="Google Shape;403;p60"/>
          <p:cNvGraphicFramePr/>
          <p:nvPr/>
        </p:nvGraphicFramePr>
        <p:xfrm>
          <a:off x="4205650" y="1315125"/>
          <a:ext cx="3000000" cy="3000000"/>
        </p:xfrm>
        <a:graphic>
          <a:graphicData uri="http://schemas.openxmlformats.org/drawingml/2006/table">
            <a:tbl>
              <a:tblPr>
                <a:noFill/>
                <a:tableStyleId>{F4E0A997-E762-483F-9531-3197180D424E}</a:tableStyleId>
              </a:tblPr>
              <a:tblGrid>
                <a:gridCol w="973825"/>
                <a:gridCol w="359380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Central page with search functionality for travel bookings (hotels, flights, packages).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Search Results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Results listing page following user queries for travel products/services.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Individual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information page for a specific hotel, flight, car rental, or vacation package.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offering comprehensive guides to specific travel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Promotions/Deals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current deals, discounts, or promotions available.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providing travel tips, booking guides, and destination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Organizes blog content into categories for easier browsing and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Tips &amp; Advice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helpful booking and travel planning advice.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standalone content (e.g., booking strategies, travel hacks).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highlighting blog authors or travel experts.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(terms, privacy policy, contact details, support).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 / Customer Support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providing answers to frequently asked customer queries.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1000"/>
                                        <p:tgtEl>
                                          <p:spTgt spid="4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07" name="Shape 407"/>
        <p:cNvGrpSpPr/>
        <p:nvPr/>
      </p:nvGrpSpPr>
      <p:grpSpPr>
        <a:xfrm>
          <a:off x="0" y="0"/>
          <a:ext cx="0" cy="0"/>
          <a:chOff x="0" y="0"/>
          <a:chExt cx="0" cy="0"/>
        </a:xfrm>
      </p:grpSpPr>
      <p:pic>
        <p:nvPicPr>
          <p:cNvPr id="408" name="Google Shape;408;p61"/>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09" name="Google Shape;409;p61"/>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61"/>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11" name="Google Shape;411;p61"/>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12" name="Google Shape;412;p61"/>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13" name="Google Shape;413;p61"/>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Management Companies (TMC)</a:t>
            </a:r>
            <a:endParaRPr sz="1600">
              <a:solidFill>
                <a:srgbClr val="E21A6B"/>
              </a:solidFill>
              <a:latin typeface="Proxima Nova"/>
              <a:ea typeface="Proxima Nova"/>
              <a:cs typeface="Proxima Nova"/>
              <a:sym typeface="Proxima Nova"/>
            </a:endParaRPr>
          </a:p>
        </p:txBody>
      </p:sp>
      <p:graphicFrame>
        <p:nvGraphicFramePr>
          <p:cNvPr id="414" name="Google Shape;414;p61"/>
          <p:cNvGraphicFramePr/>
          <p:nvPr/>
        </p:nvGraphicFramePr>
        <p:xfrm>
          <a:off x="4196575" y="1200825"/>
          <a:ext cx="3000000" cy="3000000"/>
        </p:xfrm>
        <a:graphic>
          <a:graphicData uri="http://schemas.openxmlformats.org/drawingml/2006/table">
            <a:tbl>
              <a:tblPr>
                <a:noFill/>
                <a:tableStyleId>{F4E0A997-E762-483F-9531-3197180D424E}</a:tableStyleId>
              </a:tblPr>
              <a:tblGrid>
                <a:gridCol w="973825"/>
                <a:gridCol w="35938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providing overview of services, key benefits, and client testimonials.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pages describing specific TMC services (e.g., corporate travel management).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Industry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showing expertise within specific industries (e.g., tech, healthcare).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Management Platform</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describing software platforms or tools provided for travel management.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Client Success Story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Case studies or success stories highlighting client achievements through the TMC.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covering topics relevant to managed travel and industry trends.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posts into common themes.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Robust standalone resources offering industry insights, travel policy templates,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key destinations served, including local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highlighting individual contributors or authors of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Company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background on the TMC company, team, history, and values.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with necessary details like privacy policies, FAQs,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Contact / Booking Inquiry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pages/forms for booking or service inquiries.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1000"/>
                                        <p:tgtEl>
                                          <p:spTgt spid="4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18" name="Shape 418"/>
        <p:cNvGrpSpPr/>
        <p:nvPr/>
      </p:nvGrpSpPr>
      <p:grpSpPr>
        <a:xfrm>
          <a:off x="0" y="0"/>
          <a:ext cx="0" cy="0"/>
          <a:chOff x="0" y="0"/>
          <a:chExt cx="0" cy="0"/>
        </a:xfrm>
      </p:grpSpPr>
      <p:pic>
        <p:nvPicPr>
          <p:cNvPr id="419" name="Google Shape;419;p62"/>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20" name="Google Shape;420;p62"/>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62"/>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22" name="Google Shape;422;p62"/>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23" name="Google Shape;423;p62"/>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24" name="Google Shape;424;p62"/>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DMO (Destination Marketing Organizations)</a:t>
            </a:r>
            <a:endParaRPr sz="1600">
              <a:solidFill>
                <a:srgbClr val="E21A6B"/>
              </a:solidFill>
              <a:latin typeface="Proxima Nova"/>
              <a:ea typeface="Proxima Nova"/>
              <a:cs typeface="Proxima Nova"/>
              <a:sym typeface="Proxima Nova"/>
            </a:endParaRPr>
          </a:p>
        </p:txBody>
      </p:sp>
      <p:graphicFrame>
        <p:nvGraphicFramePr>
          <p:cNvPr id="425" name="Google Shape;425;p62"/>
          <p:cNvGraphicFramePr/>
          <p:nvPr/>
        </p:nvGraphicFramePr>
        <p:xfrm>
          <a:off x="4214750" y="836225"/>
          <a:ext cx="3000000" cy="3000000"/>
        </p:xfrm>
        <a:graphic>
          <a:graphicData uri="http://schemas.openxmlformats.org/drawingml/2006/table">
            <a:tbl>
              <a:tblPr>
                <a:noFill/>
                <a:tableStyleId>{F4E0A997-E762-483F-9531-3197180D424E}</a:tableStyleId>
              </a:tblPr>
              <a:tblGrid>
                <a:gridCol w="1475050"/>
                <a:gridCol w="309260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landing page showcasing highlights of the destination, news, and featured events.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Overview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Broad introduction to the destination covering general travel info.</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Region/Subregion Landing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for subregions within the main destination.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Event Calendar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events, festivals, and seasonal activities within the destination.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Things to Do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Comprehensive listing of attractions and activities.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Accommodation Overview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Listings or overviews of lodging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Business Directory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Directory of local businesses relevant to tourists.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featuring destination highlights, experiences, and local tips.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content by topic or interest.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Itinerary Ideas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Recommended itineraries or travel routes.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collections showcasing the destination.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Press Releases/Media</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updates, announcements, and media resources.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profiles for content creators or local experts.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with site policies, contacts, and general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1000"/>
                                        <p:tgtEl>
                                          <p:spTgt spid="4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29" name="Shape 429"/>
        <p:cNvGrpSpPr/>
        <p:nvPr/>
      </p:nvGrpSpPr>
      <p:grpSpPr>
        <a:xfrm>
          <a:off x="0" y="0"/>
          <a:ext cx="0" cy="0"/>
          <a:chOff x="0" y="0"/>
          <a:chExt cx="0" cy="0"/>
        </a:xfrm>
      </p:grpSpPr>
      <p:pic>
        <p:nvPicPr>
          <p:cNvPr id="430" name="Google Shape;430;p63"/>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31" name="Google Shape;431;p63"/>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63"/>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33" name="Google Shape;433;p63"/>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34" name="Google Shape;434;p63"/>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35" name="Google Shape;435;p63"/>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Hotels, Resorts &amp; Casinos</a:t>
            </a:r>
            <a:endParaRPr sz="1600">
              <a:solidFill>
                <a:srgbClr val="E21A6B"/>
              </a:solidFill>
              <a:latin typeface="Proxima Nova"/>
              <a:ea typeface="Proxima Nova"/>
              <a:cs typeface="Proxima Nova"/>
              <a:sym typeface="Proxima Nova"/>
            </a:endParaRPr>
          </a:p>
        </p:txBody>
      </p:sp>
      <p:graphicFrame>
        <p:nvGraphicFramePr>
          <p:cNvPr id="436" name="Google Shape;436;p63"/>
          <p:cNvGraphicFramePr/>
          <p:nvPr/>
        </p:nvGraphicFramePr>
        <p:xfrm>
          <a:off x="4121350" y="1036250"/>
          <a:ext cx="3000000" cy="3000000"/>
        </p:xfrm>
        <a:graphic>
          <a:graphicData uri="http://schemas.openxmlformats.org/drawingml/2006/table">
            <a:tbl>
              <a:tblPr>
                <a:noFill/>
                <a:tableStyleId>{F4E0A997-E762-483F-9531-3197180D424E}</a:tableStyleId>
              </a:tblPr>
              <a:tblGrid>
                <a:gridCol w="1043000"/>
                <a:gridCol w="37336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highlighting the property, key amenities, and booking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Room/Accommodation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Specific page detailing each room type or accommodation available.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Amenities/Facilities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available hotel amenities or facilities.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Dining/Restaurant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on-site dining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Entertainment &amp; Casino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specifically detailing entertainment venues or casino facilities.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Offers &amp; Packages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Promotional offers, discounts, and bundled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the surrounding area or attractions near the property.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Events &amp; Meetings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Facilities and services offered for events, conferences, or weddings.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on hotel news, travel advice, and local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Gallery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Photos and videos showcasing the property.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(e.g., policies, terms).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content creators or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1000"/>
                                        <p:tgtEl>
                                          <p:spTgt spid="4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40" name="Shape 440"/>
        <p:cNvGrpSpPr/>
        <p:nvPr/>
      </p:nvGrpSpPr>
      <p:grpSpPr>
        <a:xfrm>
          <a:off x="0" y="0"/>
          <a:ext cx="0" cy="0"/>
          <a:chOff x="0" y="0"/>
          <a:chExt cx="0" cy="0"/>
        </a:xfrm>
      </p:grpSpPr>
      <p:pic>
        <p:nvPicPr>
          <p:cNvPr id="441" name="Google Shape;441;p64"/>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42" name="Google Shape;442;p64"/>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64"/>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44" name="Google Shape;444;p64"/>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45" name="Google Shape;445;p64"/>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46" name="Google Shape;446;p64"/>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Vacation Rentals</a:t>
            </a:r>
            <a:endParaRPr sz="1600">
              <a:solidFill>
                <a:srgbClr val="E21A6B"/>
              </a:solidFill>
              <a:latin typeface="Proxima Nova"/>
              <a:ea typeface="Proxima Nova"/>
              <a:cs typeface="Proxima Nova"/>
              <a:sym typeface="Proxima Nova"/>
            </a:endParaRPr>
          </a:p>
        </p:txBody>
      </p:sp>
      <p:graphicFrame>
        <p:nvGraphicFramePr>
          <p:cNvPr id="447" name="Google Shape;447;p64"/>
          <p:cNvGraphicFramePr/>
          <p:nvPr/>
        </p:nvGraphicFramePr>
        <p:xfrm>
          <a:off x="4084975" y="943650"/>
          <a:ext cx="3000000" cy="3000000"/>
        </p:xfrm>
        <a:graphic>
          <a:graphicData uri="http://schemas.openxmlformats.org/drawingml/2006/table">
            <a:tbl>
              <a:tblPr>
                <a:noFill/>
                <a:tableStyleId>{F4E0A997-E762-483F-9531-3197180D424E}</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showcasing featured rentals, locations, and easy search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Rental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detailed pages for specific rental properties.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Rental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grouping rentals by type (e.g., beachfront, mountain cabin, city apartment).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Overview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pages about rental destinations highlighting local attractions and activities.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Host Profile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 pages detailing rental property hosts and reviews.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Rental Policies / Guidelines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outlining rental policies, terms, and guidelines.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offering travel tips, rental guides, and local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organizing blog posts into clear themes.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Comprehensive guides specific to rental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 / Help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answering common guest queries.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Standard informational pages (e.g., privacy policy, terms of service, contact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showcasing authors or contributors of site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galleries showcasing property interiors, exteriors, and surrounding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
                                        </p:tgtEl>
                                        <p:attrNameLst>
                                          <p:attrName>style.visibility</p:attrName>
                                        </p:attrNameLst>
                                      </p:cBhvr>
                                      <p:to>
                                        <p:strVal val="visible"/>
                                      </p:to>
                                    </p:set>
                                    <p:animEffect filter="fade" transition="in">
                                      <p:cBhvr>
                                        <p:cTn dur="1000"/>
                                        <p:tgtEl>
                                          <p:spTgt spid="4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51" name="Shape 451"/>
        <p:cNvGrpSpPr/>
        <p:nvPr/>
      </p:nvGrpSpPr>
      <p:grpSpPr>
        <a:xfrm>
          <a:off x="0" y="0"/>
          <a:ext cx="0" cy="0"/>
          <a:chOff x="0" y="0"/>
          <a:chExt cx="0" cy="0"/>
        </a:xfrm>
      </p:grpSpPr>
      <p:pic>
        <p:nvPicPr>
          <p:cNvPr id="452" name="Google Shape;452;p65"/>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53" name="Google Shape;453;p65"/>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65"/>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55" name="Google Shape;455;p65"/>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56" name="Google Shape;456;p65"/>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57" name="Google Shape;457;p65"/>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Multi-Day Tours</a:t>
            </a:r>
            <a:endParaRPr sz="1600">
              <a:solidFill>
                <a:srgbClr val="E21A6B"/>
              </a:solidFill>
              <a:latin typeface="Proxima Nova"/>
              <a:ea typeface="Proxima Nova"/>
              <a:cs typeface="Proxima Nova"/>
              <a:sym typeface="Proxima Nova"/>
            </a:endParaRPr>
          </a:p>
        </p:txBody>
      </p:sp>
      <p:graphicFrame>
        <p:nvGraphicFramePr>
          <p:cNvPr id="458" name="Google Shape;458;p65"/>
          <p:cNvGraphicFramePr/>
          <p:nvPr/>
        </p:nvGraphicFramePr>
        <p:xfrm>
          <a:off x="4084975" y="842963"/>
          <a:ext cx="3000000" cy="3000000"/>
        </p:xfrm>
        <a:graphic>
          <a:graphicData uri="http://schemas.openxmlformats.org/drawingml/2006/table">
            <a:tbl>
              <a:tblPr>
                <a:noFill/>
                <a:tableStyleId>{F4E0A997-E762-483F-9531-3197180D424E}</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Overview page showcasing multi-day tours, featured trips, and customer testimonials.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Multi-Day 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dedicated to individual multi-day tour details including itinerary, inclusions, pricing.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Multi-Day Tour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categorizing tours by region, duration, or theme (adventure, cultural, family,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Itinerary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daily breakdown of activities for each tour.</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Departure Schedule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Schedule of upcoming tour departures and availability.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Stories &amp; Testimonials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customer experiences and reviews.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Comprehensive informational pages about tour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Robust standalone guides (packing lists, preparation advice, travel tips).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about destinations, experiences, travel advice.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articles by theme or topic.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(privacy policy, booking terms, cancellation policy).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showcasing content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Photos/videos highlighting experiences from tours.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1000"/>
                                        <p:tgtEl>
                                          <p:spTgt spid="4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62" name="Shape 462"/>
        <p:cNvGrpSpPr/>
        <p:nvPr/>
      </p:nvGrpSpPr>
      <p:grpSpPr>
        <a:xfrm>
          <a:off x="0" y="0"/>
          <a:ext cx="0" cy="0"/>
          <a:chOff x="0" y="0"/>
          <a:chExt cx="0" cy="0"/>
        </a:xfrm>
      </p:grpSpPr>
      <p:pic>
        <p:nvPicPr>
          <p:cNvPr id="463" name="Google Shape;463;p66"/>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64" name="Google Shape;464;p66"/>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66"/>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66" name="Google Shape;466;p66"/>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67" name="Google Shape;467;p66"/>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68" name="Google Shape;468;p66"/>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Charter Company</a:t>
            </a:r>
            <a:endParaRPr sz="1600">
              <a:solidFill>
                <a:srgbClr val="E21A6B"/>
              </a:solidFill>
              <a:latin typeface="Proxima Nova"/>
              <a:ea typeface="Proxima Nova"/>
              <a:cs typeface="Proxima Nova"/>
              <a:sym typeface="Proxima Nova"/>
            </a:endParaRPr>
          </a:p>
        </p:txBody>
      </p:sp>
      <p:graphicFrame>
        <p:nvGraphicFramePr>
          <p:cNvPr id="469" name="Google Shape;469;p66"/>
          <p:cNvGraphicFramePr/>
          <p:nvPr/>
        </p:nvGraphicFramePr>
        <p:xfrm>
          <a:off x="4084975" y="644025"/>
          <a:ext cx="3000000" cy="3000000"/>
        </p:xfrm>
        <a:graphic>
          <a:graphicData uri="http://schemas.openxmlformats.org/drawingml/2006/table">
            <a:tbl>
              <a:tblPr>
                <a:noFill/>
                <a:tableStyleId>{F4E0A997-E762-483F-9531-3197180D424E}</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Landing page highlighting fleet options, popular charter routes, and booking inquiries.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Service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pages detailing each charter service offered (aircraft, yacht, buses).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Fleet Detail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for each specific vessel or vehicle in the fleet.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Route/Itinerary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pages for charter routes, itineraries, or popular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destinations accessible via charters.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Packages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clearly outlining pricing structures and charter packages.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Testimonials/Reviews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displaying reviews and customer feedback.</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Safety Information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content covering safety protocols and certifications.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sharing charter tips, destination highlights, or company news.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for organizing blog posts into clear topics.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Standalone content guides providing FAQs, booking tips, and travel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 (privacy policy, terms of service, contact).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for authors or contributors to the site.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Gallery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content showcasing the fleet, destinations, or charter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gtEl>
                                        <p:attrNameLst>
                                          <p:attrName>style.visibility</p:attrName>
                                        </p:attrNameLst>
                                      </p:cBhvr>
                                      <p:to>
                                        <p:strVal val="visible"/>
                                      </p:to>
                                    </p:set>
                                    <p:animEffect filter="fade" transition="in">
                                      <p:cBhvr>
                                        <p:cTn dur="1000"/>
                                        <p:tgtEl>
                                          <p:spTgt spid="4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73" name="Shape 473"/>
        <p:cNvGrpSpPr/>
        <p:nvPr/>
      </p:nvGrpSpPr>
      <p:grpSpPr>
        <a:xfrm>
          <a:off x="0" y="0"/>
          <a:ext cx="0" cy="0"/>
          <a:chOff x="0" y="0"/>
          <a:chExt cx="0" cy="0"/>
        </a:xfrm>
      </p:grpSpPr>
      <p:pic>
        <p:nvPicPr>
          <p:cNvPr id="474" name="Google Shape;474;p67"/>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75" name="Google Shape;475;p67"/>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67"/>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77" name="Google Shape;477;p67"/>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78" name="Google Shape;478;p67"/>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79" name="Google Shape;479;p67"/>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Media Publishers</a:t>
            </a:r>
            <a:endParaRPr sz="1600">
              <a:solidFill>
                <a:srgbClr val="E21A6B"/>
              </a:solidFill>
              <a:latin typeface="Proxima Nova"/>
              <a:ea typeface="Proxima Nova"/>
              <a:cs typeface="Proxima Nova"/>
              <a:sym typeface="Proxima Nova"/>
            </a:endParaRPr>
          </a:p>
        </p:txBody>
      </p:sp>
      <p:graphicFrame>
        <p:nvGraphicFramePr>
          <p:cNvPr id="480" name="Google Shape;480;p67"/>
          <p:cNvGraphicFramePr/>
          <p:nvPr/>
        </p:nvGraphicFramePr>
        <p:xfrm>
          <a:off x="4081475" y="772200"/>
          <a:ext cx="3000000" cy="3000000"/>
        </p:xfrm>
        <a:graphic>
          <a:graphicData uri="http://schemas.openxmlformats.org/drawingml/2006/table">
            <a:tbl>
              <a:tblPr>
                <a:noFill/>
                <a:tableStyleId>{F4E0A997-E762-483F-9531-3197180D424E}</a:tableStyleId>
              </a:tblPr>
              <a:tblGrid>
                <a:gridCol w="2370150"/>
                <a:gridCol w="237015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content hub highlighting recent articles, trending content, and featured stories.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Article/Post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or editorial content pieces about travel destinations, tips, or trends.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Article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articles based on common themes or topics (destinations, guides, tips).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and inspirational guides covering various travel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Tips &amp; Advice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providing practical travel advice, hacks, and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Special Feature / Editorial Series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series or featured stories on specific themes or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Video/Media Content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specifically for video-based content or multimedia presentations.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Profile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highlighting contributing authors or content creators.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Sponsored Content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Clearly marked pages featuring sponsored or promotional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Organization of blog posts into clear topic-based groups.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Newsletter/Subscription Landing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encouraging subscription or sign-up for newsletters and updates.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Standard informational content (terms, privacy policy, contact details).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Kit/Advertise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containing advertising options, rates, and media information for sponsors.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1000"/>
                                        <p:tgtEl>
                                          <p:spTgt spid="4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84" name="Shape 484"/>
        <p:cNvGrpSpPr/>
        <p:nvPr/>
      </p:nvGrpSpPr>
      <p:grpSpPr>
        <a:xfrm>
          <a:off x="0" y="0"/>
          <a:ext cx="0" cy="0"/>
          <a:chOff x="0" y="0"/>
          <a:chExt cx="0" cy="0"/>
        </a:xfrm>
      </p:grpSpPr>
      <p:pic>
        <p:nvPicPr>
          <p:cNvPr id="485" name="Google Shape;485;p68"/>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86" name="Google Shape;486;p68"/>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68"/>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88" name="Google Shape;488;p68"/>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89" name="Google Shape;489;p68"/>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90" name="Google Shape;490;p68"/>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 Ancillaries</a:t>
            </a:r>
            <a:endParaRPr sz="1600">
              <a:solidFill>
                <a:srgbClr val="E21A6B"/>
              </a:solidFill>
              <a:latin typeface="Proxima Nova"/>
              <a:ea typeface="Proxima Nova"/>
              <a:cs typeface="Proxima Nova"/>
              <a:sym typeface="Proxima Nova"/>
            </a:endParaRPr>
          </a:p>
        </p:txBody>
      </p:sp>
      <p:graphicFrame>
        <p:nvGraphicFramePr>
          <p:cNvPr id="491" name="Google Shape;491;p68"/>
          <p:cNvGraphicFramePr/>
          <p:nvPr/>
        </p:nvGraphicFramePr>
        <p:xfrm>
          <a:off x="4081475" y="752825"/>
          <a:ext cx="3000000" cy="3000000"/>
        </p:xfrm>
        <a:graphic>
          <a:graphicData uri="http://schemas.openxmlformats.org/drawingml/2006/table">
            <a:tbl>
              <a:tblPr>
                <a:noFill/>
                <a:tableStyleId>{F4E0A997-E762-483F-9531-3197180D424E}</a:tableStyleId>
              </a:tblPr>
              <a:tblGrid>
                <a:gridCol w="2370150"/>
                <a:gridCol w="237015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highlighting ancillary products, search and selection tools, and featured offers.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dedicated to specific ancillary products (insurance plans, SIM cards,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Grouping pages by ancillary product types or coverage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Coverage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detailing product applicability by destination or region.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Comparison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enabling users to compare ancillary products side-by-side.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Promotions &amp; Discounts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featuring current promotions, deals, or special offers.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How-To Guide &amp; FAQ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detailed instructions, FAQs, and support for ancillary products.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Customer Support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customer inquiries, contact information, and support resources.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on travel safety, connectivity tips, and product reviews.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to organize blog articles.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Standalone content pages providing detailed advice or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(terms of service, privacy policy).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for authors or content creators.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1000"/>
                                        <p:tgtEl>
                                          <p:spTgt spid="4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95" name="Shape 495"/>
        <p:cNvGrpSpPr/>
        <p:nvPr/>
      </p:nvGrpSpPr>
      <p:grpSpPr>
        <a:xfrm>
          <a:off x="0" y="0"/>
          <a:ext cx="0" cy="0"/>
          <a:chOff x="0" y="0"/>
          <a:chExt cx="0" cy="0"/>
        </a:xfrm>
      </p:grpSpPr>
      <p:pic>
        <p:nvPicPr>
          <p:cNvPr id="496" name="Google Shape;496;p69"/>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97" name="Google Shape;497;p69"/>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69"/>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99" name="Google Shape;499;p69"/>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500" name="Google Shape;500;p69"/>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501" name="Google Shape;501;p69"/>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Ground Transportation</a:t>
            </a:r>
            <a:endParaRPr sz="1600">
              <a:solidFill>
                <a:srgbClr val="E21A6B"/>
              </a:solidFill>
              <a:latin typeface="Proxima Nova"/>
              <a:ea typeface="Proxima Nova"/>
              <a:cs typeface="Proxima Nova"/>
              <a:sym typeface="Proxima Nova"/>
            </a:endParaRPr>
          </a:p>
        </p:txBody>
      </p:sp>
      <p:graphicFrame>
        <p:nvGraphicFramePr>
          <p:cNvPr id="502" name="Google Shape;502;p69"/>
          <p:cNvGraphicFramePr/>
          <p:nvPr/>
        </p:nvGraphicFramePr>
        <p:xfrm>
          <a:off x="4157675" y="881063"/>
          <a:ext cx="3000000" cy="3000000"/>
        </p:xfrm>
        <a:graphic>
          <a:graphicData uri="http://schemas.openxmlformats.org/drawingml/2006/table">
            <a:tbl>
              <a:tblPr>
                <a:noFill/>
                <a:tableStyleId>{F4E0A997-E762-483F-9531-3197180D424E}</a:tableStyleId>
              </a:tblPr>
              <a:tblGrid>
                <a:gridCol w="1154200"/>
                <a:gridCol w="358610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Central page showcasing transportation options, rental booking tools, and promotions.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Vehicle/Product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detailing specific vehicles or transportation products.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 Type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grouping vehicles by type (economy, luxury, SUV, shuttle,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361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Pickup/Drop-off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transportation logistics specific to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Booking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Clear information on pricing structures, availability, and booking instructions.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Policies &amp; Guidelines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service policies, rental agreements, and procedures.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Reviews &amp; Testimonials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Customer feedback and testimonials about transportation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about transportation tips, destination travel advice, or company updates.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organizing blog content clearly by topic.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Guides offering transportation-related advice or destination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FAQ/Help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FAQ pages addressing common customer questions.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required for compliance (privacy policy, contact info).</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profiles for content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1000"/>
                                        <p:tgtEl>
                                          <p:spTgt spid="4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06" name="Shape 506"/>
        <p:cNvGrpSpPr/>
        <p:nvPr/>
      </p:nvGrpSpPr>
      <p:grpSpPr>
        <a:xfrm>
          <a:off x="0" y="0"/>
          <a:ext cx="0" cy="0"/>
          <a:chOff x="0" y="0"/>
          <a:chExt cx="0" cy="0"/>
        </a:xfrm>
      </p:grpSpPr>
      <p:pic>
        <p:nvPicPr>
          <p:cNvPr id="507" name="Google Shape;507;p70"/>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508" name="Google Shape;508;p70"/>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70"/>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510" name="Google Shape;510;p70"/>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511" name="Google Shape;511;p70"/>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512" name="Google Shape;512;p70"/>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 Ecom (Travel Gear, Clothing &amp; Products)</a:t>
            </a:r>
            <a:endParaRPr sz="1600">
              <a:solidFill>
                <a:srgbClr val="E21A6B"/>
              </a:solidFill>
              <a:latin typeface="Proxima Nova"/>
              <a:ea typeface="Proxima Nova"/>
              <a:cs typeface="Proxima Nova"/>
              <a:sym typeface="Proxima Nova"/>
            </a:endParaRPr>
          </a:p>
        </p:txBody>
      </p:sp>
      <p:graphicFrame>
        <p:nvGraphicFramePr>
          <p:cNvPr id="513" name="Google Shape;513;p70"/>
          <p:cNvGraphicFramePr/>
          <p:nvPr/>
        </p:nvGraphicFramePr>
        <p:xfrm>
          <a:off x="4157675" y="819825"/>
          <a:ext cx="3000000" cy="3000000"/>
        </p:xfrm>
        <a:graphic>
          <a:graphicData uri="http://schemas.openxmlformats.org/drawingml/2006/table">
            <a:tbl>
              <a:tblPr>
                <a:noFill/>
                <a:tableStyleId>{F4E0A997-E762-483F-9531-3197180D424E}</a:tableStyleId>
              </a:tblPr>
              <a:tblGrid>
                <a:gridCol w="2370150"/>
                <a:gridCol w="237015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Central page showcasing transportation options, rental booking tools, and promotions.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Vehicle/Product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detailing specific vehicles or transportation products.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 Type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grouping vehicles by type (economy, luxury, SUV, shuttle,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361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Pickup/Drop-off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transportation logistics specific to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Booking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Clear information on pricing structures, availability, and booking instructions.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Policies &amp; Guidelines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service policies, rental agreements, and procedures.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Reviews &amp; Testimonials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Customer feedback and testimonials about transportation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about transportation tips, destination travel advice, or company updates.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organizing blog content clearly by topic.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Guides offering transportation-related advice or destination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FAQ/Help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FAQ pages addressing common customer questions.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required for compliance (privacy policy, contact info).</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profiles for content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1000"/>
                                        <p:tgtEl>
                                          <p:spTgt spid="5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17" name="Shape 517"/>
        <p:cNvGrpSpPr/>
        <p:nvPr/>
      </p:nvGrpSpPr>
      <p:grpSpPr>
        <a:xfrm>
          <a:off x="0" y="0"/>
          <a:ext cx="0" cy="0"/>
          <a:chOff x="0" y="0"/>
          <a:chExt cx="0" cy="0"/>
        </a:xfrm>
      </p:grpSpPr>
      <p:pic>
        <p:nvPicPr>
          <p:cNvPr id="518" name="Google Shape;518;p71"/>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519" name="Google Shape;519;p71"/>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71"/>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URL Actions</a:t>
            </a:r>
            <a:endParaRPr sz="2400">
              <a:solidFill>
                <a:srgbClr val="E21A6B"/>
              </a:solidFill>
              <a:latin typeface="Proxima Nova"/>
              <a:ea typeface="Proxima Nova"/>
              <a:cs typeface="Proxima Nova"/>
              <a:sym typeface="Proxima Nova"/>
            </a:endParaRPr>
          </a:p>
        </p:txBody>
      </p:sp>
      <p:sp>
        <p:nvSpPr>
          <p:cNvPr id="521" name="Google Shape;521;p71"/>
          <p:cNvSpPr txBox="1"/>
          <p:nvPr/>
        </p:nvSpPr>
        <p:spPr>
          <a:xfrm>
            <a:off x="242425" y="1604975"/>
            <a:ext cx="36648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each page on the site is classified into a category, we can quickly assess each page for quality (by section).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assign each page a “URL Action” (see chart to the right for full list and explanations of each).</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These “URL Actions” dictate:</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AutoNum type="arabicPeriod"/>
            </a:pPr>
            <a:r>
              <a:rPr b="1" lang="en" sz="1200">
                <a:solidFill>
                  <a:schemeClr val="dk1"/>
                </a:solidFill>
                <a:latin typeface="Proxima Nova"/>
                <a:ea typeface="Proxima Nova"/>
                <a:cs typeface="Proxima Nova"/>
                <a:sym typeface="Proxima Nova"/>
              </a:rPr>
              <a:t>Which pages to clean up</a:t>
            </a:r>
            <a:r>
              <a:rPr lang="en" sz="1200">
                <a:solidFill>
                  <a:schemeClr val="dk1"/>
                </a:solidFill>
                <a:latin typeface="Proxima Nova"/>
                <a:ea typeface="Proxima Nova"/>
                <a:cs typeface="Proxima Nova"/>
                <a:sym typeface="Proxima Nova"/>
              </a:rPr>
              <a:t> (i.e. redirect, NOINDEX, etc)</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have no potential for traffic and to ignore (i.e. contact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we will focus on for the campaign (i.e. perform KW research, update “on page” elements, target with links).</a:t>
            </a:r>
            <a:endParaRPr sz="1200">
              <a:solidFill>
                <a:schemeClr val="dk1"/>
              </a:solidFill>
              <a:latin typeface="Proxima Nova"/>
              <a:ea typeface="Proxima Nova"/>
              <a:cs typeface="Proxima Nova"/>
              <a:sym typeface="Proxima Nova"/>
            </a:endParaRPr>
          </a:p>
        </p:txBody>
      </p:sp>
      <p:pic>
        <p:nvPicPr>
          <p:cNvPr id="522" name="Google Shape;522;p71"/>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aphicFrame>
        <p:nvGraphicFramePr>
          <p:cNvPr id="523" name="Google Shape;523;p71"/>
          <p:cNvGraphicFramePr/>
          <p:nvPr/>
        </p:nvGraphicFramePr>
        <p:xfrm>
          <a:off x="4119000" y="143575"/>
          <a:ext cx="3000000" cy="3000000"/>
        </p:xfrm>
        <a:graphic>
          <a:graphicData uri="http://schemas.openxmlformats.org/drawingml/2006/table">
            <a:tbl>
              <a:tblPr>
                <a:noFill/>
                <a:tableStyleId>{BC8F89EC-2594-4E93-BB12-5EB73C7D7D81}</a:tableStyleId>
              </a:tblPr>
              <a:tblGrid>
                <a:gridCol w="754850"/>
                <a:gridCol w="4078750"/>
              </a:tblGrid>
              <a:tr h="221750">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URL Action</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Detail</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000000"/>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 Leave As 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No action needed on the page. You can use this tag for pages performing well or for pages you simply want to ignore because they are irrelevant to your SEO (contact page, etc).</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2. Update "On Page"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Use this when you want to review the keywords, titles, meta and on page content for that URL. This can also be used for evergreen, cornerstone  blog posts / resource guides that you want to update with more recent information. URLs assigned this URL Action are moved into the “KW Research for Existing Pages &amp; On-Page recommendations” deliverable.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3. Target w/ Links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everything checks out with the page but it doesn’t have rankings, the best solution is to target it with links. You can also double up to “Update On Page” and “Target w/ Links” using both action columns.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4. 301 (Redirect)</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When a page serves no value to the website (both for search engines and users) you will want to 301 redirect it into a more relevant page.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5. Canonicalize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similar pages targeting the same topic but you NEED both pages (i.e. you don’t want to remove the page), set a canonical tag that points to the page you want to rank.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6. Block Crawl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a group of pages that serve NO value to search engines (but have value to website visitors), the best option is to block that section from being crawled. This works best when pages are grouped by URL structure (i.e. /archives/).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7. No Index</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want to stop Google from indexing a low quality page, use this tag. Blocking Crawl is reserved for a number of pages or site sections, No Index is reserved for individual or stand alone pages.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8. Content Analysis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For content (blogs or resources) where there is potential value in updating &amp; optimizing the content for search. </a:t>
                      </a:r>
                      <a:r>
                        <a:rPr lang="en" sz="700">
                          <a:solidFill>
                            <a:srgbClr val="000000"/>
                          </a:solidFill>
                          <a:latin typeface="Proxima Nova"/>
                          <a:ea typeface="Proxima Nova"/>
                          <a:cs typeface="Proxima Nova"/>
                          <a:sym typeface="Proxima Nova"/>
                        </a:rPr>
                        <a:t>URLs assigned this URL Action are moved into the “Content Analysis” deliverable.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9. 410 Delete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page no longer serves a purpose to the website, has NO links, NO traffic and the keywords are</a:t>
                      </a:r>
                      <a:r>
                        <a:rPr b="1" lang="en" sz="700">
                          <a:latin typeface="Proxima Nova"/>
                          <a:ea typeface="Proxima Nova"/>
                          <a:cs typeface="Proxima Nova"/>
                          <a:sym typeface="Proxima Nova"/>
                        </a:rPr>
                        <a:t> no longer relevant</a:t>
                      </a:r>
                      <a:r>
                        <a:rPr lang="en" sz="700">
                          <a:latin typeface="Proxima Nova"/>
                          <a:ea typeface="Proxima Nova"/>
                          <a:cs typeface="Proxima Nova"/>
                          <a:sym typeface="Proxima Nova"/>
                        </a:rPr>
                        <a:t>, we can delete it.</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10. Find and Replace URL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“301” page is discovered during the crawl, and the internal link can be replaced with its “Final URL” to remove an extra step for crawlers to move through, we want to find that URL and replace it with its final location.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11. Find and Remove URL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“404” page is discovered and there is no suitable replacement for the page, we want to find where the broken link is located and remove the link from the site.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
                                        </p:tgtEl>
                                        <p:attrNameLst>
                                          <p:attrName>style.visibility</p:attrName>
                                        </p:attrNameLst>
                                      </p:cBhvr>
                                      <p:to>
                                        <p:strVal val="visible"/>
                                      </p:to>
                                    </p:set>
                                    <p:animEffect filter="fade" transition="in">
                                      <p:cBhvr>
                                        <p:cTn dur="1000"/>
                                        <p:tgtEl>
                                          <p:spTgt spid="5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27" name="Shape 527"/>
        <p:cNvGrpSpPr/>
        <p:nvPr/>
      </p:nvGrpSpPr>
      <p:grpSpPr>
        <a:xfrm>
          <a:off x="0" y="0"/>
          <a:ext cx="0" cy="0"/>
          <a:chOff x="0" y="0"/>
          <a:chExt cx="0" cy="0"/>
        </a:xfrm>
      </p:grpSpPr>
      <p:sp>
        <p:nvSpPr>
          <p:cNvPr id="528" name="Google Shape;528;p72"/>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29" name="Google Shape;529;p72"/>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30" name="Google Shape;530;p72"/>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 the structure of the clients site.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Are they focusing in areas/producing too much content in categories that don’t produce bookings?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Are they too heavy in pages that shouldn’t be indexed?</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Or are they structuring their site well, and their appears to be a healthy number of Lead Gen/Product pages, in addition to Resources and Blog Posts?</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p:txBody>
      </p:sp>
      <p:sp>
        <p:nvSpPr>
          <p:cNvPr id="531" name="Google Shape;531;p72"/>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Structure Overview</a:t>
            </a:r>
            <a:endParaRPr sz="1200">
              <a:solidFill>
                <a:schemeClr val="lt1"/>
              </a:solidFill>
              <a:latin typeface="Proxima Nova Extrabold"/>
              <a:ea typeface="Proxima Nova Extrabold"/>
              <a:cs typeface="Proxima Nova Extrabold"/>
              <a:sym typeface="Proxima Nova Extrabold"/>
            </a:endParaRPr>
          </a:p>
        </p:txBody>
      </p:sp>
      <p:sp>
        <p:nvSpPr>
          <p:cNvPr id="532" name="Google Shape;532;p72"/>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Site Structure</a:t>
            </a:r>
            <a:endParaRPr/>
          </a:p>
        </p:txBody>
      </p:sp>
      <p:pic>
        <p:nvPicPr>
          <p:cNvPr id="533" name="Google Shape;533;p72" title="Chart"/>
          <p:cNvPicPr preferRelativeResize="0"/>
          <p:nvPr/>
        </p:nvPicPr>
        <p:blipFill>
          <a:blip r:embed="rId4">
            <a:alphaModFix/>
          </a:blip>
          <a:stretch>
            <a:fillRect/>
          </a:stretch>
        </p:blipFill>
        <p:spPr>
          <a:xfrm>
            <a:off x="279625" y="1124513"/>
            <a:ext cx="5319024" cy="3288924"/>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37" name="Shape 537"/>
        <p:cNvGrpSpPr/>
        <p:nvPr/>
      </p:nvGrpSpPr>
      <p:grpSpPr>
        <a:xfrm>
          <a:off x="0" y="0"/>
          <a:ext cx="0" cy="0"/>
          <a:chOff x="0" y="0"/>
          <a:chExt cx="0" cy="0"/>
        </a:xfrm>
      </p:grpSpPr>
      <p:sp>
        <p:nvSpPr>
          <p:cNvPr id="538" name="Google Shape;538;p73"/>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39" name="Google Shape;539;p73"/>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40" name="Google Shape;540;p73"/>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 accessibility of their site crawl:</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If there are </a:t>
            </a:r>
            <a:r>
              <a:rPr lang="en" sz="1100">
                <a:solidFill>
                  <a:schemeClr val="dk1"/>
                </a:solidFill>
                <a:latin typeface="Proxima Nova"/>
                <a:ea typeface="Proxima Nova"/>
                <a:cs typeface="Proxima Nova"/>
                <a:sym typeface="Proxima Nova"/>
              </a:rPr>
              <a:t>only</a:t>
            </a:r>
            <a:r>
              <a:rPr lang="en" sz="1100">
                <a:solidFill>
                  <a:schemeClr val="dk1"/>
                </a:solidFill>
                <a:latin typeface="Proxima Nova"/>
                <a:ea typeface="Proxima Nova"/>
                <a:cs typeface="Proxima Nova"/>
                <a:sym typeface="Proxima Nova"/>
              </a:rPr>
              <a:t> 200 Status pages (rare but possible), this slide may be useless, and you may not need to have a chart/highlight this on its own slide. Consider mentioning this in another slide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If there are a large number of 301s - call this out, and provide context on why this is an issue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If there are a large number of 404s, explain the significance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If there a large number of Forbidden responses or Time Out Status, explain this issue</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p:txBody>
      </p:sp>
      <p:sp>
        <p:nvSpPr>
          <p:cNvPr id="541" name="Google Shape;541;p73"/>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Structure Overview</a:t>
            </a:r>
            <a:endParaRPr sz="1200">
              <a:solidFill>
                <a:schemeClr val="lt1"/>
              </a:solidFill>
              <a:latin typeface="Proxima Nova Extrabold"/>
              <a:ea typeface="Proxima Nova Extrabold"/>
              <a:cs typeface="Proxima Nova Extrabold"/>
              <a:sym typeface="Proxima Nova Extrabold"/>
            </a:endParaRPr>
          </a:p>
        </p:txBody>
      </p:sp>
      <p:sp>
        <p:nvSpPr>
          <p:cNvPr id="542" name="Google Shape;542;p73"/>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Status Codes Heading</a:t>
            </a:r>
            <a:endParaRPr/>
          </a:p>
        </p:txBody>
      </p:sp>
      <p:pic>
        <p:nvPicPr>
          <p:cNvPr id="543" name="Google Shape;543;p73" title="Chart"/>
          <p:cNvPicPr preferRelativeResize="0"/>
          <p:nvPr/>
        </p:nvPicPr>
        <p:blipFill>
          <a:blip r:embed="rId4">
            <a:alphaModFix/>
          </a:blip>
          <a:stretch>
            <a:fillRect/>
          </a:stretch>
        </p:blipFill>
        <p:spPr>
          <a:xfrm>
            <a:off x="307825" y="1030650"/>
            <a:ext cx="4815951" cy="30822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47" name="Shape 547"/>
        <p:cNvGrpSpPr/>
        <p:nvPr/>
      </p:nvGrpSpPr>
      <p:grpSpPr>
        <a:xfrm>
          <a:off x="0" y="0"/>
          <a:ext cx="0" cy="0"/>
          <a:chOff x="0" y="0"/>
          <a:chExt cx="0" cy="0"/>
        </a:xfrm>
      </p:grpSpPr>
      <p:sp>
        <p:nvSpPr>
          <p:cNvPr id="548" name="Google Shape;548;p74"/>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49" name="Google Shape;549;p74"/>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50" name="Google Shape;550;p74"/>
          <p:cNvSpPr txBox="1"/>
          <p:nvPr/>
        </p:nvSpPr>
        <p:spPr>
          <a:xfrm>
            <a:off x="6020200" y="1986425"/>
            <a:ext cx="2811300" cy="240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Provide insights into the </a:t>
            </a:r>
            <a:r>
              <a:rPr lang="en" sz="1100">
                <a:solidFill>
                  <a:schemeClr val="dk1"/>
                </a:solidFill>
                <a:latin typeface="Proxima Nova"/>
                <a:ea typeface="Proxima Nova"/>
                <a:cs typeface="Proxima Nova"/>
                <a:sym typeface="Proxima Nova"/>
              </a:rPr>
              <a:t>distribution</a:t>
            </a:r>
            <a:r>
              <a:rPr lang="en" sz="1100">
                <a:solidFill>
                  <a:schemeClr val="dk1"/>
                </a:solidFill>
                <a:latin typeface="Proxima Nova"/>
                <a:ea typeface="Proxima Nova"/>
                <a:cs typeface="Proxima Nova"/>
                <a:sym typeface="Proxima Nova"/>
              </a:rPr>
              <a:t> of backlinks across various sections of the site.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Highlight how Link Authority gaps could be strong causes of underperformance.</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Highlight if there is l</a:t>
            </a:r>
            <a:r>
              <a:rPr lang="en" sz="1100" u="sng">
                <a:solidFill>
                  <a:schemeClr val="dk1"/>
                </a:solidFill>
                <a:latin typeface="Proxima Nova"/>
                <a:ea typeface="Proxima Nova"/>
                <a:cs typeface="Proxima Nova"/>
                <a:sym typeface="Proxima Nova"/>
              </a:rPr>
              <a:t>arge link gap for areas of the site that drive bookings</a:t>
            </a:r>
            <a:r>
              <a:rPr lang="en" sz="1100">
                <a:solidFill>
                  <a:schemeClr val="dk1"/>
                </a:solidFill>
                <a:latin typeface="Proxima Nova"/>
                <a:ea typeface="Proxima Nova"/>
                <a:cs typeface="Proxima Nova"/>
                <a:sym typeface="Proxima Nova"/>
              </a:rPr>
              <a:t>, if applicable.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If possible/applicable, reference Link Gap findings from the Sales Proposal to identify notable gaps (Ex. if target term needs as many backlinks as an entire section of the client’s site currently has.</a:t>
            </a:r>
            <a:endParaRPr sz="1100">
              <a:solidFill>
                <a:schemeClr val="dk1"/>
              </a:solidFill>
              <a:latin typeface="Proxima Nova"/>
              <a:ea typeface="Proxima Nova"/>
              <a:cs typeface="Proxima Nova"/>
              <a:sym typeface="Proxima Nova"/>
            </a:endParaRPr>
          </a:p>
        </p:txBody>
      </p:sp>
      <p:sp>
        <p:nvSpPr>
          <p:cNvPr id="551" name="Google Shape;551;p74"/>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Authority Overview</a:t>
            </a:r>
            <a:endParaRPr sz="1200">
              <a:solidFill>
                <a:schemeClr val="lt1"/>
              </a:solidFill>
              <a:latin typeface="Proxima Nova Extrabold"/>
              <a:ea typeface="Proxima Nova Extrabold"/>
              <a:cs typeface="Proxima Nova Extrabold"/>
              <a:sym typeface="Proxima Nova Extrabold"/>
            </a:endParaRPr>
          </a:p>
        </p:txBody>
      </p:sp>
      <p:sp>
        <p:nvSpPr>
          <p:cNvPr id="552" name="Google Shape;552;p74"/>
          <p:cNvSpPr txBox="1"/>
          <p:nvPr/>
        </p:nvSpPr>
        <p:spPr>
          <a:xfrm>
            <a:off x="6020200" y="1124525"/>
            <a:ext cx="3000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Backlinks by Category</a:t>
            </a:r>
            <a:endParaRPr/>
          </a:p>
        </p:txBody>
      </p:sp>
      <p:pic>
        <p:nvPicPr>
          <p:cNvPr id="553" name="Google Shape;553;p74" title="Chart"/>
          <p:cNvPicPr preferRelativeResize="0"/>
          <p:nvPr/>
        </p:nvPicPr>
        <p:blipFill>
          <a:blip r:embed="rId4">
            <a:alphaModFix/>
          </a:blip>
          <a:stretch>
            <a:fillRect/>
          </a:stretch>
        </p:blipFill>
        <p:spPr>
          <a:xfrm>
            <a:off x="515900" y="1159025"/>
            <a:ext cx="4720626" cy="302120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57" name="Shape 557"/>
        <p:cNvGrpSpPr/>
        <p:nvPr/>
      </p:nvGrpSpPr>
      <p:grpSpPr>
        <a:xfrm>
          <a:off x="0" y="0"/>
          <a:ext cx="0" cy="0"/>
          <a:chOff x="0" y="0"/>
          <a:chExt cx="0" cy="0"/>
        </a:xfrm>
      </p:grpSpPr>
      <p:sp>
        <p:nvSpPr>
          <p:cNvPr id="558" name="Google Shape;558;p75"/>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59" name="Google Shape;559;p75"/>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60" name="Google Shape;560;p75"/>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 organic traffic by site section.</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What section is bringing in the most traffic? Is this branded or non-branded?</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Does performance by site section correlate with the number of pages in each </a:t>
            </a:r>
            <a:r>
              <a:rPr lang="en" sz="1100">
                <a:solidFill>
                  <a:schemeClr val="dk1"/>
                </a:solidFill>
                <a:latin typeface="Proxima Nova"/>
                <a:ea typeface="Proxima Nova"/>
                <a:cs typeface="Proxima Nova"/>
                <a:sym typeface="Proxima Nova"/>
              </a:rPr>
              <a:t>section</a:t>
            </a:r>
            <a:r>
              <a:rPr lang="en" sz="1100">
                <a:solidFill>
                  <a:schemeClr val="dk1"/>
                </a:solidFill>
                <a:latin typeface="Proxima Nova"/>
                <a:ea typeface="Proxima Nova"/>
                <a:cs typeface="Proxima Nova"/>
                <a:sym typeface="Proxima Nova"/>
              </a:rPr>
              <a:t>?</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p:txBody>
      </p:sp>
      <p:sp>
        <p:nvSpPr>
          <p:cNvPr id="561" name="Google Shape;561;p75"/>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Organic Performance - Traffic</a:t>
            </a:r>
            <a:endParaRPr sz="1200">
              <a:solidFill>
                <a:schemeClr val="lt1"/>
              </a:solidFill>
              <a:latin typeface="Proxima Nova Extrabold"/>
              <a:ea typeface="Proxima Nova Extrabold"/>
              <a:cs typeface="Proxima Nova Extrabold"/>
              <a:sym typeface="Proxima Nova Extrabold"/>
            </a:endParaRPr>
          </a:p>
        </p:txBody>
      </p:sp>
      <p:sp>
        <p:nvSpPr>
          <p:cNvPr id="562" name="Google Shape;562;p75"/>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Sessions by Category</a:t>
            </a:r>
            <a:endParaRPr/>
          </a:p>
        </p:txBody>
      </p:sp>
      <p:pic>
        <p:nvPicPr>
          <p:cNvPr id="563" name="Google Shape;563;p75" title="Chart"/>
          <p:cNvPicPr preferRelativeResize="0"/>
          <p:nvPr/>
        </p:nvPicPr>
        <p:blipFill>
          <a:blip r:embed="rId4">
            <a:alphaModFix/>
          </a:blip>
          <a:stretch>
            <a:fillRect/>
          </a:stretch>
        </p:blipFill>
        <p:spPr>
          <a:xfrm>
            <a:off x="343225" y="900025"/>
            <a:ext cx="5407200" cy="33434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EEEEE"/>
        </a:solidFill>
      </p:bgPr>
    </p:bg>
    <p:spTree>
      <p:nvGrpSpPr>
        <p:cNvPr id="567" name="Shape 567"/>
        <p:cNvGrpSpPr/>
        <p:nvPr/>
      </p:nvGrpSpPr>
      <p:grpSpPr>
        <a:xfrm>
          <a:off x="0" y="0"/>
          <a:ext cx="0" cy="0"/>
          <a:chOff x="0" y="0"/>
          <a:chExt cx="0" cy="0"/>
        </a:xfrm>
      </p:grpSpPr>
      <p:sp>
        <p:nvSpPr>
          <p:cNvPr id="568" name="Google Shape;568;p76"/>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69" name="Google Shape;569;p76"/>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70" name="Google Shape;570;p76"/>
          <p:cNvSpPr txBox="1"/>
          <p:nvPr/>
        </p:nvSpPr>
        <p:spPr>
          <a:xfrm>
            <a:off x="6020200" y="2426350"/>
            <a:ext cx="2811300" cy="196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Number of URLs in the XML Sitemap vs Number of Indexable URLs that are not. </a:t>
            </a:r>
            <a:endParaRPr sz="1100">
              <a:solidFill>
                <a:schemeClr val="dk1"/>
              </a:solidFill>
              <a:latin typeface="Proxima Nova"/>
              <a:ea typeface="Proxima Nova"/>
              <a:cs typeface="Proxima Nova"/>
              <a:sym typeface="Proxima Nova"/>
            </a:endParaRPr>
          </a:p>
        </p:txBody>
      </p:sp>
      <p:sp>
        <p:nvSpPr>
          <p:cNvPr id="571" name="Google Shape;571;p76"/>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Structure Overview</a:t>
            </a:r>
            <a:endParaRPr sz="1200">
              <a:solidFill>
                <a:schemeClr val="lt1"/>
              </a:solidFill>
              <a:latin typeface="Proxima Nova Extrabold"/>
              <a:ea typeface="Proxima Nova Extrabold"/>
              <a:cs typeface="Proxima Nova Extrabold"/>
              <a:sym typeface="Proxima Nova Extrabold"/>
            </a:endParaRPr>
          </a:p>
        </p:txBody>
      </p:sp>
      <p:sp>
        <p:nvSpPr>
          <p:cNvPr id="572" name="Google Shape;572;p76"/>
          <p:cNvSpPr txBox="1"/>
          <p:nvPr/>
        </p:nvSpPr>
        <p:spPr>
          <a:xfrm>
            <a:off x="6020200" y="1124525"/>
            <a:ext cx="30000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Indexable URLs vs URLs in the XML Sitemap</a:t>
            </a:r>
            <a:endParaRPr/>
          </a:p>
        </p:txBody>
      </p:sp>
      <p:pic>
        <p:nvPicPr>
          <p:cNvPr id="573" name="Google Shape;573;p76" title="Chart"/>
          <p:cNvPicPr preferRelativeResize="0"/>
          <p:nvPr/>
        </p:nvPicPr>
        <p:blipFill>
          <a:blip r:embed="rId4">
            <a:alphaModFix/>
          </a:blip>
          <a:stretch>
            <a:fillRect/>
          </a:stretch>
        </p:blipFill>
        <p:spPr>
          <a:xfrm>
            <a:off x="343225" y="900025"/>
            <a:ext cx="5407200" cy="33434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77" name="Shape 577"/>
        <p:cNvGrpSpPr/>
        <p:nvPr/>
      </p:nvGrpSpPr>
      <p:grpSpPr>
        <a:xfrm>
          <a:off x="0" y="0"/>
          <a:ext cx="0" cy="0"/>
          <a:chOff x="0" y="0"/>
          <a:chExt cx="0" cy="0"/>
        </a:xfrm>
      </p:grpSpPr>
      <p:sp>
        <p:nvSpPr>
          <p:cNvPr id="578" name="Google Shape;578;p77"/>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79" name="Google Shape;579;p77"/>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80" name="Google Shape;580;p77"/>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W</a:t>
            </a:r>
            <a:r>
              <a:rPr lang="en" sz="1100">
                <a:solidFill>
                  <a:schemeClr val="dk1"/>
                </a:solidFill>
                <a:latin typeface="Proxima Nova"/>
                <a:ea typeface="Proxima Nova"/>
                <a:cs typeface="Proxima Nova"/>
                <a:sym typeface="Proxima Nova"/>
              </a:rPr>
              <a:t>hat</a:t>
            </a:r>
            <a:r>
              <a:rPr lang="en" sz="1100">
                <a:solidFill>
                  <a:schemeClr val="dk1"/>
                </a:solidFill>
                <a:latin typeface="Proxima Nova"/>
                <a:ea typeface="Proxima Nova"/>
                <a:cs typeface="Proxima Nova"/>
                <a:sym typeface="Proxima Nova"/>
              </a:rPr>
              <a:t> sections of the site are generating revenue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Is revenue generation split up between several page types, or is there a select few responsible for generating revenue from organic?</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Are any of their blogs at this time generating revenue?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For the top 5 pages generating revenue, is there a page generating a significant amount in comparison to the entire site?</a:t>
            </a:r>
            <a:endParaRPr sz="1100">
              <a:solidFill>
                <a:schemeClr val="dk1"/>
              </a:solidFill>
              <a:latin typeface="Proxima Nova"/>
              <a:ea typeface="Proxima Nova"/>
              <a:cs typeface="Proxima Nova"/>
              <a:sym typeface="Proxima Nova"/>
            </a:endParaRPr>
          </a:p>
        </p:txBody>
      </p:sp>
      <p:sp>
        <p:nvSpPr>
          <p:cNvPr id="581" name="Google Shape;581;p77"/>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Organic Performance - Bookings</a:t>
            </a:r>
            <a:endParaRPr sz="1200">
              <a:solidFill>
                <a:schemeClr val="lt1"/>
              </a:solidFill>
              <a:latin typeface="Proxima Nova Extrabold"/>
              <a:ea typeface="Proxima Nova Extrabold"/>
              <a:cs typeface="Proxima Nova Extrabold"/>
              <a:sym typeface="Proxima Nova Extrabold"/>
            </a:endParaRPr>
          </a:p>
        </p:txBody>
      </p:sp>
      <p:sp>
        <p:nvSpPr>
          <p:cNvPr id="582" name="Google Shape;582;p77"/>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Revenue Heading</a:t>
            </a:r>
            <a:endParaRPr/>
          </a:p>
        </p:txBody>
      </p:sp>
      <p:graphicFrame>
        <p:nvGraphicFramePr>
          <p:cNvPr id="583" name="Google Shape;583;p77"/>
          <p:cNvGraphicFramePr/>
          <p:nvPr/>
        </p:nvGraphicFramePr>
        <p:xfrm>
          <a:off x="170575" y="3115775"/>
          <a:ext cx="3000000" cy="3000000"/>
        </p:xfrm>
        <a:graphic>
          <a:graphicData uri="http://schemas.openxmlformats.org/drawingml/2006/table">
            <a:tbl>
              <a:tblPr>
                <a:noFill/>
                <a:tableStyleId>{F4E0A997-E762-483F-9531-3197180D424E}</a:tableStyleId>
              </a:tblPr>
              <a:tblGrid>
                <a:gridCol w="3932025"/>
                <a:gridCol w="1268075"/>
              </a:tblGrid>
              <a:tr h="340050">
                <a:tc>
                  <a:txBody>
                    <a:bodyPr/>
                    <a:lstStyle/>
                    <a:p>
                      <a:pPr indent="0" lvl="0" marL="0" rtl="0" algn="l">
                        <a:lnSpc>
                          <a:spcPct val="115000"/>
                        </a:lnSpc>
                        <a:spcBef>
                          <a:spcPts val="0"/>
                        </a:spcBef>
                        <a:spcAft>
                          <a:spcPts val="0"/>
                        </a:spcAft>
                        <a:buNone/>
                      </a:pPr>
                      <a:r>
                        <a:rPr b="1" lang="en" sz="1100">
                          <a:solidFill>
                            <a:srgbClr val="FFFFFF"/>
                          </a:solidFill>
                          <a:latin typeface="Proxima Nova"/>
                          <a:ea typeface="Proxima Nova"/>
                          <a:cs typeface="Proxima Nova"/>
                          <a:sym typeface="Proxima Nova"/>
                        </a:rPr>
                        <a:t>Top 5 Pages by Revenue</a:t>
                      </a:r>
                      <a:endParaRPr b="1" sz="1100">
                        <a:solidFill>
                          <a:srgbClr val="FFFFFF"/>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21A6B"/>
                    </a:solidFill>
                  </a:tcPr>
                </a:tc>
                <a:tc>
                  <a:txBody>
                    <a:bodyPr/>
                    <a:lstStyle/>
                    <a:p>
                      <a:pPr indent="0" lvl="0" marL="0" rtl="0" algn="ctr">
                        <a:lnSpc>
                          <a:spcPct val="115000"/>
                        </a:lnSpc>
                        <a:spcBef>
                          <a:spcPts val="0"/>
                        </a:spcBef>
                        <a:spcAft>
                          <a:spcPts val="0"/>
                        </a:spcAft>
                        <a:buNone/>
                      </a:pPr>
                      <a:r>
                        <a:rPr b="1" lang="en" sz="1100">
                          <a:solidFill>
                            <a:srgbClr val="FFFFFF"/>
                          </a:solidFill>
                          <a:latin typeface="Proxima Nova"/>
                          <a:ea typeface="Proxima Nova"/>
                          <a:cs typeface="Proxima Nova"/>
                          <a:sym typeface="Proxima Nova"/>
                        </a:rPr>
                        <a:t>Purchase Revenue</a:t>
                      </a:r>
                      <a:endParaRPr b="1" sz="1100">
                        <a:solidFill>
                          <a:srgbClr val="FFFFFF"/>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21A6B"/>
                    </a:solidFill>
                  </a:tcPr>
                </a:tc>
              </a:tr>
              <a:tr h="185225">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4"/>
                        </a:rPr>
                        <a:t>https://modernadventure.com/</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$43,900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185225">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5"/>
                        </a:rPr>
                        <a:t>https://modernadventure.com/our-trips/</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$30,000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40050">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6"/>
                        </a:rPr>
                        <a:t>https://modernadventure.com/our-trips/oaxaca-with-erik-anderson/</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$9,500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40050">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7"/>
                        </a:rPr>
                        <a:t>https://modernadventure.com/our-trips/oaxaca-with-heath-ceramics/</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$5,500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40050">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8"/>
                        </a:rPr>
                        <a:t>https://modernadventure.com/our-trips/oaxaca-with-fany-gerson/</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$3,000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pic>
        <p:nvPicPr>
          <p:cNvPr id="584" name="Google Shape;584;p77" title="Chart"/>
          <p:cNvPicPr preferRelativeResize="0"/>
          <p:nvPr/>
        </p:nvPicPr>
        <p:blipFill>
          <a:blip r:embed="rId9">
            <a:alphaModFix/>
          </a:blip>
          <a:stretch>
            <a:fillRect/>
          </a:stretch>
        </p:blipFill>
        <p:spPr>
          <a:xfrm>
            <a:off x="170575" y="664700"/>
            <a:ext cx="5273841" cy="223258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88" name="Shape 588"/>
        <p:cNvGrpSpPr/>
        <p:nvPr/>
      </p:nvGrpSpPr>
      <p:grpSpPr>
        <a:xfrm>
          <a:off x="0" y="0"/>
          <a:ext cx="0" cy="0"/>
          <a:chOff x="0" y="0"/>
          <a:chExt cx="0" cy="0"/>
        </a:xfrm>
      </p:grpSpPr>
      <p:sp>
        <p:nvSpPr>
          <p:cNvPr id="589" name="Google Shape;589;p78"/>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90" name="Google Shape;590;p78"/>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91" name="Google Shape;591;p78"/>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Of the sections of the site driving revenue from organic, how many pages are actually driving revenue? What percentage?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Is it a select few pages that are actually ranking and driving revenue, or is it well mixed?</a:t>
            </a:r>
            <a:endParaRPr sz="1100">
              <a:solidFill>
                <a:schemeClr val="dk1"/>
              </a:solidFill>
              <a:latin typeface="Proxima Nova"/>
              <a:ea typeface="Proxima Nova"/>
              <a:cs typeface="Proxima Nova"/>
              <a:sym typeface="Proxima Nova"/>
            </a:endParaRPr>
          </a:p>
        </p:txBody>
      </p:sp>
      <p:sp>
        <p:nvSpPr>
          <p:cNvPr id="592" name="Google Shape;592;p78"/>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Organic Performance - Bookings</a:t>
            </a:r>
            <a:endParaRPr sz="1200">
              <a:solidFill>
                <a:schemeClr val="lt1"/>
              </a:solidFill>
              <a:latin typeface="Proxima Nova Extrabold"/>
              <a:ea typeface="Proxima Nova Extrabold"/>
              <a:cs typeface="Proxima Nova Extrabold"/>
              <a:sym typeface="Proxima Nova Extrabold"/>
            </a:endParaRPr>
          </a:p>
        </p:txBody>
      </p:sp>
      <p:sp>
        <p:nvSpPr>
          <p:cNvPr id="593" name="Google Shape;593;p78"/>
          <p:cNvSpPr txBox="1"/>
          <p:nvPr/>
        </p:nvSpPr>
        <p:spPr>
          <a:xfrm>
            <a:off x="6020200" y="1124525"/>
            <a:ext cx="3000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solidFill>
                  <a:srgbClr val="F00D68"/>
                </a:solidFill>
                <a:latin typeface="Proxima Nova"/>
                <a:ea typeface="Proxima Nova"/>
                <a:cs typeface="Proxima Nova"/>
                <a:sym typeface="Proxima Nova"/>
              </a:rPr>
              <a:t>Pages Driving Revenue</a:t>
            </a:r>
            <a:endParaRPr sz="1300"/>
          </a:p>
        </p:txBody>
      </p:sp>
      <p:pic>
        <p:nvPicPr>
          <p:cNvPr id="594" name="Google Shape;594;p78" title="Chart"/>
          <p:cNvPicPr preferRelativeResize="0"/>
          <p:nvPr/>
        </p:nvPicPr>
        <p:blipFill>
          <a:blip r:embed="rId4">
            <a:alphaModFix/>
          </a:blip>
          <a:stretch>
            <a:fillRect/>
          </a:stretch>
        </p:blipFill>
        <p:spPr>
          <a:xfrm>
            <a:off x="170565" y="690600"/>
            <a:ext cx="5273862" cy="22326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21A6B"/>
        </a:solidFill>
      </p:bgPr>
    </p:bg>
    <p:spTree>
      <p:nvGrpSpPr>
        <p:cNvPr id="598" name="Shape 598"/>
        <p:cNvGrpSpPr/>
        <p:nvPr/>
      </p:nvGrpSpPr>
      <p:grpSpPr>
        <a:xfrm>
          <a:off x="0" y="0"/>
          <a:ext cx="0" cy="0"/>
          <a:chOff x="0" y="0"/>
          <a:chExt cx="0" cy="0"/>
        </a:xfrm>
      </p:grpSpPr>
      <p:sp>
        <p:nvSpPr>
          <p:cNvPr id="599" name="Google Shape;599;p79"/>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79"/>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601" name="Google Shape;601;p79"/>
          <p:cNvSpPr txBox="1"/>
          <p:nvPr/>
        </p:nvSpPr>
        <p:spPr>
          <a:xfrm>
            <a:off x="2875500" y="342900"/>
            <a:ext cx="6268500" cy="36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Important Learnings and Insights:</a:t>
            </a:r>
            <a:endParaRPr sz="1200">
              <a:solidFill>
                <a:srgbClr val="E21A6B"/>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Next slide will correlate site sections to phases of the Traveler Intent Journey, to help identify where the client’s site is meeting content goals, and where there are large gaps in the customer journey.</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700"/>
              </a:spcAft>
              <a:buNone/>
            </a:pPr>
            <a:r>
              <a:t/>
            </a:r>
            <a:endParaRPr sz="1200">
              <a:solidFill>
                <a:schemeClr val="dk1"/>
              </a:solidFill>
              <a:latin typeface="Proxima Nova"/>
              <a:ea typeface="Proxima Nova"/>
              <a:cs typeface="Proxima Nova"/>
              <a:sym typeface="Proxima Nova"/>
            </a:endParaRPr>
          </a:p>
        </p:txBody>
      </p:sp>
      <p:pic>
        <p:nvPicPr>
          <p:cNvPr id="602" name="Google Shape;602;p79"/>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603" name="Google Shape;603;p79"/>
          <p:cNvPicPr preferRelativeResize="0"/>
          <p:nvPr/>
        </p:nvPicPr>
        <p:blipFill rotWithShape="1">
          <a:blip r:embed="rId4">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1"/>
                                        </p:tgtEl>
                                        <p:attrNameLst>
                                          <p:attrName>style.visibility</p:attrName>
                                        </p:attrNameLst>
                                      </p:cBhvr>
                                      <p:to>
                                        <p:strVal val="visible"/>
                                      </p:to>
                                    </p:set>
                                    <p:animEffect filter="fade" transition="in">
                                      <p:cBhvr>
                                        <p:cTn dur="1000"/>
                                        <p:tgtEl>
                                          <p:spTgt spid="6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607" name="Shape 607"/>
        <p:cNvGrpSpPr/>
        <p:nvPr/>
      </p:nvGrpSpPr>
      <p:grpSpPr>
        <a:xfrm>
          <a:off x="0" y="0"/>
          <a:ext cx="0" cy="0"/>
          <a:chOff x="0" y="0"/>
          <a:chExt cx="0" cy="0"/>
        </a:xfrm>
      </p:grpSpPr>
      <p:sp>
        <p:nvSpPr>
          <p:cNvPr id="608" name="Google Shape;608;p80"/>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80"/>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610" name="Google Shape;610;p80"/>
          <p:cNvSpPr txBox="1"/>
          <p:nvPr/>
        </p:nvSpPr>
        <p:spPr>
          <a:xfrm>
            <a:off x="2875500" y="342900"/>
            <a:ext cx="6268500" cy="36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Important Learnings and Insights:</a:t>
            </a:r>
            <a:endParaRPr sz="1200">
              <a:solidFill>
                <a:srgbClr val="E21A6B"/>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 301 URLs and XX 404 links found on the website.</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Give the action task to either replace or remove URL.</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Very strong backlink profile with 99% of DoFollow links pointed at the homepage (XXX links).</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rPr b="1" lang="en" sz="1200">
                <a:solidFill>
                  <a:srgbClr val="E21A6B"/>
                </a:solidFill>
                <a:latin typeface="Proxima Nova"/>
                <a:ea typeface="Proxima Nova"/>
                <a:cs typeface="Proxima Nova"/>
                <a:sym typeface="Proxima Nova"/>
              </a:rPr>
              <a:t>We identified the following items  for direct action:</a:t>
            </a:r>
            <a:endParaRPr sz="1200">
              <a:solidFill>
                <a:srgbClr val="E21A6B"/>
              </a:solidFill>
              <a:latin typeface="Proxima Nova"/>
              <a:ea typeface="Proxima Nova"/>
              <a:cs typeface="Proxima Nova"/>
              <a:sym typeface="Proxima Nova"/>
            </a:endParaRPr>
          </a:p>
          <a:p>
            <a:pPr indent="-304800" lvl="0" marL="457200" rtl="0" algn="l">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Find and Remove the URL</a:t>
            </a:r>
            <a:endParaRPr sz="1200">
              <a:solidFill>
                <a:schemeClr val="dk1"/>
              </a:solidFill>
              <a:latin typeface="Proxima Nova"/>
              <a:ea typeface="Proxima Nova"/>
              <a:cs typeface="Proxima Nova"/>
              <a:sym typeface="Proxima Nova"/>
            </a:endParaRPr>
          </a:p>
          <a:p>
            <a:pPr indent="-304800" lvl="1" marL="914400" rtl="0" algn="l">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Many of these links are located on this page </a:t>
            </a:r>
            <a:r>
              <a:rPr lang="en" sz="1200" u="sng">
                <a:solidFill>
                  <a:schemeClr val="dk1"/>
                </a:solidFill>
                <a:latin typeface="Proxima Nova"/>
                <a:ea typeface="Proxima Nova"/>
                <a:cs typeface="Proxima Nova"/>
                <a:sym typeface="Proxima Nova"/>
                <a:hlinkClick r:id="rId3">
                  <a:extLst>
                    <a:ext uri="{A12FA001-AC4F-418D-AE19-62706E023703}">
                      <ahyp:hlinkClr val="tx"/>
                    </a:ext>
                  </a:extLst>
                </a:hlinkClick>
              </a:rPr>
              <a:t>https://www.gracerosefarm.com/blogs/news/extending-our-season</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Find and Replace the URL</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Many of these links are located on this page: </a:t>
            </a:r>
            <a:r>
              <a:rPr lang="en" sz="1200" u="sng">
                <a:solidFill>
                  <a:schemeClr val="dk1"/>
                </a:solidFill>
                <a:latin typeface="Proxima Nova"/>
                <a:ea typeface="Proxima Nova"/>
                <a:cs typeface="Proxima Nova"/>
                <a:sym typeface="Proxima Nova"/>
                <a:hlinkClick r:id="rId4">
                  <a:extLst>
                    <a:ext uri="{A12FA001-AC4F-418D-AE19-62706E023703}">
                      <ahyp:hlinkClr val="tx"/>
                    </a:ext>
                  </a:extLst>
                </a:hlinkClick>
              </a:rPr>
              <a:t>https://www.gracerosefarm.com/blogs/news/getting-to-know-our-customers</a:t>
            </a:r>
            <a:r>
              <a:rPr lang="en" sz="1200">
                <a:solidFill>
                  <a:schemeClr val="dk1"/>
                </a:solidFill>
                <a:latin typeface="Proxima Nova"/>
                <a:ea typeface="Proxima Nova"/>
                <a:cs typeface="Proxima Nova"/>
                <a:sym typeface="Proxima Nova"/>
              </a:rPr>
              <a:t> </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Optimize On-Page SEO</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Product Category pages and important website pages</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Content Analysis</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700"/>
              </a:spcAft>
              <a:buClr>
                <a:schemeClr val="dk1"/>
              </a:buClr>
              <a:buSzPts val="1200"/>
              <a:buFont typeface="Proxima Nova"/>
              <a:buChar char="○"/>
            </a:pPr>
            <a:r>
              <a:rPr lang="en" sz="1200">
                <a:solidFill>
                  <a:schemeClr val="dk1"/>
                </a:solidFill>
                <a:latin typeface="Proxima Nova"/>
                <a:ea typeface="Proxima Nova"/>
                <a:cs typeface="Proxima Nova"/>
                <a:sym typeface="Proxima Nova"/>
              </a:rPr>
              <a:t>Blog posts targeting highly search topics</a:t>
            </a:r>
            <a:endParaRPr sz="1200">
              <a:solidFill>
                <a:schemeClr val="dk1"/>
              </a:solidFill>
              <a:latin typeface="Proxima Nova"/>
              <a:ea typeface="Proxima Nova"/>
              <a:cs typeface="Proxima Nova"/>
              <a:sym typeface="Proxima Nova"/>
            </a:endParaRPr>
          </a:p>
        </p:txBody>
      </p:sp>
      <p:pic>
        <p:nvPicPr>
          <p:cNvPr id="611" name="Google Shape;611;p80"/>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612" name="Google Shape;612;p80"/>
          <p:cNvPicPr preferRelativeResize="0"/>
          <p:nvPr/>
        </p:nvPicPr>
        <p:blipFill rotWithShape="1">
          <a:blip r:embed="rId6">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0"/>
                                        </p:tgtEl>
                                        <p:attrNameLst>
                                          <p:attrName>style.visibility</p:attrName>
                                        </p:attrNameLst>
                                      </p:cBhvr>
                                      <p:to>
                                        <p:strVal val="visible"/>
                                      </p:to>
                                    </p:set>
                                    <p:animEffect filter="fade" transition="in">
                                      <p:cBhvr>
                                        <p:cTn dur="1000"/>
                                        <p:tgtEl>
                                          <p:spTgt spid="6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616" name="Shape 616"/>
        <p:cNvGrpSpPr/>
        <p:nvPr/>
      </p:nvGrpSpPr>
      <p:grpSpPr>
        <a:xfrm>
          <a:off x="0" y="0"/>
          <a:ext cx="0" cy="0"/>
          <a:chOff x="0" y="0"/>
          <a:chExt cx="0" cy="0"/>
        </a:xfrm>
      </p:grpSpPr>
      <p:sp>
        <p:nvSpPr>
          <p:cNvPr id="617" name="Google Shape;617;p81"/>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81"/>
          <p:cNvSpPr txBox="1"/>
          <p:nvPr>
            <p:ph type="title"/>
          </p:nvPr>
        </p:nvSpPr>
        <p:spPr>
          <a:xfrm>
            <a:off x="313100" y="1998025"/>
            <a:ext cx="24516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What’s next?</a:t>
            </a:r>
            <a:endParaRPr b="1" sz="2400">
              <a:solidFill>
                <a:srgbClr val="FFFFFF"/>
              </a:solidFill>
              <a:latin typeface="Proxima Nova"/>
              <a:ea typeface="Proxima Nova"/>
              <a:cs typeface="Proxima Nova"/>
              <a:sym typeface="Proxima Nova"/>
            </a:endParaRPr>
          </a:p>
        </p:txBody>
      </p:sp>
      <p:sp>
        <p:nvSpPr>
          <p:cNvPr id="619" name="Google Shape;619;p81"/>
          <p:cNvSpPr txBox="1"/>
          <p:nvPr/>
        </p:nvSpPr>
        <p:spPr>
          <a:xfrm>
            <a:off x="2875500" y="342900"/>
            <a:ext cx="4947000" cy="42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E21A6B"/>
                </a:solidFill>
                <a:latin typeface="Proxima Nova"/>
                <a:ea typeface="Proxima Nova"/>
                <a:cs typeface="Proxima Nova"/>
                <a:sym typeface="Proxima Nova"/>
              </a:rPr>
              <a:t>Improving existing assets:</a:t>
            </a:r>
            <a:endParaRPr sz="1200">
              <a:solidFill>
                <a:srgbClr val="E21A6B"/>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URL Actions</a:t>
            </a:r>
            <a:r>
              <a:rPr lang="en" sz="1200">
                <a:solidFill>
                  <a:schemeClr val="dk1"/>
                </a:solidFill>
                <a:latin typeface="Proxima Nova"/>
                <a:ea typeface="Proxima Nova"/>
                <a:cs typeface="Proxima Nova"/>
                <a:sym typeface="Proxima Nova"/>
              </a:rPr>
              <a:t>: Implement technical changes (no index, 301 redirect, etc.)</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Keyword Research</a:t>
            </a:r>
            <a:r>
              <a:rPr lang="en" sz="1200">
                <a:solidFill>
                  <a:schemeClr val="dk1"/>
                </a:solidFill>
                <a:latin typeface="Proxima Nova"/>
                <a:ea typeface="Proxima Nova"/>
                <a:cs typeface="Proxima Nova"/>
                <a:sym typeface="Proxima Nova"/>
              </a:rPr>
              <a:t>: Intent mapping for pages marked “Update On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On-Page Recommendations</a:t>
            </a:r>
            <a:r>
              <a:rPr lang="en" sz="1200">
                <a:solidFill>
                  <a:schemeClr val="dk1"/>
                </a:solidFill>
                <a:latin typeface="Proxima Nova"/>
                <a:ea typeface="Proxima Nova"/>
                <a:cs typeface="Proxima Nova"/>
                <a:sym typeface="Proxima Nova"/>
              </a:rPr>
              <a:t>:  Improvements (titles, metas, internal links, body text, schema) for pages marked “Update On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Content Analysis</a:t>
            </a:r>
            <a:r>
              <a:rPr lang="en" sz="1200">
                <a:solidFill>
                  <a:schemeClr val="dk1"/>
                </a:solidFill>
                <a:latin typeface="Proxima Nova"/>
                <a:ea typeface="Proxima Nova"/>
                <a:cs typeface="Proxima Nova"/>
                <a:sym typeface="Proxima Nova"/>
              </a:rPr>
              <a:t>: Improve and update blog post pages with potential to rank for high volume keywords and to merge pages with very similar content</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i="1"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rPr b="1" lang="en" sz="1200">
                <a:solidFill>
                  <a:srgbClr val="E21A6B"/>
                </a:solidFill>
                <a:latin typeface="Proxima Nova"/>
                <a:ea typeface="Proxima Nova"/>
                <a:cs typeface="Proxima Nova"/>
                <a:sym typeface="Proxima Nova"/>
              </a:rPr>
              <a:t>Creating new assets:</a:t>
            </a:r>
            <a:endParaRPr sz="1200">
              <a:solidFill>
                <a:srgbClr val="E21A6B"/>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[Replace or remove this section as needed]</a:t>
            </a:r>
            <a:endParaRPr b="1" sz="1200">
              <a:solidFill>
                <a:schemeClr val="dk1"/>
              </a:solidFill>
              <a:latin typeface="Proxima Nova"/>
              <a:ea typeface="Proxima Nova"/>
              <a:cs typeface="Proxima Nova"/>
              <a:sym typeface="Proxima Nova"/>
            </a:endParaRPr>
          </a:p>
        </p:txBody>
      </p:sp>
      <p:pic>
        <p:nvPicPr>
          <p:cNvPr id="620" name="Google Shape;620;p81"/>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621" name="Google Shape;621;p81"/>
          <p:cNvPicPr preferRelativeResize="0"/>
          <p:nvPr/>
        </p:nvPicPr>
        <p:blipFill rotWithShape="1">
          <a:blip r:embed="rId4">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9"/>
                                        </p:tgtEl>
                                        <p:attrNameLst>
                                          <p:attrName>style.visibility</p:attrName>
                                        </p:attrNameLst>
                                      </p:cBhvr>
                                      <p:to>
                                        <p:strVal val="visible"/>
                                      </p:to>
                                    </p:set>
                                    <p:animEffect filter="fade" transition="in">
                                      <p:cBhvr>
                                        <p:cTn dur="1000"/>
                                        <p:tgtEl>
                                          <p:spTgt spid="6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625" name="Shape 625"/>
        <p:cNvGrpSpPr/>
        <p:nvPr/>
      </p:nvGrpSpPr>
      <p:grpSpPr>
        <a:xfrm>
          <a:off x="0" y="0"/>
          <a:ext cx="0" cy="0"/>
          <a:chOff x="0" y="0"/>
          <a:chExt cx="0" cy="0"/>
        </a:xfrm>
      </p:grpSpPr>
      <p:sp>
        <p:nvSpPr>
          <p:cNvPr id="626" name="Google Shape;626;p82"/>
          <p:cNvSpPr txBox="1"/>
          <p:nvPr>
            <p:ph type="title"/>
          </p:nvPr>
        </p:nvSpPr>
        <p:spPr>
          <a:xfrm>
            <a:off x="4388400" y="2108000"/>
            <a:ext cx="4457700" cy="648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SzPts val="990"/>
              <a:buNone/>
            </a:pPr>
            <a:r>
              <a:rPr lang="en" sz="4320">
                <a:solidFill>
                  <a:schemeClr val="lt1"/>
                </a:solidFill>
                <a:latin typeface="Proxima Nova Extrabold"/>
                <a:ea typeface="Proxima Nova Extrabold"/>
                <a:cs typeface="Proxima Nova Extrabold"/>
                <a:sym typeface="Proxima Nova Extrabold"/>
              </a:rPr>
              <a:t>THANK YOU!</a:t>
            </a:r>
            <a:endParaRPr sz="4320">
              <a:solidFill>
                <a:schemeClr val="lt1"/>
              </a:solidFill>
              <a:latin typeface="Proxima Nova Extrabold"/>
              <a:ea typeface="Proxima Nova Extrabold"/>
              <a:cs typeface="Proxima Nova Extrabold"/>
              <a:sym typeface="Proxima Nova Extrabold"/>
            </a:endParaRPr>
          </a:p>
        </p:txBody>
      </p:sp>
      <p:pic>
        <p:nvPicPr>
          <p:cNvPr id="627" name="Google Shape;627;p82"/>
          <p:cNvPicPr preferRelativeResize="0"/>
          <p:nvPr/>
        </p:nvPicPr>
        <p:blipFill>
          <a:blip r:embed="rId3">
            <a:alphaModFix/>
          </a:blip>
          <a:stretch>
            <a:fillRect/>
          </a:stretch>
        </p:blipFill>
        <p:spPr>
          <a:xfrm>
            <a:off x="6825850" y="3988125"/>
            <a:ext cx="1897875" cy="446925"/>
          </a:xfrm>
          <a:prstGeom prst="rect">
            <a:avLst/>
          </a:prstGeom>
          <a:noFill/>
          <a:ln>
            <a:noFill/>
          </a:ln>
        </p:spPr>
      </p:pic>
      <p:pic>
        <p:nvPicPr>
          <p:cNvPr id="628" name="Google Shape;628;p82"/>
          <p:cNvPicPr preferRelativeResize="0"/>
          <p:nvPr/>
        </p:nvPicPr>
        <p:blipFill>
          <a:blip r:embed="rId4">
            <a:alphaModFix/>
          </a:blip>
          <a:stretch>
            <a:fillRect/>
          </a:stretch>
        </p:blipFill>
        <p:spPr>
          <a:xfrm rot="3020700">
            <a:off x="381281" y="-4029789"/>
            <a:ext cx="4595790" cy="9247453"/>
          </a:xfrm>
          <a:prstGeom prst="rect">
            <a:avLst/>
          </a:prstGeom>
          <a:noFill/>
          <a:ln>
            <a:noFill/>
          </a:ln>
        </p:spPr>
      </p:pic>
      <p:sp>
        <p:nvSpPr>
          <p:cNvPr id="629" name="Google Shape;629;p82"/>
          <p:cNvSpPr txBox="1"/>
          <p:nvPr/>
        </p:nvSpPr>
        <p:spPr>
          <a:xfrm>
            <a:off x="366475" y="4251950"/>
            <a:ext cx="453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www.propellic.com</a:t>
            </a:r>
            <a:endParaRPr>
              <a:solidFill>
                <a:schemeClr val="lt1"/>
              </a:solidFill>
              <a:latin typeface="Proxima Nova"/>
              <a:ea typeface="Proxima Nova"/>
              <a:cs typeface="Proxima Nova"/>
              <a:sym typeface="Proxima Nov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633" name="Shape 633"/>
        <p:cNvGrpSpPr/>
        <p:nvPr/>
      </p:nvGrpSpPr>
      <p:grpSpPr>
        <a:xfrm>
          <a:off x="0" y="0"/>
          <a:ext cx="0" cy="0"/>
          <a:chOff x="0" y="0"/>
          <a:chExt cx="0" cy="0"/>
        </a:xfrm>
      </p:grpSpPr>
      <p:pic>
        <p:nvPicPr>
          <p:cNvPr id="634" name="Google Shape;634;p83"/>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635" name="Google Shape;635;p83"/>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83"/>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637" name="Google Shape;637;p83"/>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638" name="Google Shape;638;p83"/>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639" name="Google Shape;639;p83"/>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Tours, Activities &amp; Attractions</a:t>
            </a:r>
            <a:endParaRPr sz="1600">
              <a:solidFill>
                <a:srgbClr val="E21A6B"/>
              </a:solidFill>
              <a:latin typeface="Proxima Nova"/>
              <a:ea typeface="Proxima Nova"/>
              <a:cs typeface="Proxima Nova"/>
              <a:sym typeface="Proxima Nova"/>
            </a:endParaRPr>
          </a:p>
        </p:txBody>
      </p:sp>
      <p:graphicFrame>
        <p:nvGraphicFramePr>
          <p:cNvPr id="640" name="Google Shape;640;p83"/>
          <p:cNvGraphicFramePr/>
          <p:nvPr/>
        </p:nvGraphicFramePr>
        <p:xfrm>
          <a:off x="4205638" y="929363"/>
          <a:ext cx="3000000" cy="3000000"/>
        </p:xfrm>
        <a:graphic>
          <a:graphicData uri="http://schemas.openxmlformats.org/drawingml/2006/table">
            <a:tbl>
              <a:tblPr>
                <a:noFill/>
                <a:tableStyleId>{F4E0A997-E762-483F-9531-3197180D424E}</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
                                        </p:tgtEl>
                                        <p:attrNameLst>
                                          <p:attrName>style.visibility</p:attrName>
                                        </p:attrNameLst>
                                      </p:cBhvr>
                                      <p:to>
                                        <p:strVal val="visible"/>
                                      </p:to>
                                    </p:set>
                                    <p:animEffect filter="fade" transition="in">
                                      <p:cBhvr>
                                        <p:cTn dur="1000"/>
                                        <p:tgtEl>
                                          <p:spTgt spid="6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WEBRIS Them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