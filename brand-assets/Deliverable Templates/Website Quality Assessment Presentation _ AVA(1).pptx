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 id="214748369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Roboto Slab Light"/>
      <p:regular r:id="rId25"/>
      <p:bold r:id="rId26"/>
    </p:embeddedFont>
    <p:embeddedFont>
      <p:font typeface="Roboto Slab"/>
      <p:regular r:id="rId27"/>
      <p:bold r:id="rId28"/>
    </p:embeddedFont>
    <p:embeddedFont>
      <p:font typeface="Roboto"/>
      <p:regular r:id="rId29"/>
      <p:bold r:id="rId30"/>
      <p:italic r:id="rId31"/>
      <p:boldItalic r:id="rId32"/>
    </p:embeddedFont>
    <p:embeddedFont>
      <p:font typeface="Proxima Nova"/>
      <p:regular r:id="rId33"/>
      <p:bold r:id="rId34"/>
      <p:italic r:id="rId35"/>
      <p:boldItalic r:id="rId36"/>
    </p:embeddedFont>
    <p:embeddedFont>
      <p:font typeface="Poppins"/>
      <p:regular r:id="rId37"/>
      <p:bold r:id="rId38"/>
      <p:italic r:id="rId39"/>
      <p:boldItalic r:id="rId40"/>
    </p:embeddedFont>
    <p:embeddedFont>
      <p:font typeface="Varela Round"/>
      <p:regular r:id="rId41"/>
    </p:embeddedFont>
    <p:embeddedFont>
      <p:font typeface="Proxima Nova Extrabold"/>
      <p:bold r:id="rId42"/>
    </p:embeddedFont>
    <p:embeddedFont>
      <p:font typeface="Roboto Light"/>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53F70E-ACAF-4CC4-84DF-E9586A898B6C}">
  <a:tblStyle styleId="{0753F70E-ACAF-4CC4-84DF-E9586A898B6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566A942-AB0C-4801-8418-0B4C0523B595}"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oppins-boldItalic.fntdata"/><Relationship Id="rId20" Type="http://schemas.openxmlformats.org/officeDocument/2006/relationships/slide" Target="slides/slide13.xml"/><Relationship Id="rId42" Type="http://schemas.openxmlformats.org/officeDocument/2006/relationships/font" Target="fonts/ProximaNovaExtrabold-bold.fntdata"/><Relationship Id="rId41" Type="http://schemas.openxmlformats.org/officeDocument/2006/relationships/font" Target="fonts/VarelaRound-regular.fntdata"/><Relationship Id="rId22" Type="http://schemas.openxmlformats.org/officeDocument/2006/relationships/slide" Target="slides/slide15.xml"/><Relationship Id="rId44" Type="http://schemas.openxmlformats.org/officeDocument/2006/relationships/font" Target="fonts/RobotoLight-bold.fntdata"/><Relationship Id="rId21" Type="http://schemas.openxmlformats.org/officeDocument/2006/relationships/slide" Target="slides/slide14.xml"/><Relationship Id="rId43" Type="http://schemas.openxmlformats.org/officeDocument/2006/relationships/font" Target="fonts/RobotoLight-regular.fntdata"/><Relationship Id="rId24" Type="http://schemas.openxmlformats.org/officeDocument/2006/relationships/slide" Target="slides/slide17.xml"/><Relationship Id="rId46" Type="http://schemas.openxmlformats.org/officeDocument/2006/relationships/font" Target="fonts/RobotoLight-boldItalic.fntdata"/><Relationship Id="rId23" Type="http://schemas.openxmlformats.org/officeDocument/2006/relationships/slide" Target="slides/slide16.xml"/><Relationship Id="rId45" Type="http://schemas.openxmlformats.org/officeDocument/2006/relationships/font" Target="fonts/RobotoLight-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RobotoSlabLight-bold.fntdata"/><Relationship Id="rId25" Type="http://schemas.openxmlformats.org/officeDocument/2006/relationships/font" Target="fonts/RobotoSlabLight-regular.fntdata"/><Relationship Id="rId28" Type="http://schemas.openxmlformats.org/officeDocument/2006/relationships/font" Target="fonts/RobotoSlab-bold.fntdata"/><Relationship Id="rId27" Type="http://schemas.openxmlformats.org/officeDocument/2006/relationships/font" Target="fonts/RobotoSlab-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Roboto-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4.xml"/><Relationship Id="rId33" Type="http://schemas.openxmlformats.org/officeDocument/2006/relationships/font" Target="fonts/ProximaNova-regular.fntdata"/><Relationship Id="rId10" Type="http://schemas.openxmlformats.org/officeDocument/2006/relationships/slide" Target="slides/slide3.xml"/><Relationship Id="rId32" Type="http://schemas.openxmlformats.org/officeDocument/2006/relationships/font" Target="fonts/Roboto-boldItalic.fntdata"/><Relationship Id="rId13" Type="http://schemas.openxmlformats.org/officeDocument/2006/relationships/slide" Target="slides/slide6.xml"/><Relationship Id="rId35" Type="http://schemas.openxmlformats.org/officeDocument/2006/relationships/font" Target="fonts/ProximaNova-italic.fntdata"/><Relationship Id="rId12" Type="http://schemas.openxmlformats.org/officeDocument/2006/relationships/slide" Target="slides/slide5.xml"/><Relationship Id="rId34" Type="http://schemas.openxmlformats.org/officeDocument/2006/relationships/font" Target="fonts/ProximaNova-bold.fntdata"/><Relationship Id="rId15" Type="http://schemas.openxmlformats.org/officeDocument/2006/relationships/slide" Target="slides/slide8.xml"/><Relationship Id="rId37" Type="http://schemas.openxmlformats.org/officeDocument/2006/relationships/font" Target="fonts/Poppins-regular.fntdata"/><Relationship Id="rId14" Type="http://schemas.openxmlformats.org/officeDocument/2006/relationships/slide" Target="slides/slide7.xml"/><Relationship Id="rId36" Type="http://schemas.openxmlformats.org/officeDocument/2006/relationships/font" Target="fonts/ProximaNova-boldItalic.fntdata"/><Relationship Id="rId17" Type="http://schemas.openxmlformats.org/officeDocument/2006/relationships/slide" Target="slides/slide10.xml"/><Relationship Id="rId39" Type="http://schemas.openxmlformats.org/officeDocument/2006/relationships/font" Target="fonts/Poppins-italic.fntdata"/><Relationship Id="rId16" Type="http://schemas.openxmlformats.org/officeDocument/2006/relationships/slide" Target="slides/slide9.xml"/><Relationship Id="rId38" Type="http://schemas.openxmlformats.org/officeDocument/2006/relationships/font" Target="fonts/Poppins-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iVwRSLuiEbiB7qZ2mO2fu30A41cHCz05LZ4_o6Cs1mk/edit?gid=1618588231#gid=1618588231"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iVwRSLuiEbiB7qZ2mO2fu30A41cHCz05LZ4_o6Cs1mk/edit?gid=1975750220#gid=1975750220"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iVwRSLuiEbiB7qZ2mO2fu30A41cHCz05LZ4_o6Cs1mk/edit?gid=1307378891#gid=1307378891"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iVwRSLuiEbiB7qZ2mO2fu30A41cHCz05LZ4_o6Cs1mk/edit?gid=92554350#gid=92554350"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iVwRSLuiEbiB7qZ2mO2fu30A41cHCz05LZ4_o6Cs1mk/edit?gid=1065132173#gid=1065132173" TargetMode="External"/><Relationship Id="rId3" Type="http://schemas.openxmlformats.org/officeDocument/2006/relationships/hyperlink" Target="https://docs.google.com/spreadsheets/d/1iVwRSLuiEbiB7qZ2mO2fu30A41cHCz05LZ4_o6Cs1mk/edit?gid=1611787336#gid=1611787336"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iVwRSLuiEbiB7qZ2mO2fu30A41cHCz05LZ4_o6Cs1mk/edit?gid=1428278599#gid=1428278599"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b4493eaa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3b4493eaa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b4493ea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b4493ea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3b4493eaa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3b4493eaa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3b4493eaa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3b4493eaa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SLIDES_API131590407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SLIDES_API131590407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Tours, Activities &amp; Attractions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3b6442f6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3b6442f6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41615818f2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41615818f2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https://docs.google.com/spreadsheets/d/1iVwRSLuiEbiB7qZ2mO2fu30A41cHCz05LZ4_o6Cs1mk/edit?gid=1618588231#gid=1618588231</a:t>
            </a: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4339c09ea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4339c09ea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https://docs.google.com/spreadsheets/d/1iVwRSLuiEbiB7qZ2mO2fu30A41cHCz05LZ4_o6Cs1mk/edit?gid=1975750220#gid=1975750220</a:t>
            </a:r>
            <a:r>
              <a:rPr lang="en"/>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4339c09ea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4339c09ea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https://docs.google.com/spreadsheets/d/1iVwRSLuiEbiB7qZ2mO2fu30A41cHCz05LZ4_o6Cs1mk/edit?gid=1307378891#gid=1307378891</a:t>
            </a:r>
            <a:r>
              <a:rPr lang="en"/>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41615818f2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41615818f2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https://docs.google.com/spreadsheets/d/1iVwRSLuiEbiB7qZ2mO2fu30A41cHCz05LZ4_o6Cs1mk/edit?gid=92554350#gid=92554350</a:t>
            </a:r>
            <a:r>
              <a:rPr lang="en"/>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4339c09ea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4339c09ea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Revenue by Category Bar Chart: </a:t>
            </a:r>
            <a:r>
              <a:rPr lang="en" u="sng">
                <a:solidFill>
                  <a:schemeClr val="hlink"/>
                </a:solidFill>
                <a:hlinkClick r:id="rId2"/>
              </a:rPr>
              <a:t>https://docs.google.com/spreadsheets/d/1iVwRSLuiEbiB7qZ2mO2fu30A41cHCz05LZ4_o6Cs1mk/edit?gid=1065132173#gid=1065132173</a:t>
            </a:r>
            <a:r>
              <a:rPr lang="en"/>
              <a:t> </a:t>
            </a:r>
            <a:endParaRPr/>
          </a:p>
          <a:p>
            <a:pPr indent="0" lvl="0" marL="0" rtl="0" algn="l">
              <a:spcBef>
                <a:spcPts val="0"/>
              </a:spcBef>
              <a:spcAft>
                <a:spcPts val="0"/>
              </a:spcAft>
              <a:buNone/>
            </a:pPr>
            <a:r>
              <a:rPr lang="en"/>
              <a:t>Link to Top 5 Pages by Revenue Table: </a:t>
            </a:r>
            <a:r>
              <a:rPr lang="en" u="sng">
                <a:solidFill>
                  <a:schemeClr val="hlink"/>
                </a:solidFill>
                <a:hlinkClick r:id="rId3"/>
              </a:rPr>
              <a:t>https://docs.google.com/spreadsheets/d/1iVwRSLuiEbiB7qZ2mO2fu30A41cHCz05LZ4_o6Cs1mk/edit?gid=1611787336#gid=1611787336</a:t>
            </a:r>
            <a:r>
              <a:rPr lang="en"/>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477ebbe8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477ebbe8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 of Pages Driving Revenue by Category Bar Chart: </a:t>
            </a:r>
            <a:r>
              <a:rPr lang="en" u="sng">
                <a:solidFill>
                  <a:schemeClr val="hlink"/>
                </a:solidFill>
                <a:hlinkClick r:id="rId2"/>
              </a:rPr>
              <a:t>https://docs.google.com/spreadsheets/d/1iVwRSLuiEbiB7qZ2mO2fu30A41cHCz05LZ4_o6Cs1mk/edit?gid=1428278599#gid=1428278599</a:t>
            </a:r>
            <a:r>
              <a:rPr lang="en"/>
              <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13b6442f6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13b6442f6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596c8478c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596c8478c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596c8478c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596c8478c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596c8478c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596c8478c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3b6442f6a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13b6442f6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52375" y="2435825"/>
            <a:ext cx="4659000" cy="1610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73763"/>
              </a:buClr>
              <a:buSzPts val="3600"/>
              <a:buFont typeface="Roboto Slab"/>
              <a:buNone/>
              <a:defRPr sz="3600">
                <a:solidFill>
                  <a:srgbClr val="073763"/>
                </a:solidFill>
                <a:latin typeface="Roboto Slab"/>
                <a:ea typeface="Roboto Slab"/>
                <a:cs typeface="Roboto Slab"/>
                <a:sym typeface="Roboto Slab"/>
              </a:defRPr>
            </a:lvl1pPr>
            <a:lvl2pPr lvl="1"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2pPr>
            <a:lvl3pPr lvl="2"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3pPr>
            <a:lvl4pPr lvl="3"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4pPr>
            <a:lvl5pPr lvl="4"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5pPr>
            <a:lvl6pPr lvl="5"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6pPr>
            <a:lvl7pPr lvl="6"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7pPr>
            <a:lvl8pPr lvl="7"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8pPr>
            <a:lvl9pPr lvl="8"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9pPr>
          </a:lstStyle>
          <a:p/>
        </p:txBody>
      </p:sp>
      <p:sp>
        <p:nvSpPr>
          <p:cNvPr id="11" name="Google Shape;11;p2"/>
          <p:cNvSpPr/>
          <p:nvPr/>
        </p:nvSpPr>
        <p:spPr>
          <a:xfrm>
            <a:off x="-8100" y="4238450"/>
            <a:ext cx="9160200" cy="9153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idx="1" type="subTitle"/>
          </p:nvPr>
        </p:nvSpPr>
        <p:spPr>
          <a:xfrm>
            <a:off x="31170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pic>
        <p:nvPicPr>
          <p:cNvPr id="13" name="Google Shape;13;p2"/>
          <p:cNvPicPr preferRelativeResize="0"/>
          <p:nvPr/>
        </p:nvPicPr>
        <p:blipFill>
          <a:blip r:embed="rId2">
            <a:alphaModFix/>
          </a:blip>
          <a:stretch>
            <a:fillRect/>
          </a:stretch>
        </p:blipFill>
        <p:spPr>
          <a:xfrm>
            <a:off x="462650" y="250076"/>
            <a:ext cx="2852902" cy="551300"/>
          </a:xfrm>
          <a:prstGeom prst="rect">
            <a:avLst/>
          </a:prstGeom>
          <a:noFill/>
          <a:ln>
            <a:noFill/>
          </a:ln>
        </p:spPr>
      </p:pic>
      <p:sp>
        <p:nvSpPr>
          <p:cNvPr id="14" name="Google Shape;14;p2"/>
          <p:cNvSpPr txBox="1"/>
          <p:nvPr>
            <p:ph idx="2" type="subTitle"/>
          </p:nvPr>
        </p:nvSpPr>
        <p:spPr>
          <a:xfrm>
            <a:off x="525575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15" name="Google Shape;15;p2"/>
          <p:cNvSpPr/>
          <p:nvPr/>
        </p:nvSpPr>
        <p:spPr>
          <a:xfrm>
            <a:off x="-8100" y="4238450"/>
            <a:ext cx="22275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19275" y="4238438"/>
            <a:ext cx="22782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497575" y="4238450"/>
            <a:ext cx="2241900" cy="73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39575" y="4238450"/>
            <a:ext cx="24045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 name="Google Shape;21;p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p:nvPr/>
        </p:nvSpPr>
        <p:spPr>
          <a:xfrm>
            <a:off x="0" y="626375"/>
            <a:ext cx="91440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6" name="Shape 26"/>
        <p:cNvGrpSpPr/>
        <p:nvPr/>
      </p:nvGrpSpPr>
      <p:grpSpPr>
        <a:xfrm>
          <a:off x="0" y="0"/>
          <a:ext cx="0" cy="0"/>
          <a:chOff x="0" y="0"/>
          <a:chExt cx="0" cy="0"/>
        </a:xfrm>
      </p:grpSpPr>
      <p:sp>
        <p:nvSpPr>
          <p:cNvPr id="27" name="Google Shape;27;p4"/>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4"/>
          <p:cNvSpPr/>
          <p:nvPr/>
        </p:nvSpPr>
        <p:spPr>
          <a:xfrm>
            <a:off x="0" y="626375"/>
            <a:ext cx="91440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1">
    <p:spTree>
      <p:nvGrpSpPr>
        <p:cNvPr id="33" name="Shape 33"/>
        <p:cNvGrpSpPr/>
        <p:nvPr/>
      </p:nvGrpSpPr>
      <p:grpSpPr>
        <a:xfrm>
          <a:off x="0" y="0"/>
          <a:ext cx="0" cy="0"/>
          <a:chOff x="0" y="0"/>
          <a:chExt cx="0" cy="0"/>
        </a:xfrm>
      </p:grpSpPr>
      <p:sp>
        <p:nvSpPr>
          <p:cNvPr id="34" name="Google Shape;34;p5"/>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p:nvPr/>
        </p:nvSpPr>
        <p:spPr>
          <a:xfrm>
            <a:off x="0" y="626375"/>
            <a:ext cx="9144000" cy="73200"/>
          </a:xfrm>
          <a:prstGeom prst="rect">
            <a:avLst/>
          </a:prstGeom>
          <a:solidFill>
            <a:srgbClr val="A61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1">
  <p:cSld name="TITLE_AND_BODY_2_1_1">
    <p:spTree>
      <p:nvGrpSpPr>
        <p:cNvPr id="40" name="Shape 40"/>
        <p:cNvGrpSpPr/>
        <p:nvPr/>
      </p:nvGrpSpPr>
      <p:grpSpPr>
        <a:xfrm>
          <a:off x="0" y="0"/>
          <a:ext cx="0" cy="0"/>
          <a:chOff x="0" y="0"/>
          <a:chExt cx="0" cy="0"/>
        </a:xfrm>
      </p:grpSpPr>
      <p:sp>
        <p:nvSpPr>
          <p:cNvPr id="41" name="Google Shape;41;p6"/>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6"/>
          <p:cNvSpPr/>
          <p:nvPr/>
        </p:nvSpPr>
        <p:spPr>
          <a:xfrm>
            <a:off x="0" y="626375"/>
            <a:ext cx="91440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8" name="Shape 48"/>
        <p:cNvGrpSpPr/>
        <p:nvPr/>
      </p:nvGrpSpPr>
      <p:grpSpPr>
        <a:xfrm>
          <a:off x="0" y="0"/>
          <a:ext cx="0" cy="0"/>
          <a:chOff x="0" y="0"/>
          <a:chExt cx="0" cy="0"/>
        </a:xfrm>
      </p:grpSpPr>
      <p:sp>
        <p:nvSpPr>
          <p:cNvPr id="49" name="Google Shape;49;p8"/>
          <p:cNvSpPr/>
          <p:nvPr/>
        </p:nvSpPr>
        <p:spPr>
          <a:xfrm>
            <a:off x="1643325" y="667100"/>
            <a:ext cx="5963100" cy="39537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nvSpPr>
        <p:spPr>
          <a:xfrm>
            <a:off x="2025675" y="935550"/>
            <a:ext cx="52554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Text goes here.</a:t>
            </a:r>
            <a:endParaRPr>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 name="Google Shape;54;p9"/>
          <p:cNvSpPr txBox="1"/>
          <p:nvPr>
            <p:ph idx="1" type="subTitle"/>
          </p:nvPr>
        </p:nvSpPr>
        <p:spPr>
          <a:xfrm>
            <a:off x="265500" y="175400"/>
            <a:ext cx="40452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73763"/>
              </a:buClr>
              <a:buSzPts val="2100"/>
              <a:buFont typeface="Roboto Slab"/>
              <a:buNone/>
              <a:defRPr sz="2100">
                <a:solidFill>
                  <a:srgbClr val="073763"/>
                </a:solidFill>
                <a:latin typeface="Roboto Slab"/>
                <a:ea typeface="Roboto Slab"/>
                <a:cs typeface="Roboto Slab"/>
                <a:sym typeface="Roboto Slab"/>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rgbClr val="FFFFFF"/>
              </a:buClr>
              <a:buSzPts val="1400"/>
              <a:buFont typeface="Roboto"/>
              <a:buChar char="●"/>
              <a:defRPr sz="1400">
                <a:solidFill>
                  <a:srgbClr val="FFFFFF"/>
                </a:solidFill>
                <a:latin typeface="Roboto"/>
                <a:ea typeface="Roboto"/>
                <a:cs typeface="Roboto"/>
                <a:sym typeface="Roboto"/>
              </a:defRPr>
            </a:lvl1pPr>
            <a:lvl2pPr indent="-317500" lvl="1" marL="914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indent="-317500" lvl="2" marL="1371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indent="-317500" lvl="3" marL="18288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indent="-317500" lvl="4" marL="22860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indent="-317500" lvl="5" marL="27432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indent="-317500" lvl="6" marL="3200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indent="-317500" lvl="7" marL="3657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indent="-317500" lvl="8" marL="4114800" rtl="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Varela Round"/>
              <a:buNone/>
              <a:defRPr sz="3600">
                <a:latin typeface="Varela Round"/>
                <a:ea typeface="Varela Round"/>
                <a:cs typeface="Varela Round"/>
                <a:sym typeface="Varela Roun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sp>
        <p:nvSpPr>
          <p:cNvPr id="61" name="Google Shape;61;p11"/>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1"/>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64" name="Google Shape;64;p11"/>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67" name="Shape 67"/>
        <p:cNvGrpSpPr/>
        <p:nvPr/>
      </p:nvGrpSpPr>
      <p:grpSpPr>
        <a:xfrm>
          <a:off x="0" y="0"/>
          <a:ext cx="0" cy="0"/>
          <a:chOff x="0" y="0"/>
          <a:chExt cx="0" cy="0"/>
        </a:xfrm>
      </p:grpSpPr>
      <p:sp>
        <p:nvSpPr>
          <p:cNvPr id="68" name="Google Shape;68;p13"/>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9" name="Google Shape;69;p13"/>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0" name="Google Shape;70;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3"/>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72" name="Google Shape;72;p13"/>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400"/>
              <a:buNone/>
              <a:defRPr/>
            </a:lvl1pPr>
          </a:lstStyle>
          <a:p/>
        </p:txBody>
      </p:sp>
      <p:sp>
        <p:nvSpPr>
          <p:cNvPr id="75" name="Google Shape;7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6" name="Shape 76"/>
        <p:cNvGrpSpPr/>
        <p:nvPr/>
      </p:nvGrpSpPr>
      <p:grpSpPr>
        <a:xfrm>
          <a:off x="0" y="0"/>
          <a:ext cx="0" cy="0"/>
          <a:chOff x="0" y="0"/>
          <a:chExt cx="0" cy="0"/>
        </a:xfrm>
      </p:grpSpPr>
      <p:sp>
        <p:nvSpPr>
          <p:cNvPr id="77" name="Google Shape;77;p15"/>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0" name="Google Shape;80;p15"/>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1" name="Shape 81"/>
        <p:cNvGrpSpPr/>
        <p:nvPr/>
      </p:nvGrpSpPr>
      <p:grpSpPr>
        <a:xfrm>
          <a:off x="0" y="0"/>
          <a:ext cx="0" cy="0"/>
          <a:chOff x="0" y="0"/>
          <a:chExt cx="0" cy="0"/>
        </a:xfrm>
      </p:grpSpPr>
      <p:sp>
        <p:nvSpPr>
          <p:cNvPr id="82" name="Google Shape;82;p16"/>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16"/>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Font typeface="Roboto"/>
              <a:buNone/>
              <a:defRPr sz="4800">
                <a:latin typeface="Roboto"/>
                <a:ea typeface="Roboto"/>
                <a:cs typeface="Roboto"/>
                <a:sym typeface="Roboto"/>
              </a:defRPr>
            </a:lvl2pPr>
            <a:lvl3pPr lvl="2" rtl="0">
              <a:spcBef>
                <a:spcPts val="0"/>
              </a:spcBef>
              <a:spcAft>
                <a:spcPts val="0"/>
              </a:spcAft>
              <a:buSzPts val="4800"/>
              <a:buFont typeface="Roboto"/>
              <a:buNone/>
              <a:defRPr sz="4800">
                <a:latin typeface="Roboto"/>
                <a:ea typeface="Roboto"/>
                <a:cs typeface="Roboto"/>
                <a:sym typeface="Roboto"/>
              </a:defRPr>
            </a:lvl3pPr>
            <a:lvl4pPr lvl="3" rtl="0">
              <a:spcBef>
                <a:spcPts val="0"/>
              </a:spcBef>
              <a:spcAft>
                <a:spcPts val="0"/>
              </a:spcAft>
              <a:buSzPts val="4800"/>
              <a:buFont typeface="Roboto"/>
              <a:buNone/>
              <a:defRPr sz="4800">
                <a:latin typeface="Roboto"/>
                <a:ea typeface="Roboto"/>
                <a:cs typeface="Roboto"/>
                <a:sym typeface="Roboto"/>
              </a:defRPr>
            </a:lvl4pPr>
            <a:lvl5pPr lvl="4" rtl="0">
              <a:spcBef>
                <a:spcPts val="0"/>
              </a:spcBef>
              <a:spcAft>
                <a:spcPts val="0"/>
              </a:spcAft>
              <a:buSzPts val="4800"/>
              <a:buFont typeface="Roboto"/>
              <a:buNone/>
              <a:defRPr sz="4800">
                <a:latin typeface="Roboto"/>
                <a:ea typeface="Roboto"/>
                <a:cs typeface="Roboto"/>
                <a:sym typeface="Roboto"/>
              </a:defRPr>
            </a:lvl5pPr>
            <a:lvl6pPr lvl="5" rtl="0">
              <a:spcBef>
                <a:spcPts val="0"/>
              </a:spcBef>
              <a:spcAft>
                <a:spcPts val="0"/>
              </a:spcAft>
              <a:buSzPts val="4800"/>
              <a:buFont typeface="Roboto"/>
              <a:buNone/>
              <a:defRPr sz="4800">
                <a:latin typeface="Roboto"/>
                <a:ea typeface="Roboto"/>
                <a:cs typeface="Roboto"/>
                <a:sym typeface="Roboto"/>
              </a:defRPr>
            </a:lvl6pPr>
            <a:lvl7pPr lvl="6" rtl="0">
              <a:spcBef>
                <a:spcPts val="0"/>
              </a:spcBef>
              <a:spcAft>
                <a:spcPts val="0"/>
              </a:spcAft>
              <a:buSzPts val="4800"/>
              <a:buFont typeface="Roboto"/>
              <a:buNone/>
              <a:defRPr sz="4800">
                <a:latin typeface="Roboto"/>
                <a:ea typeface="Roboto"/>
                <a:cs typeface="Roboto"/>
                <a:sym typeface="Roboto"/>
              </a:defRPr>
            </a:lvl7pPr>
            <a:lvl8pPr lvl="7" rtl="0">
              <a:spcBef>
                <a:spcPts val="0"/>
              </a:spcBef>
              <a:spcAft>
                <a:spcPts val="0"/>
              </a:spcAft>
              <a:buSzPts val="4800"/>
              <a:buFont typeface="Roboto"/>
              <a:buNone/>
              <a:defRPr sz="4800">
                <a:latin typeface="Roboto"/>
                <a:ea typeface="Roboto"/>
                <a:cs typeface="Roboto"/>
                <a:sym typeface="Roboto"/>
              </a:defRPr>
            </a:lvl8pPr>
            <a:lvl9pPr lvl="8" rtl="0">
              <a:spcBef>
                <a:spcPts val="0"/>
              </a:spcBef>
              <a:spcAft>
                <a:spcPts val="0"/>
              </a:spcAft>
              <a:buSzPts val="4800"/>
              <a:buFont typeface="Roboto"/>
              <a:buNone/>
              <a:defRPr sz="4800">
                <a:latin typeface="Roboto"/>
                <a:ea typeface="Roboto"/>
                <a:cs typeface="Roboto"/>
                <a:sym typeface="Roboto"/>
              </a:defRPr>
            </a:lvl9pPr>
          </a:lstStyle>
          <a:p/>
        </p:txBody>
      </p:sp>
      <p:sp>
        <p:nvSpPr>
          <p:cNvPr id="88" name="Google Shape;88;p17"/>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91" name="Google Shape;91;p17"/>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2" name="Shape 92"/>
        <p:cNvGrpSpPr/>
        <p:nvPr/>
      </p:nvGrpSpPr>
      <p:grpSpPr>
        <a:xfrm>
          <a:off x="0" y="0"/>
          <a:ext cx="0" cy="0"/>
          <a:chOff x="0" y="0"/>
          <a:chExt cx="0" cy="0"/>
        </a:xfrm>
      </p:grpSpPr>
      <p:sp>
        <p:nvSpPr>
          <p:cNvPr id="93" name="Google Shape;93;p18"/>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1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8"/>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9" name="Google Shape;99;p19"/>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02" name="Google Shape;102;p19"/>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6">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0"/>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7" name="Google Shape;107;p20"/>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0" name="Google Shape;110;p21"/>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1"/>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13" name="Google Shape;113;p21"/>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7">
  <p:cSld name="TITLE_AND_BODY_7">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18" name="Google Shape;118;p22"/>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6" name="Google Shape;136;p2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7" name="Google Shape;137;p2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8" name="Google Shape;13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1" name="Google Shape;14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4" name="Google Shape;144;p2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3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3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3" name="Google Shape;153;p3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4" name="Google Shape;15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57" name="Google Shape;15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3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8" name="Shape 168"/>
        <p:cNvGrpSpPr/>
        <p:nvPr/>
      </p:nvGrpSpPr>
      <p:grpSpPr>
        <a:xfrm>
          <a:off x="0" y="0"/>
          <a:ext cx="0" cy="0"/>
          <a:chOff x="0" y="0"/>
          <a:chExt cx="0" cy="0"/>
        </a:xfrm>
      </p:grpSpPr>
      <p:sp>
        <p:nvSpPr>
          <p:cNvPr id="169" name="Google Shape;169;p3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0" name="Google Shape;170;p3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1" name="Google Shape;171;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4" name="Google Shape;174;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5" name="Shape 175"/>
        <p:cNvGrpSpPr/>
        <p:nvPr/>
      </p:nvGrpSpPr>
      <p:grpSpPr>
        <a:xfrm>
          <a:off x="0" y="0"/>
          <a:ext cx="0" cy="0"/>
          <a:chOff x="0" y="0"/>
          <a:chExt cx="0" cy="0"/>
        </a:xfrm>
      </p:grpSpPr>
      <p:sp>
        <p:nvSpPr>
          <p:cNvPr id="176" name="Google Shape;17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7" name="Google Shape;177;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78" name="Google Shape;178;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9" name="Shape 179"/>
        <p:cNvGrpSpPr/>
        <p:nvPr/>
      </p:nvGrpSpPr>
      <p:grpSpPr>
        <a:xfrm>
          <a:off x="0" y="0"/>
          <a:ext cx="0" cy="0"/>
          <a:chOff x="0" y="0"/>
          <a:chExt cx="0" cy="0"/>
        </a:xfrm>
      </p:grpSpPr>
      <p:sp>
        <p:nvSpPr>
          <p:cNvPr id="180" name="Google Shape;180;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1" name="Google Shape;181;p3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2" name="Google Shape;182;p3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3" name="Google Shape;183;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6" name="Google Shape;186;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7" name="Shape 187"/>
        <p:cNvGrpSpPr/>
        <p:nvPr/>
      </p:nvGrpSpPr>
      <p:grpSpPr>
        <a:xfrm>
          <a:off x="0" y="0"/>
          <a:ext cx="0" cy="0"/>
          <a:chOff x="0" y="0"/>
          <a:chExt cx="0" cy="0"/>
        </a:xfrm>
      </p:grpSpPr>
      <p:sp>
        <p:nvSpPr>
          <p:cNvPr id="188" name="Google Shape;188;p4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89" name="Google Shape;189;p4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90" name="Google Shape;190;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1" name="Shape 191"/>
        <p:cNvGrpSpPr/>
        <p:nvPr/>
      </p:nvGrpSpPr>
      <p:grpSpPr>
        <a:xfrm>
          <a:off x="0" y="0"/>
          <a:ext cx="0" cy="0"/>
          <a:chOff x="0" y="0"/>
          <a:chExt cx="0" cy="0"/>
        </a:xfrm>
      </p:grpSpPr>
      <p:sp>
        <p:nvSpPr>
          <p:cNvPr id="192" name="Google Shape;192;p4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93" name="Google Shape;193;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4" name="Shape 194"/>
        <p:cNvGrpSpPr/>
        <p:nvPr/>
      </p:nvGrpSpPr>
      <p:grpSpPr>
        <a:xfrm>
          <a:off x="0" y="0"/>
          <a:ext cx="0" cy="0"/>
          <a:chOff x="0" y="0"/>
          <a:chExt cx="0" cy="0"/>
        </a:xfrm>
      </p:grpSpPr>
      <p:sp>
        <p:nvSpPr>
          <p:cNvPr id="195" name="Google Shape;195;p4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97" name="Google Shape;197;p4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98" name="Google Shape;198;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9" name="Google Shape;199;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0" name="Shape 200"/>
        <p:cNvGrpSpPr/>
        <p:nvPr/>
      </p:nvGrpSpPr>
      <p:grpSpPr>
        <a:xfrm>
          <a:off x="0" y="0"/>
          <a:ext cx="0" cy="0"/>
          <a:chOff x="0" y="0"/>
          <a:chExt cx="0" cy="0"/>
        </a:xfrm>
      </p:grpSpPr>
      <p:sp>
        <p:nvSpPr>
          <p:cNvPr id="201" name="Google Shape;201;p4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202" name="Google Shape;202;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03" name="Shape 203"/>
        <p:cNvGrpSpPr/>
        <p:nvPr/>
      </p:nvGrpSpPr>
      <p:grpSpPr>
        <a:xfrm>
          <a:off x="0" y="0"/>
          <a:ext cx="0" cy="0"/>
          <a:chOff x="0" y="0"/>
          <a:chExt cx="0" cy="0"/>
        </a:xfrm>
      </p:grpSpPr>
      <p:sp>
        <p:nvSpPr>
          <p:cNvPr id="204" name="Google Shape;204;p4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05" name="Google Shape;205;p4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206" name="Google Shape;206;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7" name="Shape 207"/>
        <p:cNvGrpSpPr/>
        <p:nvPr/>
      </p:nvGrpSpPr>
      <p:grpSpPr>
        <a:xfrm>
          <a:off x="0" y="0"/>
          <a:ext cx="0" cy="0"/>
          <a:chOff x="0" y="0"/>
          <a:chExt cx="0" cy="0"/>
        </a:xfrm>
      </p:grpSpPr>
      <p:sp>
        <p:nvSpPr>
          <p:cNvPr id="208" name="Google Shape;208;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209" name="Shape 209"/>
        <p:cNvGrpSpPr/>
        <p:nvPr/>
      </p:nvGrpSpPr>
      <p:grpSpPr>
        <a:xfrm>
          <a:off x="0" y="0"/>
          <a:ext cx="0" cy="0"/>
          <a:chOff x="0" y="0"/>
          <a:chExt cx="0" cy="0"/>
        </a:xfrm>
      </p:grpSpPr>
      <p:sp>
        <p:nvSpPr>
          <p:cNvPr id="210" name="Google Shape;210;p47"/>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7"/>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7"/>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7"/>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47"/>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7"/>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7"/>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7"/>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7"/>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7"/>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7"/>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7"/>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7"/>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7"/>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7"/>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7"/>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7"/>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7"/>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7"/>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7"/>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7"/>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7"/>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2" name="Google Shape;232;p47"/>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rgbClr val="434343"/>
              </a:buClr>
              <a:buSzPts val="4800"/>
              <a:buNone/>
              <a:defRPr sz="4800">
                <a:solidFill>
                  <a:srgbClr val="434343"/>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233" name="Shape 233"/>
        <p:cNvGrpSpPr/>
        <p:nvPr/>
      </p:nvGrpSpPr>
      <p:grpSpPr>
        <a:xfrm>
          <a:off x="0" y="0"/>
          <a:ext cx="0" cy="0"/>
          <a:chOff x="0" y="0"/>
          <a:chExt cx="0" cy="0"/>
        </a:xfrm>
      </p:grpSpPr>
      <p:sp>
        <p:nvSpPr>
          <p:cNvPr id="234" name="Google Shape;234;p48"/>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5" name="Google Shape;235;p48"/>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8"/>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8"/>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8"/>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8"/>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8"/>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8"/>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8"/>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8"/>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8"/>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8"/>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8"/>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8"/>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8"/>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8"/>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8"/>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8"/>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8"/>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8"/>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8"/>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8"/>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8"/>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7" name="Google Shape;257;p48"/>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434343"/>
              </a:buClr>
              <a:buSzPts val="1800"/>
              <a:buNone/>
              <a:defRPr sz="1800">
                <a:solidFill>
                  <a:srgbClr val="434343"/>
                </a:solidFill>
              </a:defRPr>
            </a:lvl1pPr>
            <a:lvl2pPr lvl="1" algn="ctr">
              <a:spcBef>
                <a:spcPts val="1600"/>
              </a:spcBef>
              <a:spcAft>
                <a:spcPts val="0"/>
              </a:spcAft>
              <a:buClr>
                <a:srgbClr val="434343"/>
              </a:buClr>
              <a:buSzPts val="1800"/>
              <a:buNone/>
              <a:defRPr sz="1800">
                <a:solidFill>
                  <a:srgbClr val="434343"/>
                </a:solidFill>
              </a:defRPr>
            </a:lvl2pPr>
            <a:lvl3pPr lvl="2" algn="ctr">
              <a:spcBef>
                <a:spcPts val="1600"/>
              </a:spcBef>
              <a:spcAft>
                <a:spcPts val="0"/>
              </a:spcAft>
              <a:buClr>
                <a:srgbClr val="434343"/>
              </a:buClr>
              <a:buSzPts val="1800"/>
              <a:buNone/>
              <a:defRPr sz="1800">
                <a:solidFill>
                  <a:srgbClr val="434343"/>
                </a:solidFill>
              </a:defRPr>
            </a:lvl3pPr>
            <a:lvl4pPr lvl="3" algn="ctr">
              <a:spcBef>
                <a:spcPts val="1600"/>
              </a:spcBef>
              <a:spcAft>
                <a:spcPts val="0"/>
              </a:spcAft>
              <a:buClr>
                <a:srgbClr val="434343"/>
              </a:buClr>
              <a:buSzPts val="1400"/>
              <a:buNone/>
              <a:defRPr>
                <a:solidFill>
                  <a:srgbClr val="434343"/>
                </a:solidFill>
              </a:defRPr>
            </a:lvl4pPr>
            <a:lvl5pPr lvl="4" algn="ctr">
              <a:spcBef>
                <a:spcPts val="1600"/>
              </a:spcBef>
              <a:spcAft>
                <a:spcPts val="0"/>
              </a:spcAft>
              <a:buClr>
                <a:srgbClr val="434343"/>
              </a:buClr>
              <a:buSzPts val="1400"/>
              <a:buNone/>
              <a:defRPr>
                <a:solidFill>
                  <a:srgbClr val="434343"/>
                </a:solidFill>
              </a:defRPr>
            </a:lvl5pPr>
            <a:lvl6pPr lvl="5" algn="ctr">
              <a:spcBef>
                <a:spcPts val="1600"/>
              </a:spcBef>
              <a:spcAft>
                <a:spcPts val="0"/>
              </a:spcAft>
              <a:buClr>
                <a:srgbClr val="434343"/>
              </a:buClr>
              <a:buSzPts val="1400"/>
              <a:buNone/>
              <a:defRPr>
                <a:solidFill>
                  <a:srgbClr val="434343"/>
                </a:solidFill>
              </a:defRPr>
            </a:lvl6pPr>
            <a:lvl7pPr lvl="6" algn="ctr">
              <a:spcBef>
                <a:spcPts val="1600"/>
              </a:spcBef>
              <a:spcAft>
                <a:spcPts val="0"/>
              </a:spcAft>
              <a:buClr>
                <a:srgbClr val="434343"/>
              </a:buClr>
              <a:buSzPts val="1400"/>
              <a:buNone/>
              <a:defRPr>
                <a:solidFill>
                  <a:srgbClr val="434343"/>
                </a:solidFill>
              </a:defRPr>
            </a:lvl7pPr>
            <a:lvl8pPr lvl="7" algn="ctr">
              <a:spcBef>
                <a:spcPts val="1600"/>
              </a:spcBef>
              <a:spcAft>
                <a:spcPts val="0"/>
              </a:spcAft>
              <a:buClr>
                <a:srgbClr val="434343"/>
              </a:buClr>
              <a:buSzPts val="1400"/>
              <a:buNone/>
              <a:defRPr>
                <a:solidFill>
                  <a:srgbClr val="434343"/>
                </a:solidFill>
              </a:defRPr>
            </a:lvl8pPr>
            <a:lvl9pPr lvl="8" algn="ctr">
              <a:spcBef>
                <a:spcPts val="1600"/>
              </a:spcBef>
              <a:spcAft>
                <a:spcPts val="1600"/>
              </a:spcAft>
              <a:buClr>
                <a:srgbClr val="434343"/>
              </a:buClr>
              <a:buSzPts val="1400"/>
              <a:buNone/>
              <a:defRPr>
                <a:solidFill>
                  <a:srgbClr val="434343"/>
                </a:solidFill>
              </a:defRPr>
            </a:lvl9pPr>
          </a:lstStyle>
          <a:p/>
        </p:txBody>
      </p:sp>
      <p:sp>
        <p:nvSpPr>
          <p:cNvPr id="258" name="Google Shape;258;p48"/>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260" name="Shape 260"/>
        <p:cNvGrpSpPr/>
        <p:nvPr/>
      </p:nvGrpSpPr>
      <p:grpSpPr>
        <a:xfrm>
          <a:off x="0" y="0"/>
          <a:ext cx="0" cy="0"/>
          <a:chOff x="0" y="0"/>
          <a:chExt cx="0" cy="0"/>
        </a:xfrm>
      </p:grpSpPr>
      <p:sp>
        <p:nvSpPr>
          <p:cNvPr id="261" name="Google Shape;261;p49"/>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algn="ctr">
              <a:spcBef>
                <a:spcPts val="0"/>
              </a:spcBef>
              <a:spcAft>
                <a:spcPts val="0"/>
              </a:spcAft>
              <a:buSzPts val="2400"/>
              <a:buChar char="●"/>
              <a:defRPr i="1" sz="2400"/>
            </a:lvl1pPr>
            <a:lvl2pPr indent="-317500" lvl="1" marL="914400" algn="ctr">
              <a:spcBef>
                <a:spcPts val="1600"/>
              </a:spcBef>
              <a:spcAft>
                <a:spcPts val="0"/>
              </a:spcAft>
              <a:buSzPts val="1400"/>
              <a:buChar char="○"/>
              <a:defRPr i="1"/>
            </a:lvl2pPr>
            <a:lvl3pPr indent="-317500" lvl="2" marL="1371600" algn="ctr">
              <a:spcBef>
                <a:spcPts val="1600"/>
              </a:spcBef>
              <a:spcAft>
                <a:spcPts val="0"/>
              </a:spcAft>
              <a:buSzPts val="1400"/>
              <a:buChar char="■"/>
              <a:defRPr i="1"/>
            </a:lvl3pPr>
            <a:lvl4pPr indent="-381000" lvl="3" marL="1828800" algn="ctr">
              <a:spcBef>
                <a:spcPts val="1600"/>
              </a:spcBef>
              <a:spcAft>
                <a:spcPts val="0"/>
              </a:spcAft>
              <a:buSzPts val="2400"/>
              <a:buChar char="●"/>
              <a:defRPr i="1" sz="2400"/>
            </a:lvl4pPr>
            <a:lvl5pPr indent="-381000" lvl="4" marL="2286000" algn="ctr">
              <a:spcBef>
                <a:spcPts val="1600"/>
              </a:spcBef>
              <a:spcAft>
                <a:spcPts val="0"/>
              </a:spcAft>
              <a:buSzPts val="2400"/>
              <a:buChar char="○"/>
              <a:defRPr i="1" sz="2400"/>
            </a:lvl5pPr>
            <a:lvl6pPr indent="-381000" lvl="5" marL="2743200" algn="ctr">
              <a:spcBef>
                <a:spcPts val="1600"/>
              </a:spcBef>
              <a:spcAft>
                <a:spcPts val="0"/>
              </a:spcAft>
              <a:buSzPts val="2400"/>
              <a:buChar char="■"/>
              <a:defRPr i="1" sz="2400"/>
            </a:lvl6pPr>
            <a:lvl7pPr indent="-381000" lvl="6" marL="3200400" algn="ctr">
              <a:spcBef>
                <a:spcPts val="1600"/>
              </a:spcBef>
              <a:spcAft>
                <a:spcPts val="0"/>
              </a:spcAft>
              <a:buSzPts val="2400"/>
              <a:buChar char="●"/>
              <a:defRPr i="1" sz="2400"/>
            </a:lvl7pPr>
            <a:lvl8pPr indent="-381000" lvl="7" marL="3657600" algn="ctr">
              <a:spcBef>
                <a:spcPts val="1600"/>
              </a:spcBef>
              <a:spcAft>
                <a:spcPts val="0"/>
              </a:spcAft>
              <a:buSzPts val="2400"/>
              <a:buChar char="○"/>
              <a:defRPr i="1" sz="2400"/>
            </a:lvl8pPr>
            <a:lvl9pPr indent="-381000" lvl="8" marL="4114800" algn="ctr">
              <a:spcBef>
                <a:spcPts val="1600"/>
              </a:spcBef>
              <a:spcAft>
                <a:spcPts val="1600"/>
              </a:spcAft>
              <a:buSzPts val="2400"/>
              <a:buChar char="■"/>
              <a:defRPr i="1" sz="2400"/>
            </a:lvl9pPr>
          </a:lstStyle>
          <a:p/>
        </p:txBody>
      </p:sp>
      <p:sp>
        <p:nvSpPr>
          <p:cNvPr id="262" name="Google Shape;262;p49"/>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263" name="Google Shape;263;p49"/>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9"/>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9"/>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9"/>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9"/>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9"/>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49"/>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9"/>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9"/>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9"/>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9"/>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9"/>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9"/>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9"/>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9"/>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9"/>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9"/>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9"/>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9"/>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9"/>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9"/>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85" name="Shape 285"/>
        <p:cNvGrpSpPr/>
        <p:nvPr/>
      </p:nvGrpSpPr>
      <p:grpSpPr>
        <a:xfrm>
          <a:off x="0" y="0"/>
          <a:ext cx="0" cy="0"/>
          <a:chOff x="0" y="0"/>
          <a:chExt cx="0" cy="0"/>
        </a:xfrm>
      </p:grpSpPr>
      <p:sp>
        <p:nvSpPr>
          <p:cNvPr id="286" name="Google Shape;286;p50"/>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87" name="Google Shape;287;p50"/>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0"/>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0"/>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0"/>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0"/>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0"/>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0"/>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0"/>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0"/>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0"/>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0"/>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0"/>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0"/>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0"/>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1" name="Google Shape;301;p50"/>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2" name="Google Shape;302;p50"/>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3" name="Google Shape;303;p50"/>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4" name="Google Shape;304;p50"/>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305" name="Shape 305"/>
        <p:cNvGrpSpPr/>
        <p:nvPr/>
      </p:nvGrpSpPr>
      <p:grpSpPr>
        <a:xfrm>
          <a:off x="0" y="0"/>
          <a:ext cx="0" cy="0"/>
          <a:chOff x="0" y="0"/>
          <a:chExt cx="0" cy="0"/>
        </a:xfrm>
      </p:grpSpPr>
      <p:sp>
        <p:nvSpPr>
          <p:cNvPr id="306" name="Google Shape;306;p51"/>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7" name="Google Shape;307;p51"/>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2" Type="http://schemas.openxmlformats.org/officeDocument/2006/relationships/theme" Target="../theme/theme4.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7" Type="http://schemas.openxmlformats.org/officeDocument/2006/relationships/theme" Target="../theme/theme2.xml"/><Relationship Id="rId16" Type="http://schemas.openxmlformats.org/officeDocument/2006/relationships/slideLayout" Target="../slideLayouts/slideLayout48.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87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FFFFFF"/>
              </a:buClr>
              <a:buSzPts val="2800"/>
              <a:buFont typeface="Roboto Slab Light"/>
              <a:buNone/>
              <a:defRPr sz="2800">
                <a:solidFill>
                  <a:srgbClr val="FFFFFF"/>
                </a:solidFill>
                <a:latin typeface="Roboto Slab Light"/>
                <a:ea typeface="Roboto Slab Light"/>
                <a:cs typeface="Roboto Slab Light"/>
                <a:sym typeface="Roboto Slab Light"/>
              </a:defRPr>
            </a:lvl1pPr>
            <a:lvl2pPr lvl="1" rtl="0">
              <a:spcBef>
                <a:spcPts val="0"/>
              </a:spcBef>
              <a:spcAft>
                <a:spcPts val="0"/>
              </a:spcAft>
              <a:buClr>
                <a:srgbClr val="FFFFFF"/>
              </a:buClr>
              <a:buSzPts val="2800"/>
              <a:buNone/>
              <a:defRPr sz="2800">
                <a:solidFill>
                  <a:srgbClr val="FFFFFF"/>
                </a:solidFill>
              </a:defRPr>
            </a:lvl2pPr>
            <a:lvl3pPr lvl="2" rtl="0">
              <a:spcBef>
                <a:spcPts val="0"/>
              </a:spcBef>
              <a:spcAft>
                <a:spcPts val="0"/>
              </a:spcAft>
              <a:buClr>
                <a:srgbClr val="FFFFFF"/>
              </a:buClr>
              <a:buSzPts val="2800"/>
              <a:buNone/>
              <a:defRPr sz="2800">
                <a:solidFill>
                  <a:srgbClr val="FFFFFF"/>
                </a:solidFill>
              </a:defRPr>
            </a:lvl3pPr>
            <a:lvl4pPr lvl="3" rtl="0">
              <a:spcBef>
                <a:spcPts val="0"/>
              </a:spcBef>
              <a:spcAft>
                <a:spcPts val="0"/>
              </a:spcAft>
              <a:buClr>
                <a:srgbClr val="FFFFFF"/>
              </a:buClr>
              <a:buSzPts val="2800"/>
              <a:buNone/>
              <a:defRPr sz="2800">
                <a:solidFill>
                  <a:srgbClr val="FFFFFF"/>
                </a:solidFill>
              </a:defRPr>
            </a:lvl4pPr>
            <a:lvl5pPr lvl="4" rtl="0">
              <a:spcBef>
                <a:spcPts val="0"/>
              </a:spcBef>
              <a:spcAft>
                <a:spcPts val="0"/>
              </a:spcAft>
              <a:buClr>
                <a:srgbClr val="FFFFFF"/>
              </a:buClr>
              <a:buSzPts val="2800"/>
              <a:buNone/>
              <a:defRPr sz="2800">
                <a:solidFill>
                  <a:srgbClr val="FFFFFF"/>
                </a:solidFill>
              </a:defRPr>
            </a:lvl5pPr>
            <a:lvl6pPr lvl="5" rtl="0">
              <a:spcBef>
                <a:spcPts val="0"/>
              </a:spcBef>
              <a:spcAft>
                <a:spcPts val="0"/>
              </a:spcAft>
              <a:buClr>
                <a:srgbClr val="FFFFFF"/>
              </a:buClr>
              <a:buSzPts val="2800"/>
              <a:buNone/>
              <a:defRPr sz="2800">
                <a:solidFill>
                  <a:srgbClr val="FFFFFF"/>
                </a:solidFill>
              </a:defRPr>
            </a:lvl6pPr>
            <a:lvl7pPr lvl="6" rtl="0">
              <a:spcBef>
                <a:spcPts val="0"/>
              </a:spcBef>
              <a:spcAft>
                <a:spcPts val="0"/>
              </a:spcAft>
              <a:buClr>
                <a:srgbClr val="FFFFFF"/>
              </a:buClr>
              <a:buSzPts val="2800"/>
              <a:buNone/>
              <a:defRPr sz="2800">
                <a:solidFill>
                  <a:srgbClr val="FFFFFF"/>
                </a:solidFill>
              </a:defRPr>
            </a:lvl7pPr>
            <a:lvl8pPr lvl="7" rtl="0">
              <a:spcBef>
                <a:spcPts val="0"/>
              </a:spcBef>
              <a:spcAft>
                <a:spcPts val="0"/>
              </a:spcAft>
              <a:buClr>
                <a:srgbClr val="FFFFFF"/>
              </a:buClr>
              <a:buSzPts val="2800"/>
              <a:buNone/>
              <a:defRPr sz="2800">
                <a:solidFill>
                  <a:srgbClr val="FFFFFF"/>
                </a:solidFill>
              </a:defRPr>
            </a:lvl8pPr>
            <a:lvl9pPr lvl="8" rtl="0">
              <a:spcBef>
                <a:spcPts val="0"/>
              </a:spcBef>
              <a:spcAft>
                <a:spcPts val="0"/>
              </a:spcAft>
              <a:buClr>
                <a:srgbClr val="FFFFFF"/>
              </a:buClr>
              <a:buSzPts val="2800"/>
              <a:buNone/>
              <a:defRPr sz="2800">
                <a:solidFill>
                  <a:srgbClr val="FFFFFF"/>
                </a:solidFill>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Roboto"/>
              <a:buChar char="●"/>
              <a:defRPr>
                <a:latin typeface="Roboto"/>
                <a:ea typeface="Roboto"/>
                <a:cs typeface="Roboto"/>
                <a:sym typeface="Roboto"/>
              </a:defRPr>
            </a:lvl1pPr>
            <a:lvl2pPr indent="-317500" lvl="1" marL="914400" rtl="0">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rtl="0">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164" name="Shape 164"/>
        <p:cNvGrpSpPr/>
        <p:nvPr/>
      </p:nvGrpSpPr>
      <p:grpSpPr>
        <a:xfrm>
          <a:off x="0" y="0"/>
          <a:ext cx="0" cy="0"/>
          <a:chOff x="0" y="0"/>
          <a:chExt cx="0" cy="0"/>
        </a:xfrm>
      </p:grpSpPr>
      <p:sp>
        <p:nvSpPr>
          <p:cNvPr id="165" name="Google Shape;165;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66" name="Google Shape;166;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167" name="Google Shape;16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24.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hyperlink" Target="https://support.google.com/webmasters/answer/40349?hl=en" TargetMode="External"/><Relationship Id="rId4" Type="http://schemas.openxmlformats.org/officeDocument/2006/relationships/hyperlink" Target="https://moz.com/blog/organic-quality-score" TargetMode="External"/><Relationship Id="rId5" Type="http://schemas.openxmlformats.org/officeDocument/2006/relationships/image" Target="../media/image3.png"/><Relationship Id="rId6"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2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8.png"/><Relationship Id="rId9" Type="http://schemas.openxmlformats.org/officeDocument/2006/relationships/hyperlink" Target="https://www.coloradorafting.net/trips/clear-creek-gold-rush/" TargetMode="External"/><Relationship Id="rId5" Type="http://schemas.openxmlformats.org/officeDocument/2006/relationships/hyperlink" Target="https://www.coloradorafting.net/" TargetMode="External"/><Relationship Id="rId6" Type="http://schemas.openxmlformats.org/officeDocument/2006/relationships/hyperlink" Target="https://www.coloradorafting.net/trip-packages/" TargetMode="External"/><Relationship Id="rId7" Type="http://schemas.openxmlformats.org/officeDocument/2006/relationships/hyperlink" Target="https://www.coloradorafting.net/trip-packages/raft-via-ferrata/" TargetMode="External"/><Relationship Id="rId8" Type="http://schemas.openxmlformats.org/officeDocument/2006/relationships/hyperlink" Target="https://www.coloradorafting.net/trip-packages/raft-utv-rental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4.xml"/><Relationship Id="rId3" Type="http://schemas.openxmlformats.org/officeDocument/2006/relationships/hyperlink" Target="https://docs.google.com/spreadsheets/d/15caXIbRmYqm9GsKROz3q5XOoY3qhN_Tt9VKX1G8jeDI/edit?gid=894258843#gid=894258843" TargetMode="External"/><Relationship Id="rId4" Type="http://schemas.openxmlformats.org/officeDocument/2006/relationships/image" Target="../media/image7.png"/><Relationship Id="rId5"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5.xml"/><Relationship Id="rId3" Type="http://schemas.openxmlformats.org/officeDocument/2006/relationships/hyperlink" Target="https://www.coloradorafting.net/about-us/meet-our-authors/" TargetMode="External"/><Relationship Id="rId4" Type="http://schemas.openxmlformats.org/officeDocument/2006/relationships/hyperlink" Target="https://www.coloradorafting.net/privacy-policy/" TargetMode="External"/><Relationship Id="rId5" Type="http://schemas.openxmlformats.org/officeDocument/2006/relationships/image" Target="../media/image7.png"/><Relationship Id="rId6"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11" name="Shape 311"/>
        <p:cNvGrpSpPr/>
        <p:nvPr/>
      </p:nvGrpSpPr>
      <p:grpSpPr>
        <a:xfrm>
          <a:off x="0" y="0"/>
          <a:ext cx="0" cy="0"/>
          <a:chOff x="0" y="0"/>
          <a:chExt cx="0" cy="0"/>
        </a:xfrm>
      </p:grpSpPr>
      <p:pic>
        <p:nvPicPr>
          <p:cNvPr id="312" name="Google Shape;312;p52"/>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13" name="Google Shape;313;p52"/>
          <p:cNvSpPr txBox="1"/>
          <p:nvPr/>
        </p:nvSpPr>
        <p:spPr>
          <a:xfrm>
            <a:off x="384550" y="1195525"/>
            <a:ext cx="53046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Breaking Down Your</a:t>
            </a:r>
            <a:endParaRPr b="1" sz="2400">
              <a:solidFill>
                <a:schemeClr val="lt1"/>
              </a:solidFill>
              <a:latin typeface="Proxima Nova"/>
              <a:ea typeface="Proxima Nova"/>
              <a:cs typeface="Proxima Nova"/>
              <a:sym typeface="Proxima Nova"/>
            </a:endParaRPr>
          </a:p>
        </p:txBody>
      </p:sp>
      <p:sp>
        <p:nvSpPr>
          <p:cNvPr id="314" name="Google Shape;314;p52"/>
          <p:cNvSpPr txBox="1"/>
          <p:nvPr/>
        </p:nvSpPr>
        <p:spPr>
          <a:xfrm>
            <a:off x="384550" y="1650925"/>
            <a:ext cx="4280400" cy="1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Proxima Nova"/>
                <a:ea typeface="Proxima Nova"/>
                <a:cs typeface="Proxima Nova"/>
                <a:sym typeface="Proxima Nova"/>
              </a:rPr>
              <a:t>Website Quality Assessment</a:t>
            </a:r>
            <a:endParaRPr b="1" sz="3600">
              <a:solidFill>
                <a:schemeClr val="lt1"/>
              </a:solidFill>
              <a:latin typeface="Proxima Nova"/>
              <a:ea typeface="Proxima Nova"/>
              <a:cs typeface="Proxima Nova"/>
              <a:sym typeface="Proxima Nova"/>
            </a:endParaRPr>
          </a:p>
        </p:txBody>
      </p:sp>
      <p:sp>
        <p:nvSpPr>
          <p:cNvPr id="315" name="Google Shape;315;p52"/>
          <p:cNvSpPr txBox="1"/>
          <p:nvPr/>
        </p:nvSpPr>
        <p:spPr>
          <a:xfrm>
            <a:off x="591000" y="3084550"/>
            <a:ext cx="3438900" cy="84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chemeClr val="lt1"/>
                </a:solidFill>
                <a:latin typeface="Proxima Nova"/>
                <a:ea typeface="Proxima Nova"/>
                <a:cs typeface="Proxima Nova"/>
                <a:sym typeface="Proxima Nova"/>
              </a:rPr>
              <a:t>PREPARED FOR</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 sz="1800">
                <a:solidFill>
                  <a:schemeClr val="lt1"/>
                </a:solidFill>
                <a:latin typeface="Proxima Nova"/>
                <a:ea typeface="Proxima Nova"/>
                <a:cs typeface="Proxima Nova"/>
                <a:sym typeface="Proxima Nova"/>
              </a:rPr>
              <a:t>AVA</a:t>
            </a:r>
            <a:endParaRPr b="1" sz="1800">
              <a:solidFill>
                <a:schemeClr val="lt1"/>
              </a:solidFill>
              <a:latin typeface="Proxima Nova"/>
              <a:ea typeface="Proxima Nova"/>
              <a:cs typeface="Proxima Nova"/>
              <a:sym typeface="Proxima Nova"/>
            </a:endParaRPr>
          </a:p>
        </p:txBody>
      </p:sp>
      <p:sp>
        <p:nvSpPr>
          <p:cNvPr id="316" name="Google Shape;316;p52"/>
          <p:cNvSpPr txBox="1"/>
          <p:nvPr/>
        </p:nvSpPr>
        <p:spPr>
          <a:xfrm>
            <a:off x="591000" y="3802575"/>
            <a:ext cx="3438900" cy="3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1"/>
                </a:solidFill>
                <a:latin typeface="Proxima Nova"/>
                <a:ea typeface="Proxima Nova"/>
                <a:cs typeface="Proxima Nova"/>
                <a:sym typeface="Proxima Nova"/>
              </a:rPr>
              <a:t>May </a:t>
            </a:r>
            <a:r>
              <a:rPr lang="en" sz="1000">
                <a:solidFill>
                  <a:schemeClr val="lt1"/>
                </a:solidFill>
                <a:latin typeface="Proxima Nova"/>
                <a:ea typeface="Proxima Nova"/>
                <a:cs typeface="Proxima Nova"/>
                <a:sym typeface="Proxima Nova"/>
              </a:rPr>
              <a:t>2025</a:t>
            </a:r>
            <a:endParaRPr sz="1000">
              <a:solidFill>
                <a:schemeClr val="lt1"/>
              </a:solidFill>
              <a:latin typeface="Proxima Nova"/>
              <a:ea typeface="Proxima Nova"/>
              <a:cs typeface="Proxima Nova"/>
              <a:sym typeface="Proxima Nova"/>
            </a:endParaRPr>
          </a:p>
        </p:txBody>
      </p:sp>
      <p:pic>
        <p:nvPicPr>
          <p:cNvPr id="317" name="Google Shape;317;p52"/>
          <p:cNvPicPr preferRelativeResize="0"/>
          <p:nvPr/>
        </p:nvPicPr>
        <p:blipFill>
          <a:blip r:embed="rId4">
            <a:alphaModFix/>
          </a:blip>
          <a:stretch>
            <a:fillRect/>
          </a:stretch>
        </p:blipFill>
        <p:spPr>
          <a:xfrm>
            <a:off x="7029450" y="4278199"/>
            <a:ext cx="1712674" cy="403325"/>
          </a:xfrm>
          <a:prstGeom prst="rect">
            <a:avLst/>
          </a:prstGeom>
          <a:noFill/>
          <a:ln>
            <a:noFill/>
          </a:ln>
        </p:spPr>
      </p:pic>
      <p:sp>
        <p:nvSpPr>
          <p:cNvPr id="318" name="Google Shape;318;p52"/>
          <p:cNvSpPr/>
          <p:nvPr/>
        </p:nvSpPr>
        <p:spPr>
          <a:xfrm>
            <a:off x="491675" y="3234625"/>
            <a:ext cx="24900" cy="71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pic>
        <p:nvPicPr>
          <p:cNvPr id="323" name="Google Shape;323;p53"/>
          <p:cNvPicPr preferRelativeResize="0"/>
          <p:nvPr/>
        </p:nvPicPr>
        <p:blipFill>
          <a:blip r:embed="rId3">
            <a:alphaModFix/>
          </a:blip>
          <a:stretch>
            <a:fillRect/>
          </a:stretch>
        </p:blipFill>
        <p:spPr>
          <a:xfrm>
            <a:off x="489274" y="644025"/>
            <a:ext cx="3336549" cy="2466880"/>
          </a:xfrm>
          <a:prstGeom prst="rect">
            <a:avLst/>
          </a:prstGeom>
          <a:noFill/>
          <a:ln>
            <a:noFill/>
          </a:ln>
        </p:spPr>
      </p:pic>
      <p:sp>
        <p:nvSpPr>
          <p:cNvPr id="324" name="Google Shape;324;p53"/>
          <p:cNvSpPr txBox="1"/>
          <p:nvPr>
            <p:ph type="title"/>
          </p:nvPr>
        </p:nvSpPr>
        <p:spPr>
          <a:xfrm>
            <a:off x="489275" y="3124125"/>
            <a:ext cx="35607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E21A6B"/>
                </a:solidFill>
                <a:latin typeface="Poppins"/>
                <a:ea typeface="Poppins"/>
                <a:cs typeface="Poppins"/>
                <a:sym typeface="Poppins"/>
              </a:rPr>
              <a:t>What’s in this document?</a:t>
            </a:r>
            <a:endParaRPr sz="1400">
              <a:solidFill>
                <a:srgbClr val="E21A6B"/>
              </a:solidFill>
              <a:latin typeface="Poppins"/>
              <a:ea typeface="Poppins"/>
              <a:cs typeface="Poppins"/>
              <a:sym typeface="Poppins"/>
            </a:endParaRPr>
          </a:p>
        </p:txBody>
      </p:sp>
      <p:sp>
        <p:nvSpPr>
          <p:cNvPr id="325" name="Google Shape;325;p53"/>
          <p:cNvSpPr txBox="1"/>
          <p:nvPr>
            <p:ph idx="4294967295" type="body"/>
          </p:nvPr>
        </p:nvSpPr>
        <p:spPr>
          <a:xfrm>
            <a:off x="5219050" y="1244650"/>
            <a:ext cx="32568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“website quality” is and why it’s important.</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sp>
        <p:nvSpPr>
          <p:cNvPr id="326" name="Google Shape;326;p53"/>
          <p:cNvSpPr/>
          <p:nvPr/>
        </p:nvSpPr>
        <p:spPr>
          <a:xfrm>
            <a:off x="4625650" y="1310500"/>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1</a:t>
            </a:r>
            <a:endParaRPr b="1" sz="1800">
              <a:solidFill>
                <a:srgbClr val="E21A6B"/>
              </a:solidFill>
              <a:latin typeface="Poppins"/>
              <a:ea typeface="Poppins"/>
              <a:cs typeface="Poppins"/>
              <a:sym typeface="Poppins"/>
            </a:endParaRPr>
          </a:p>
        </p:txBody>
      </p:sp>
      <p:sp>
        <p:nvSpPr>
          <p:cNvPr id="327" name="Google Shape;327;p53"/>
          <p:cNvSpPr/>
          <p:nvPr/>
        </p:nvSpPr>
        <p:spPr>
          <a:xfrm>
            <a:off x="4625650" y="22573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2</a:t>
            </a:r>
            <a:endParaRPr b="1" sz="1800">
              <a:solidFill>
                <a:srgbClr val="E21A6B"/>
              </a:solidFill>
              <a:latin typeface="Poppins"/>
              <a:ea typeface="Poppins"/>
              <a:cs typeface="Poppins"/>
              <a:sym typeface="Poppins"/>
            </a:endParaRPr>
          </a:p>
        </p:txBody>
      </p:sp>
      <p:sp>
        <p:nvSpPr>
          <p:cNvPr id="328" name="Google Shape;328;p53"/>
          <p:cNvSpPr txBox="1"/>
          <p:nvPr>
            <p:ph idx="4294967295" type="body"/>
          </p:nvPr>
        </p:nvSpPr>
        <p:spPr>
          <a:xfrm>
            <a:off x="5219050" y="3164675"/>
            <a:ext cx="3486600" cy="88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sz="1500">
                <a:solidFill>
                  <a:schemeClr val="dk1"/>
                </a:solidFill>
                <a:latin typeface="Proxima Nova"/>
                <a:ea typeface="Proxima Nova"/>
                <a:cs typeface="Proxima Nova"/>
                <a:sym typeface="Proxima Nova"/>
              </a:rPr>
              <a:t>The </a:t>
            </a:r>
            <a:r>
              <a:rPr lang="en" sz="1500" u="sng">
                <a:solidFill>
                  <a:schemeClr val="dk1"/>
                </a:solidFill>
                <a:latin typeface="Proxima Nova"/>
                <a:ea typeface="Proxima Nova"/>
                <a:cs typeface="Proxima Nova"/>
                <a:sym typeface="Proxima Nova"/>
              </a:rPr>
              <a:t>outputs</a:t>
            </a:r>
            <a:r>
              <a:rPr lang="en" sz="1500">
                <a:solidFill>
                  <a:schemeClr val="dk1"/>
                </a:solidFill>
                <a:latin typeface="Proxima Nova"/>
                <a:ea typeface="Proxima Nova"/>
                <a:cs typeface="Proxima Nova"/>
                <a:sym typeface="Proxima Nova"/>
              </a:rPr>
              <a:t> of the report and how we use them to execute your campaign.</a:t>
            </a:r>
            <a:endParaRPr sz="1500">
              <a:solidFill>
                <a:schemeClr val="dk1"/>
              </a:solidFill>
              <a:latin typeface="Proxima Nova"/>
              <a:ea typeface="Proxima Nova"/>
              <a:cs typeface="Proxima Nova"/>
              <a:sym typeface="Proxima Nova"/>
            </a:endParaRPr>
          </a:p>
        </p:txBody>
      </p:sp>
      <p:sp>
        <p:nvSpPr>
          <p:cNvPr id="329" name="Google Shape;329;p53"/>
          <p:cNvSpPr/>
          <p:nvPr/>
        </p:nvSpPr>
        <p:spPr>
          <a:xfrm>
            <a:off x="4625650" y="32479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3</a:t>
            </a:r>
            <a:endParaRPr b="1" sz="1800">
              <a:solidFill>
                <a:srgbClr val="E21A6B"/>
              </a:solidFill>
              <a:latin typeface="Poppins"/>
              <a:ea typeface="Poppins"/>
              <a:cs typeface="Poppins"/>
              <a:sym typeface="Poppins"/>
            </a:endParaRPr>
          </a:p>
        </p:txBody>
      </p:sp>
      <p:sp>
        <p:nvSpPr>
          <p:cNvPr id="330" name="Google Shape;330;p53"/>
          <p:cNvSpPr txBox="1"/>
          <p:nvPr>
            <p:ph idx="4294967295" type="body"/>
          </p:nvPr>
        </p:nvSpPr>
        <p:spPr>
          <a:xfrm>
            <a:off x="5219050" y="2224675"/>
            <a:ext cx="3256800" cy="69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a:t>
            </a:r>
            <a:r>
              <a:rPr lang="en" sz="1500" u="sng">
                <a:solidFill>
                  <a:schemeClr val="dk1"/>
                </a:solidFill>
                <a:latin typeface="Proxima Nova"/>
                <a:ea typeface="Proxima Nova"/>
                <a:cs typeface="Proxima Nova"/>
                <a:sym typeface="Proxima Nova"/>
              </a:rPr>
              <a:t>inputs</a:t>
            </a:r>
            <a:r>
              <a:rPr lang="en" sz="1500">
                <a:solidFill>
                  <a:schemeClr val="dk1"/>
                </a:solidFill>
                <a:latin typeface="Proxima Nova"/>
                <a:ea typeface="Proxima Nova"/>
                <a:cs typeface="Proxima Nova"/>
                <a:sym typeface="Proxima Nova"/>
              </a:rPr>
              <a:t> go into the report and how we analyze them.</a:t>
            </a:r>
            <a:endParaRPr sz="1500">
              <a:solidFill>
                <a:schemeClr val="dk1"/>
              </a:solidFill>
              <a:latin typeface="Proxima Nova"/>
              <a:ea typeface="Proxima Nova"/>
              <a:cs typeface="Proxima Nova"/>
              <a:sym typeface="Proxima Nova"/>
            </a:endParaRPr>
          </a:p>
          <a:p>
            <a:pPr indent="0" lvl="0" marL="0" rtl="0" algn="l">
              <a:spcBef>
                <a:spcPts val="160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pic>
        <p:nvPicPr>
          <p:cNvPr id="331" name="Google Shape;331;p5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54"/>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sp>
        <p:nvSpPr>
          <p:cNvPr id="337" name="Google Shape;337;p54"/>
          <p:cNvSpPr txBox="1"/>
          <p:nvPr>
            <p:ph type="title"/>
          </p:nvPr>
        </p:nvSpPr>
        <p:spPr>
          <a:xfrm>
            <a:off x="101925" y="2084550"/>
            <a:ext cx="2796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is</a:t>
            </a:r>
            <a:r>
              <a:rPr b="1" lang="en" sz="2400">
                <a:solidFill>
                  <a:srgbClr val="FFFFFF"/>
                </a:solidFill>
                <a:latin typeface="Proxima Nova"/>
                <a:ea typeface="Proxima Nova"/>
                <a:cs typeface="Proxima Nova"/>
                <a:sym typeface="Proxima Nova"/>
              </a:rPr>
              <a:t> </a:t>
            </a:r>
            <a:br>
              <a:rPr b="1" lang="en" sz="2400">
                <a:solidFill>
                  <a:srgbClr val="FFFFFF"/>
                </a:solidFill>
                <a:latin typeface="Proxima Nova"/>
                <a:ea typeface="Proxima Nova"/>
                <a:cs typeface="Proxima Nova"/>
                <a:sym typeface="Proxima Nova"/>
              </a:rPr>
            </a:br>
            <a:r>
              <a:rPr lang="en" sz="2400">
                <a:solidFill>
                  <a:srgbClr val="FFFFFF"/>
                </a:solidFill>
                <a:latin typeface="Proxima Nova"/>
                <a:ea typeface="Proxima Nova"/>
                <a:cs typeface="Proxima Nova"/>
                <a:sym typeface="Proxima Nova"/>
              </a:rPr>
              <a:t>“</a:t>
            </a:r>
            <a:r>
              <a:rPr b="1" lang="en" sz="2400">
                <a:solidFill>
                  <a:srgbClr val="FFFFFF"/>
                </a:solidFill>
                <a:latin typeface="Proxima Nova"/>
                <a:ea typeface="Proxima Nova"/>
                <a:cs typeface="Proxima Nova"/>
                <a:sym typeface="Proxima Nova"/>
              </a:rPr>
              <a:t>W</a:t>
            </a:r>
            <a:r>
              <a:rPr b="1" lang="en" sz="2400">
                <a:solidFill>
                  <a:srgbClr val="FFFFFF"/>
                </a:solidFill>
                <a:latin typeface="Proxima Nova"/>
                <a:ea typeface="Proxima Nova"/>
                <a:cs typeface="Proxima Nova"/>
                <a:sym typeface="Proxima Nova"/>
              </a:rPr>
              <a:t>ebsite Quality</a:t>
            </a:r>
            <a:r>
              <a:rPr lang="en" sz="2400">
                <a:solidFill>
                  <a:srgbClr val="FFFFFF"/>
                </a:solidFill>
                <a:latin typeface="Proxima Nova"/>
                <a:ea typeface="Proxima Nova"/>
                <a:cs typeface="Proxima Nova"/>
                <a:sym typeface="Proxima Nova"/>
              </a:rPr>
              <a:t>”?</a:t>
            </a:r>
            <a:endParaRPr sz="1200">
              <a:solidFill>
                <a:srgbClr val="FFFFFF"/>
              </a:solidFill>
              <a:latin typeface="Proxima Nova"/>
              <a:ea typeface="Proxima Nova"/>
              <a:cs typeface="Proxima Nova"/>
              <a:sym typeface="Proxima Nova"/>
            </a:endParaRPr>
          </a:p>
        </p:txBody>
      </p:sp>
      <p:sp>
        <p:nvSpPr>
          <p:cNvPr id="338" name="Google Shape;338;p54"/>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Search engines send traffic to websites they deem as “high quality”. That means a few things:</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coded and structured according to their </a:t>
            </a:r>
            <a:r>
              <a:rPr lang="en" sz="1200" u="sng">
                <a:solidFill>
                  <a:srgbClr val="222222"/>
                </a:solidFill>
                <a:latin typeface="Proxima Nova"/>
                <a:ea typeface="Proxima Nova"/>
                <a:cs typeface="Proxima Nova"/>
                <a:sym typeface="Proxima Nova"/>
                <a:hlinkClick r:id="rId3">
                  <a:extLst>
                    <a:ext uri="{A12FA001-AC4F-418D-AE19-62706E023703}">
                      <ahyp:hlinkClr val="tx"/>
                    </a:ext>
                  </a:extLst>
                </a:hlinkClick>
              </a:rPr>
              <a:t>webmaster guidelines</a:t>
            </a:r>
            <a:r>
              <a:rPr lang="en" sz="1200">
                <a:solidFill>
                  <a:srgbClr val="222222"/>
                </a:solidFill>
                <a:latin typeface="Proxima Nova"/>
                <a:ea typeface="Proxima Nova"/>
                <a:cs typeface="Proxima Nova"/>
                <a:sym typeface="Proxima Nova"/>
              </a:rPr>
              <a:t>.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“popular”, i.e. getting mentioned across the web.</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satisfy “searcher intent” through relevant and quality content.</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Having low quality pages, content, poor structure and lack of web mentions causes Google to lose trust in your website and crawl, index and rank it less and less over time.</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We assess quality of your website by looking at a number of different data inputs, including inbound links, titles, content depth, sales from organic traffic, keyword rankings and more.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Additional resources:</a:t>
            </a:r>
            <a:br>
              <a:rPr lang="en" sz="1200">
                <a:solidFill>
                  <a:srgbClr val="222222"/>
                </a:solidFill>
                <a:latin typeface="Proxima Nova"/>
                <a:ea typeface="Proxima Nova"/>
                <a:cs typeface="Proxima Nova"/>
                <a:sym typeface="Proxima Nova"/>
              </a:rPr>
            </a:b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Char char="●"/>
            </a:pPr>
            <a:r>
              <a:rPr lang="en" sz="1200" u="sng">
                <a:solidFill>
                  <a:srgbClr val="222222"/>
                </a:solidFill>
                <a:latin typeface="Proxima Nova"/>
                <a:ea typeface="Proxima Nova"/>
                <a:cs typeface="Proxima Nova"/>
                <a:sym typeface="Proxima Nova"/>
                <a:hlinkClick r:id="rId4">
                  <a:extLst>
                    <a:ext uri="{A12FA001-AC4F-418D-AE19-62706E023703}">
                      <ahyp:hlinkClr val="tx"/>
                    </a:ext>
                  </a:extLst>
                </a:hlinkClick>
              </a:rPr>
              <a:t>Google’s Quality Score</a:t>
            </a:r>
            <a:r>
              <a:rPr lang="en" sz="1200">
                <a:solidFill>
                  <a:srgbClr val="222222"/>
                </a:solidFill>
                <a:latin typeface="Proxima Nova"/>
                <a:ea typeface="Proxima Nova"/>
                <a:cs typeface="Proxima Nova"/>
                <a:sym typeface="Proxima Nova"/>
              </a:rPr>
              <a:t> (Moz)</a:t>
            </a:r>
            <a:endParaRPr b="1" sz="1200">
              <a:solidFill>
                <a:srgbClr val="222222"/>
              </a:solidFill>
              <a:latin typeface="Proxima Nova"/>
              <a:ea typeface="Proxima Nova"/>
              <a:cs typeface="Proxima Nova"/>
              <a:sym typeface="Proxima Nova"/>
            </a:endParaRPr>
          </a:p>
        </p:txBody>
      </p:sp>
      <p:pic>
        <p:nvPicPr>
          <p:cNvPr id="339" name="Google Shape;339;p5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40" name="Google Shape;340;p54"/>
          <p:cNvPicPr preferRelativeResize="0"/>
          <p:nvPr/>
        </p:nvPicPr>
        <p:blipFill rotWithShape="1">
          <a:blip r:embed="rId6">
            <a:alphaModFix amt="52999"/>
          </a:blip>
          <a:srcRect b="0" l="21581" r="0" t="21210"/>
          <a:stretch/>
        </p:blipFill>
        <p:spPr>
          <a:xfrm rot="2036056">
            <a:off x="-4101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55"/>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pic>
        <p:nvPicPr>
          <p:cNvPr id="346" name="Google Shape;346;p55"/>
          <p:cNvPicPr preferRelativeResize="0"/>
          <p:nvPr/>
        </p:nvPicPr>
        <p:blipFill rotWithShape="1">
          <a:blip r:embed="rId3">
            <a:alphaModFix amt="50000"/>
          </a:blip>
          <a:srcRect b="0" l="21581" r="0" t="21210"/>
          <a:stretch/>
        </p:blipFill>
        <p:spPr>
          <a:xfrm rot="2036056">
            <a:off x="-410153" y="-3551033"/>
            <a:ext cx="3515956" cy="5976892"/>
          </a:xfrm>
          <a:prstGeom prst="rect">
            <a:avLst/>
          </a:prstGeom>
          <a:noFill/>
          <a:ln>
            <a:noFill/>
          </a:ln>
        </p:spPr>
      </p:pic>
      <p:sp>
        <p:nvSpPr>
          <p:cNvPr id="347" name="Google Shape;347;p55"/>
          <p:cNvSpPr txBox="1"/>
          <p:nvPr>
            <p:ph type="title"/>
          </p:nvPr>
        </p:nvSpPr>
        <p:spPr>
          <a:xfrm>
            <a:off x="242425" y="994800"/>
            <a:ext cx="2480700" cy="102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What goes into the</a:t>
            </a:r>
            <a:r>
              <a:rPr b="1" lang="en" sz="2400">
                <a:solidFill>
                  <a:schemeClr val="lt1"/>
                </a:solidFill>
                <a:latin typeface="Proxima Nova"/>
                <a:ea typeface="Proxima Nova"/>
                <a:cs typeface="Proxima Nova"/>
                <a:sym typeface="Proxima Nova"/>
              </a:rPr>
              <a:t> </a:t>
            </a:r>
            <a:r>
              <a:rPr lang="en" sz="2400">
                <a:solidFill>
                  <a:schemeClr val="lt1"/>
                </a:solidFill>
                <a:latin typeface="Proxima Nova"/>
                <a:ea typeface="Proxima Nova"/>
                <a:cs typeface="Proxima Nova"/>
                <a:sym typeface="Proxima Nova"/>
              </a:rPr>
              <a:t>“</a:t>
            </a:r>
            <a:r>
              <a:rPr b="1" lang="en" sz="2400">
                <a:solidFill>
                  <a:schemeClr val="lt1"/>
                </a:solidFill>
                <a:latin typeface="Proxima Nova"/>
                <a:ea typeface="Proxima Nova"/>
                <a:cs typeface="Proxima Nova"/>
                <a:sym typeface="Proxima Nova"/>
              </a:rPr>
              <a:t>WQA</a:t>
            </a:r>
            <a:r>
              <a:rPr lang="en" sz="2400">
                <a:solidFill>
                  <a:schemeClr val="lt1"/>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48" name="Google Shape;348;p55"/>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team built a tool using API data from 5 vital SEO data sources:</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XML sitemaps</a:t>
            </a:r>
            <a:r>
              <a:rPr lang="en" sz="1200">
                <a:solidFill>
                  <a:schemeClr val="dk1"/>
                </a:solidFill>
                <a:latin typeface="Proxima Nova"/>
                <a:ea typeface="Proxima Nova"/>
                <a:cs typeface="Proxima Nova"/>
                <a:sym typeface="Proxima Nova"/>
              </a:rPr>
              <a:t> - to get a list of URLs included in your Sitemap.</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Screaming Frog</a:t>
            </a:r>
            <a:r>
              <a:rPr lang="en" sz="1200">
                <a:solidFill>
                  <a:schemeClr val="dk1"/>
                </a:solidFill>
                <a:latin typeface="Proxima Nova"/>
                <a:ea typeface="Proxima Nova"/>
                <a:cs typeface="Proxima Nova"/>
                <a:sym typeface="Proxima Nova"/>
              </a:rPr>
              <a:t> - to get a full list of URLs and files uploaded to your site, page titles, metas, canonical tags and word count per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(Backlinks) </a:t>
            </a:r>
            <a:r>
              <a:rPr lang="en" sz="1200">
                <a:solidFill>
                  <a:schemeClr val="dk1"/>
                </a:solidFill>
                <a:latin typeface="Proxima Nova"/>
                <a:ea typeface="Proxima Nova"/>
                <a:cs typeface="Proxima Nova"/>
                <a:sym typeface="Proxima Nova"/>
              </a:rPr>
              <a:t>- to get a list of the links pointing to your website and which pages they point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(Keywords) </a:t>
            </a:r>
            <a:r>
              <a:rPr lang="en" sz="1200">
                <a:solidFill>
                  <a:schemeClr val="dk1"/>
                </a:solidFill>
                <a:latin typeface="Proxima Nova"/>
                <a:ea typeface="Proxima Nova"/>
                <a:cs typeface="Proxima Nova"/>
                <a:sym typeface="Proxima Nova"/>
              </a:rPr>
              <a:t>- to get your current keyword rankings and which pages they correlate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Analytics</a:t>
            </a:r>
            <a:r>
              <a:rPr lang="en" sz="1200">
                <a:solidFill>
                  <a:schemeClr val="dk1"/>
                </a:solidFill>
                <a:latin typeface="Proxima Nova"/>
                <a:ea typeface="Proxima Nova"/>
                <a:cs typeface="Proxima Nova"/>
                <a:sym typeface="Proxima Nova"/>
              </a:rPr>
              <a:t> - to get sales, leads, and traffic data from search engines only.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Search Console</a:t>
            </a:r>
            <a:r>
              <a:rPr lang="en" sz="1200">
                <a:solidFill>
                  <a:schemeClr val="dk1"/>
                </a:solidFill>
                <a:latin typeface="Proxima Nova"/>
                <a:ea typeface="Proxima Nova"/>
                <a:cs typeface="Proxima Nova"/>
                <a:sym typeface="Proxima Nova"/>
              </a:rPr>
              <a:t> - to get SERP impressions and page level click through rates in Google.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tool aggregates this data and allows us to assess quality metrics at the page level. From here, we can make a decision about what to do with every page on your site.</a:t>
            </a:r>
            <a:endParaRPr sz="1200">
              <a:solidFill>
                <a:schemeClr val="dk1"/>
              </a:solidFill>
              <a:latin typeface="Proxima Nova"/>
              <a:ea typeface="Proxima Nova"/>
              <a:cs typeface="Proxima Nova"/>
              <a:sym typeface="Proxima Nova"/>
            </a:endParaRPr>
          </a:p>
        </p:txBody>
      </p:sp>
      <p:pic>
        <p:nvPicPr>
          <p:cNvPr id="349" name="Google Shape;349;p5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pSp>
        <p:nvGrpSpPr>
          <p:cNvPr id="350" name="Google Shape;350;p55"/>
          <p:cNvGrpSpPr/>
          <p:nvPr/>
        </p:nvGrpSpPr>
        <p:grpSpPr>
          <a:xfrm>
            <a:off x="-85725" y="2507450"/>
            <a:ext cx="3574025" cy="2228850"/>
            <a:chOff x="-85725" y="2839650"/>
            <a:chExt cx="3574025" cy="2228850"/>
          </a:xfrm>
        </p:grpSpPr>
        <p:pic>
          <p:nvPicPr>
            <p:cNvPr id="351" name="Google Shape;351;p55"/>
            <p:cNvPicPr preferRelativeResize="0"/>
            <p:nvPr/>
          </p:nvPicPr>
          <p:blipFill rotWithShape="1">
            <a:blip r:embed="rId5">
              <a:alphaModFix/>
            </a:blip>
            <a:srcRect b="0" l="990" r="990" t="0"/>
            <a:stretch/>
          </p:blipFill>
          <p:spPr>
            <a:xfrm>
              <a:off x="-85725" y="2839650"/>
              <a:ext cx="3574025" cy="2228850"/>
            </a:xfrm>
            <a:prstGeom prst="rect">
              <a:avLst/>
            </a:prstGeom>
            <a:noFill/>
            <a:ln>
              <a:noFill/>
            </a:ln>
          </p:spPr>
        </p:pic>
        <p:pic>
          <p:nvPicPr>
            <p:cNvPr id="352" name="Google Shape;352;p55"/>
            <p:cNvPicPr preferRelativeResize="0"/>
            <p:nvPr/>
          </p:nvPicPr>
          <p:blipFill rotWithShape="1">
            <a:blip r:embed="rId6">
              <a:alphaModFix/>
            </a:blip>
            <a:srcRect b="25340" l="0" r="0" t="0"/>
            <a:stretch/>
          </p:blipFill>
          <p:spPr>
            <a:xfrm>
              <a:off x="247500" y="2903925"/>
              <a:ext cx="2907573" cy="18966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56" name="Shape 356"/>
        <p:cNvGrpSpPr/>
        <p:nvPr/>
      </p:nvGrpSpPr>
      <p:grpSpPr>
        <a:xfrm>
          <a:off x="0" y="0"/>
          <a:ext cx="0" cy="0"/>
          <a:chOff x="0" y="0"/>
          <a:chExt cx="0" cy="0"/>
        </a:xfrm>
      </p:grpSpPr>
      <p:pic>
        <p:nvPicPr>
          <p:cNvPr id="357" name="Google Shape;357;p5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58" name="Google Shape;358;p5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60" name="Google Shape;360;p5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61" name="Google Shape;361;p5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62" name="Google Shape;362;p5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363" name="Google Shape;363;p56"/>
          <p:cNvGraphicFramePr/>
          <p:nvPr/>
        </p:nvGraphicFramePr>
        <p:xfrm>
          <a:off x="4205638" y="929363"/>
          <a:ext cx="3000000" cy="3000000"/>
        </p:xfrm>
        <a:graphic>
          <a:graphicData uri="http://schemas.openxmlformats.org/drawingml/2006/table">
            <a:tbl>
              <a:tblPr>
                <a:noFill/>
                <a:tableStyleId>{0753F70E-ACAF-4CC4-84DF-E9586A898B6C}</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67" name="Shape 367"/>
        <p:cNvGrpSpPr/>
        <p:nvPr/>
      </p:nvGrpSpPr>
      <p:grpSpPr>
        <a:xfrm>
          <a:off x="0" y="0"/>
          <a:ext cx="0" cy="0"/>
          <a:chOff x="0" y="0"/>
          <a:chExt cx="0" cy="0"/>
        </a:xfrm>
      </p:grpSpPr>
      <p:pic>
        <p:nvPicPr>
          <p:cNvPr id="368" name="Google Shape;368;p5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69" name="Google Shape;369;p5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URL Actions</a:t>
            </a:r>
            <a:endParaRPr sz="2400">
              <a:solidFill>
                <a:srgbClr val="E21A6B"/>
              </a:solidFill>
              <a:latin typeface="Proxima Nova"/>
              <a:ea typeface="Proxima Nova"/>
              <a:cs typeface="Proxima Nova"/>
              <a:sym typeface="Proxima Nova"/>
            </a:endParaRPr>
          </a:p>
        </p:txBody>
      </p:sp>
      <p:sp>
        <p:nvSpPr>
          <p:cNvPr id="371" name="Google Shape;371;p57"/>
          <p:cNvSpPr txBox="1"/>
          <p:nvPr/>
        </p:nvSpPr>
        <p:spPr>
          <a:xfrm>
            <a:off x="242425" y="1604975"/>
            <a:ext cx="36648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each page on the site is classified into a category, we can quickly assess each page for quality (by section).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assign each page a “URL Action” (see chart to the right for full list and explanations of each).</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These “URL Actions” dictate: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AutoNum type="arabicPeriod"/>
            </a:pPr>
            <a:r>
              <a:rPr b="1" lang="en" sz="1200">
                <a:solidFill>
                  <a:schemeClr val="dk1"/>
                </a:solidFill>
                <a:latin typeface="Proxima Nova"/>
                <a:ea typeface="Proxima Nova"/>
                <a:cs typeface="Proxima Nova"/>
                <a:sym typeface="Proxima Nova"/>
              </a:rPr>
              <a:t>Which pages to clean up</a:t>
            </a:r>
            <a:r>
              <a:rPr lang="en" sz="1200">
                <a:solidFill>
                  <a:schemeClr val="dk1"/>
                </a:solidFill>
                <a:latin typeface="Proxima Nova"/>
                <a:ea typeface="Proxima Nova"/>
                <a:cs typeface="Proxima Nova"/>
                <a:sym typeface="Proxima Nova"/>
              </a:rPr>
              <a:t> (i.e. redirect, NOINDEX,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have no potential for traffic and to ignore (i.e. contact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we will focus on for the campaign (i.e. perform KW research, update “on page” elements, target with links).</a:t>
            </a:r>
            <a:endParaRPr sz="1200">
              <a:solidFill>
                <a:schemeClr val="dk1"/>
              </a:solidFill>
              <a:latin typeface="Proxima Nova"/>
              <a:ea typeface="Proxima Nova"/>
              <a:cs typeface="Proxima Nova"/>
              <a:sym typeface="Proxima Nova"/>
            </a:endParaRPr>
          </a:p>
        </p:txBody>
      </p:sp>
      <p:pic>
        <p:nvPicPr>
          <p:cNvPr id="372" name="Google Shape;372;p5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aphicFrame>
        <p:nvGraphicFramePr>
          <p:cNvPr id="373" name="Google Shape;373;p57"/>
          <p:cNvGraphicFramePr/>
          <p:nvPr/>
        </p:nvGraphicFramePr>
        <p:xfrm>
          <a:off x="4119000" y="143575"/>
          <a:ext cx="3000000" cy="3000000"/>
        </p:xfrm>
        <a:graphic>
          <a:graphicData uri="http://schemas.openxmlformats.org/drawingml/2006/table">
            <a:tbl>
              <a:tblPr>
                <a:noFill/>
                <a:tableStyleId>{A566A942-AB0C-4801-8418-0B4C0523B595}</a:tableStyleId>
              </a:tblPr>
              <a:tblGrid>
                <a:gridCol w="754850"/>
                <a:gridCol w="40787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evergreen, cornerstone  blog posts / resource guides that you want to update with more recent information. URLs assigned this URL Action are moved into the “KW Research for Existing Pages &amp; On-Page recommendations” deliverable.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Content Analysis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For content (blogs or resources) where there is potential value in updating &amp; optimizing the content for search. </a:t>
                      </a:r>
                      <a:r>
                        <a:rPr lang="en" sz="700">
                          <a:solidFill>
                            <a:srgbClr val="000000"/>
                          </a:solidFill>
                          <a:latin typeface="Proxima Nova"/>
                          <a:ea typeface="Proxima Nova"/>
                          <a:cs typeface="Proxima Nova"/>
                          <a:sym typeface="Proxima Nova"/>
                        </a:rPr>
                        <a:t>URLs assigned this URL Action are moved into the “Content Analysis” deliverable.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410 Delete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10. Find and Replace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“301” page is discovered during the crawl, and the internal link can be replaced with its “Final URL” to remove an extra step for crawlers to move through, we want to find that URL and replace it with its final location.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11. Find and Remove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“404” page is discovered and there is no suitable replacement for the page, we want to find where the broken link is located and remove the link from the site.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377" name="Shape 377"/>
        <p:cNvGrpSpPr/>
        <p:nvPr/>
      </p:nvGrpSpPr>
      <p:grpSpPr>
        <a:xfrm>
          <a:off x="0" y="0"/>
          <a:ext cx="0" cy="0"/>
          <a:chOff x="0" y="0"/>
          <a:chExt cx="0" cy="0"/>
        </a:xfrm>
      </p:grpSpPr>
      <p:sp>
        <p:nvSpPr>
          <p:cNvPr id="378" name="Google Shape;378;p58"/>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379" name="Google Shape;379;p58"/>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380" name="Google Shape;380;p58"/>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pic>
        <p:nvPicPr>
          <p:cNvPr id="381" name="Google Shape;381;p58" title="Chart"/>
          <p:cNvPicPr preferRelativeResize="0"/>
          <p:nvPr/>
        </p:nvPicPr>
        <p:blipFill>
          <a:blip r:embed="rId4">
            <a:alphaModFix/>
          </a:blip>
          <a:stretch>
            <a:fillRect/>
          </a:stretch>
        </p:blipFill>
        <p:spPr>
          <a:xfrm>
            <a:off x="270550" y="1124525"/>
            <a:ext cx="5333700" cy="32980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385" name="Shape 385"/>
        <p:cNvGrpSpPr/>
        <p:nvPr/>
      </p:nvGrpSpPr>
      <p:grpSpPr>
        <a:xfrm>
          <a:off x="0" y="0"/>
          <a:ext cx="0" cy="0"/>
          <a:chOff x="0" y="0"/>
          <a:chExt cx="0" cy="0"/>
        </a:xfrm>
      </p:grpSpPr>
      <p:sp>
        <p:nvSpPr>
          <p:cNvPr id="386" name="Google Shape;386;p59"/>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387" name="Google Shape;387;p59"/>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388" name="Google Shape;388;p59"/>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389" name="Google Shape;389;p59"/>
          <p:cNvSpPr txBox="1"/>
          <p:nvPr/>
        </p:nvSpPr>
        <p:spPr>
          <a:xfrm>
            <a:off x="281000" y="7019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Status Codes Heading</a:t>
            </a:r>
            <a:endParaRPr/>
          </a:p>
        </p:txBody>
      </p:sp>
      <p:pic>
        <p:nvPicPr>
          <p:cNvPr id="390" name="Google Shape;390;p59" title="Chart"/>
          <p:cNvPicPr preferRelativeResize="0"/>
          <p:nvPr/>
        </p:nvPicPr>
        <p:blipFill>
          <a:blip r:embed="rId4">
            <a:alphaModFix/>
          </a:blip>
          <a:stretch>
            <a:fillRect/>
          </a:stretch>
        </p:blipFill>
        <p:spPr>
          <a:xfrm>
            <a:off x="280997" y="1469850"/>
            <a:ext cx="5080575" cy="3251576"/>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394" name="Shape 394"/>
        <p:cNvGrpSpPr/>
        <p:nvPr/>
      </p:nvGrpSpPr>
      <p:grpSpPr>
        <a:xfrm>
          <a:off x="0" y="0"/>
          <a:ext cx="0" cy="0"/>
          <a:chOff x="0" y="0"/>
          <a:chExt cx="0" cy="0"/>
        </a:xfrm>
      </p:grpSpPr>
      <p:sp>
        <p:nvSpPr>
          <p:cNvPr id="395" name="Google Shape;395;p60"/>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396" name="Google Shape;396;p60"/>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397" name="Google Shape;397;p60"/>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Authority Overview</a:t>
            </a:r>
            <a:endParaRPr sz="1200">
              <a:solidFill>
                <a:schemeClr val="lt1"/>
              </a:solidFill>
              <a:latin typeface="Proxima Nova Extrabold"/>
              <a:ea typeface="Proxima Nova Extrabold"/>
              <a:cs typeface="Proxima Nova Extrabold"/>
              <a:sym typeface="Proxima Nova Extrabold"/>
            </a:endParaRPr>
          </a:p>
        </p:txBody>
      </p:sp>
      <p:sp>
        <p:nvSpPr>
          <p:cNvPr id="398" name="Google Shape;398;p60"/>
          <p:cNvSpPr txBox="1"/>
          <p:nvPr/>
        </p:nvSpPr>
        <p:spPr>
          <a:xfrm>
            <a:off x="143325" y="624725"/>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Backlinks by Category</a:t>
            </a:r>
            <a:endParaRPr/>
          </a:p>
        </p:txBody>
      </p:sp>
      <p:pic>
        <p:nvPicPr>
          <p:cNvPr id="399" name="Google Shape;399;p60" title="Chart"/>
          <p:cNvPicPr preferRelativeResize="0"/>
          <p:nvPr/>
        </p:nvPicPr>
        <p:blipFill>
          <a:blip r:embed="rId4">
            <a:alphaModFix/>
          </a:blip>
          <a:stretch>
            <a:fillRect/>
          </a:stretch>
        </p:blipFill>
        <p:spPr>
          <a:xfrm>
            <a:off x="143325" y="1595275"/>
            <a:ext cx="5323524" cy="34070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403" name="Shape 403"/>
        <p:cNvGrpSpPr/>
        <p:nvPr/>
      </p:nvGrpSpPr>
      <p:grpSpPr>
        <a:xfrm>
          <a:off x="0" y="0"/>
          <a:ext cx="0" cy="0"/>
          <a:chOff x="0" y="0"/>
          <a:chExt cx="0" cy="0"/>
        </a:xfrm>
      </p:grpSpPr>
      <p:sp>
        <p:nvSpPr>
          <p:cNvPr id="404" name="Google Shape;404;p61"/>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405" name="Google Shape;405;p61"/>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406" name="Google Shape;406;p61"/>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Traffic</a:t>
            </a:r>
            <a:endParaRPr sz="1200">
              <a:solidFill>
                <a:schemeClr val="lt1"/>
              </a:solidFill>
              <a:latin typeface="Proxima Nova Extrabold"/>
              <a:ea typeface="Proxima Nova Extrabold"/>
              <a:cs typeface="Proxima Nova Extrabold"/>
              <a:sym typeface="Proxima Nova Extrabold"/>
            </a:endParaRPr>
          </a:p>
        </p:txBody>
      </p:sp>
      <p:sp>
        <p:nvSpPr>
          <p:cNvPr id="407" name="Google Shape;407;p61"/>
          <p:cNvSpPr txBox="1"/>
          <p:nvPr/>
        </p:nvSpPr>
        <p:spPr>
          <a:xfrm>
            <a:off x="267825" y="78065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Sessions by Category</a:t>
            </a:r>
            <a:endParaRPr/>
          </a:p>
        </p:txBody>
      </p:sp>
      <p:pic>
        <p:nvPicPr>
          <p:cNvPr id="408" name="Google Shape;408;p61" title="Chart"/>
          <p:cNvPicPr preferRelativeResize="0"/>
          <p:nvPr/>
        </p:nvPicPr>
        <p:blipFill>
          <a:blip r:embed="rId4">
            <a:alphaModFix/>
          </a:blip>
          <a:stretch>
            <a:fillRect/>
          </a:stretch>
        </p:blipFill>
        <p:spPr>
          <a:xfrm>
            <a:off x="197825" y="1303850"/>
            <a:ext cx="5642349" cy="34888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412" name="Shape 412"/>
        <p:cNvGrpSpPr/>
        <p:nvPr/>
      </p:nvGrpSpPr>
      <p:grpSpPr>
        <a:xfrm>
          <a:off x="0" y="0"/>
          <a:ext cx="0" cy="0"/>
          <a:chOff x="0" y="0"/>
          <a:chExt cx="0" cy="0"/>
        </a:xfrm>
      </p:grpSpPr>
      <p:sp>
        <p:nvSpPr>
          <p:cNvPr id="413" name="Google Shape;413;p62"/>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414" name="Google Shape;414;p62"/>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415" name="Google Shape;415;p62"/>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416" name="Google Shape;416;p62"/>
          <p:cNvSpPr txBox="1"/>
          <p:nvPr/>
        </p:nvSpPr>
        <p:spPr>
          <a:xfrm>
            <a:off x="3071925" y="61300"/>
            <a:ext cx="2279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Revenue </a:t>
            </a:r>
            <a:endParaRPr/>
          </a:p>
        </p:txBody>
      </p:sp>
      <p:pic>
        <p:nvPicPr>
          <p:cNvPr id="417" name="Google Shape;417;p62" title="Chart"/>
          <p:cNvPicPr preferRelativeResize="0"/>
          <p:nvPr/>
        </p:nvPicPr>
        <p:blipFill>
          <a:blip r:embed="rId4">
            <a:alphaModFix/>
          </a:blip>
          <a:stretch>
            <a:fillRect/>
          </a:stretch>
        </p:blipFill>
        <p:spPr>
          <a:xfrm>
            <a:off x="150925" y="677475"/>
            <a:ext cx="5200101" cy="2201377"/>
          </a:xfrm>
          <a:prstGeom prst="rect">
            <a:avLst/>
          </a:prstGeom>
          <a:noFill/>
          <a:ln>
            <a:noFill/>
          </a:ln>
          <a:effectLst>
            <a:outerShdw blurRad="57150" rotWithShape="0" algn="bl" dir="5400000" dist="19050">
              <a:srgbClr val="000000">
                <a:alpha val="50000"/>
              </a:srgbClr>
            </a:outerShdw>
          </a:effectLst>
        </p:spPr>
      </p:pic>
      <p:graphicFrame>
        <p:nvGraphicFramePr>
          <p:cNvPr id="418" name="Google Shape;418;p62"/>
          <p:cNvGraphicFramePr/>
          <p:nvPr/>
        </p:nvGraphicFramePr>
        <p:xfrm>
          <a:off x="150925" y="3119975"/>
          <a:ext cx="3000000" cy="3000000"/>
        </p:xfrm>
        <a:graphic>
          <a:graphicData uri="http://schemas.openxmlformats.org/drawingml/2006/table">
            <a:tbl>
              <a:tblPr>
                <a:noFill/>
                <a:tableStyleId>{0753F70E-ACAF-4CC4-84DF-E9586A898B6C}</a:tableStyleId>
              </a:tblPr>
              <a:tblGrid>
                <a:gridCol w="3932000"/>
                <a:gridCol w="1268100"/>
              </a:tblGrid>
              <a:tr h="179175">
                <a:tc>
                  <a:txBody>
                    <a:bodyPr/>
                    <a:lstStyle/>
                    <a:p>
                      <a:pPr indent="0" lvl="0" marL="0" rtl="0" algn="l">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Top 5 Pages by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c>
                  <a:txBody>
                    <a:bodyPr/>
                    <a:lstStyle/>
                    <a:p>
                      <a:pPr indent="0" lvl="0" marL="0" rtl="0" algn="ctr">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Purchase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r>
              <a:tr h="185000">
                <a:tc>
                  <a:txBody>
                    <a:bodyPr/>
                    <a:lstStyle/>
                    <a:p>
                      <a:pPr indent="0" lvl="0" marL="0" rtl="0" algn="l">
                        <a:lnSpc>
                          <a:spcPct val="115000"/>
                        </a:lnSpc>
                        <a:spcBef>
                          <a:spcPts val="0"/>
                        </a:spcBef>
                        <a:spcAft>
                          <a:spcPts val="0"/>
                        </a:spcAft>
                        <a:buNone/>
                      </a:pPr>
                      <a:r>
                        <a:rPr lang="en" sz="1100" u="sng">
                          <a:solidFill>
                            <a:schemeClr val="hlink"/>
                          </a:solidFill>
                          <a:latin typeface="Proxima Nova"/>
                          <a:ea typeface="Proxima Nova"/>
                          <a:cs typeface="Proxima Nova"/>
                          <a:sym typeface="Proxima Nova"/>
                          <a:hlinkClick r:id="rId5"/>
                        </a:rPr>
                        <a:t>https://www.coloradorafting.net/</a:t>
                      </a:r>
                      <a:endParaRPr sz="11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latin typeface="Proxima Nova"/>
                          <a:ea typeface="Proxima Nova"/>
                          <a:cs typeface="Proxima Nova"/>
                          <a:sym typeface="Proxima Nova"/>
                        </a:rPr>
                        <a:t>$11,821</a:t>
                      </a:r>
                      <a:endParaRPr sz="11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28875">
                <a:tc>
                  <a:txBody>
                    <a:bodyPr/>
                    <a:lstStyle/>
                    <a:p>
                      <a:pPr indent="0" lvl="0" marL="0" rtl="0" algn="l">
                        <a:lnSpc>
                          <a:spcPct val="115000"/>
                        </a:lnSpc>
                        <a:spcBef>
                          <a:spcPts val="0"/>
                        </a:spcBef>
                        <a:spcAft>
                          <a:spcPts val="0"/>
                        </a:spcAft>
                        <a:buNone/>
                      </a:pPr>
                      <a:r>
                        <a:rPr lang="en" sz="1100" u="sng">
                          <a:solidFill>
                            <a:schemeClr val="hlink"/>
                          </a:solidFill>
                          <a:latin typeface="Proxima Nova"/>
                          <a:ea typeface="Proxima Nova"/>
                          <a:cs typeface="Proxima Nova"/>
                          <a:sym typeface="Proxima Nova"/>
                          <a:hlinkClick r:id="rId6"/>
                        </a:rPr>
                        <a:t>https://www.coloradorafting.net/trip-packages/</a:t>
                      </a:r>
                      <a:endParaRPr sz="11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latin typeface="Proxima Nova"/>
                          <a:ea typeface="Proxima Nova"/>
                          <a:cs typeface="Proxima Nova"/>
                          <a:sym typeface="Proxima Nova"/>
                        </a:rPr>
                        <a:t>$3,118</a:t>
                      </a:r>
                      <a:endParaRPr sz="11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28875">
                <a:tc>
                  <a:txBody>
                    <a:bodyPr/>
                    <a:lstStyle/>
                    <a:p>
                      <a:pPr indent="0" lvl="0" marL="0" rtl="0" algn="l">
                        <a:lnSpc>
                          <a:spcPct val="115000"/>
                        </a:lnSpc>
                        <a:spcBef>
                          <a:spcPts val="0"/>
                        </a:spcBef>
                        <a:spcAft>
                          <a:spcPts val="0"/>
                        </a:spcAft>
                        <a:buNone/>
                      </a:pPr>
                      <a:r>
                        <a:rPr lang="en" sz="1100" u="sng">
                          <a:solidFill>
                            <a:schemeClr val="hlink"/>
                          </a:solidFill>
                          <a:latin typeface="Proxima Nova"/>
                          <a:ea typeface="Proxima Nova"/>
                          <a:cs typeface="Proxima Nova"/>
                          <a:sym typeface="Proxima Nova"/>
                          <a:hlinkClick r:id="rId7"/>
                        </a:rPr>
                        <a:t>https://www.coloradorafting.net/trip-packages/raft-via-ferrata/</a:t>
                      </a:r>
                      <a:endParaRPr sz="11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latin typeface="Proxima Nova"/>
                          <a:ea typeface="Proxima Nova"/>
                          <a:cs typeface="Proxima Nova"/>
                          <a:sym typeface="Proxima Nova"/>
                        </a:rPr>
                        <a:t>$1,145</a:t>
                      </a:r>
                      <a:endParaRPr sz="11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28875">
                <a:tc>
                  <a:txBody>
                    <a:bodyPr/>
                    <a:lstStyle/>
                    <a:p>
                      <a:pPr indent="0" lvl="0" marL="0" rtl="0" algn="l">
                        <a:lnSpc>
                          <a:spcPct val="115000"/>
                        </a:lnSpc>
                        <a:spcBef>
                          <a:spcPts val="0"/>
                        </a:spcBef>
                        <a:spcAft>
                          <a:spcPts val="0"/>
                        </a:spcAft>
                        <a:buNone/>
                      </a:pPr>
                      <a:r>
                        <a:rPr lang="en" sz="1100" u="sng">
                          <a:solidFill>
                            <a:schemeClr val="hlink"/>
                          </a:solidFill>
                          <a:latin typeface="Proxima Nova"/>
                          <a:ea typeface="Proxima Nova"/>
                          <a:cs typeface="Proxima Nova"/>
                          <a:sym typeface="Proxima Nova"/>
                          <a:hlinkClick r:id="rId8"/>
                        </a:rPr>
                        <a:t>https://www.coloradorafting.net/trip-packages/raft-utv-rentals/</a:t>
                      </a:r>
                      <a:endParaRPr sz="11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latin typeface="Proxima Nova"/>
                          <a:ea typeface="Proxima Nova"/>
                          <a:cs typeface="Proxima Nova"/>
                          <a:sym typeface="Proxima Nova"/>
                        </a:rPr>
                        <a:t>$795</a:t>
                      </a:r>
                      <a:endParaRPr sz="11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r h="328875">
                <a:tc>
                  <a:txBody>
                    <a:bodyPr/>
                    <a:lstStyle/>
                    <a:p>
                      <a:pPr indent="0" lvl="0" marL="0" rtl="0" algn="l">
                        <a:lnSpc>
                          <a:spcPct val="115000"/>
                        </a:lnSpc>
                        <a:spcBef>
                          <a:spcPts val="0"/>
                        </a:spcBef>
                        <a:spcAft>
                          <a:spcPts val="0"/>
                        </a:spcAft>
                        <a:buNone/>
                      </a:pPr>
                      <a:r>
                        <a:rPr lang="en" sz="1100" u="sng">
                          <a:solidFill>
                            <a:schemeClr val="hlink"/>
                          </a:solidFill>
                          <a:latin typeface="Proxima Nova"/>
                          <a:ea typeface="Proxima Nova"/>
                          <a:cs typeface="Proxima Nova"/>
                          <a:sym typeface="Proxima Nova"/>
                          <a:hlinkClick r:id="rId9"/>
                        </a:rPr>
                        <a:t>https://www.coloradorafting.net/trips/clear-creek-gold-rush/</a:t>
                      </a:r>
                      <a:endParaRPr sz="11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latin typeface="Proxima Nova"/>
                          <a:ea typeface="Proxima Nova"/>
                          <a:cs typeface="Proxima Nova"/>
                          <a:sym typeface="Proxima Nova"/>
                        </a:rPr>
                        <a:t>$718</a:t>
                      </a:r>
                      <a:endParaRPr sz="11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422" name="Shape 422"/>
        <p:cNvGrpSpPr/>
        <p:nvPr/>
      </p:nvGrpSpPr>
      <p:grpSpPr>
        <a:xfrm>
          <a:off x="0" y="0"/>
          <a:ext cx="0" cy="0"/>
          <a:chOff x="0" y="0"/>
          <a:chExt cx="0" cy="0"/>
        </a:xfrm>
      </p:grpSpPr>
      <p:sp>
        <p:nvSpPr>
          <p:cNvPr id="423" name="Google Shape;423;p63"/>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424" name="Google Shape;424;p63"/>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425" name="Google Shape;425;p63"/>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426" name="Google Shape;426;p63"/>
          <p:cNvSpPr txBox="1"/>
          <p:nvPr/>
        </p:nvSpPr>
        <p:spPr>
          <a:xfrm>
            <a:off x="267575" y="806475"/>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rgbClr val="F00D68"/>
                </a:solidFill>
                <a:latin typeface="Proxima Nova"/>
                <a:ea typeface="Proxima Nova"/>
                <a:cs typeface="Proxima Nova"/>
                <a:sym typeface="Proxima Nova"/>
              </a:rPr>
              <a:t>Pages Driving Revenue</a:t>
            </a:r>
            <a:endParaRPr sz="1300"/>
          </a:p>
        </p:txBody>
      </p:sp>
      <p:pic>
        <p:nvPicPr>
          <p:cNvPr id="427" name="Google Shape;427;p63" title="Chart"/>
          <p:cNvPicPr preferRelativeResize="0"/>
          <p:nvPr/>
        </p:nvPicPr>
        <p:blipFill>
          <a:blip r:embed="rId4">
            <a:alphaModFix/>
          </a:blip>
          <a:stretch>
            <a:fillRect/>
          </a:stretch>
        </p:blipFill>
        <p:spPr>
          <a:xfrm>
            <a:off x="267575" y="1423201"/>
            <a:ext cx="5166351" cy="21871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31" name="Shape 431"/>
        <p:cNvGrpSpPr/>
        <p:nvPr/>
      </p:nvGrpSpPr>
      <p:grpSpPr>
        <a:xfrm>
          <a:off x="0" y="0"/>
          <a:ext cx="0" cy="0"/>
          <a:chOff x="0" y="0"/>
          <a:chExt cx="0" cy="0"/>
        </a:xfrm>
      </p:grpSpPr>
      <p:sp>
        <p:nvSpPr>
          <p:cNvPr id="432" name="Google Shape;432;p64"/>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4"/>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434" name="Google Shape;434;p64"/>
          <p:cNvSpPr txBox="1"/>
          <p:nvPr/>
        </p:nvSpPr>
        <p:spPr>
          <a:xfrm>
            <a:off x="2875500" y="342900"/>
            <a:ext cx="6268500" cy="453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Issue: Improper Canonicalization of Paginated Blog URLs</a:t>
            </a:r>
            <a:endParaRPr sz="1200">
              <a:solidFill>
                <a:srgbClr val="E21A6B"/>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chemeClr val="dk1"/>
                </a:solidFill>
                <a:latin typeface="Proxima Nova"/>
                <a:ea typeface="Proxima Nova"/>
                <a:cs typeface="Proxima Nova"/>
                <a:sym typeface="Proxima Nova"/>
              </a:rPr>
              <a:t>Current Setup: </a:t>
            </a:r>
            <a:r>
              <a:rPr lang="en" sz="1200">
                <a:solidFill>
                  <a:schemeClr val="dk1"/>
                </a:solidFill>
                <a:latin typeface="Proxima Nova"/>
                <a:ea typeface="Proxima Nova"/>
                <a:cs typeface="Proxima Nova"/>
                <a:sym typeface="Proxima Nova"/>
              </a:rPr>
              <a:t>All paginated blog and trip category URLs (e.g., /blog/?sf_paged=2, /blog/?sf_paged=3, etc.) canonicalize to the main blog or trip category page.</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chemeClr val="dk1"/>
                </a:solidFill>
                <a:latin typeface="Proxima Nova"/>
                <a:ea typeface="Proxima Nova"/>
                <a:cs typeface="Proxima Nova"/>
                <a:sym typeface="Proxima Nova"/>
              </a:rPr>
              <a:t>Why This is a Problem:</a:t>
            </a:r>
            <a:endParaRPr b="1"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Indexation Loss:</a:t>
            </a:r>
            <a:r>
              <a:rPr lang="en" sz="1200">
                <a:solidFill>
                  <a:schemeClr val="dk1"/>
                </a:solidFill>
                <a:latin typeface="Proxima Nova"/>
                <a:ea typeface="Proxima Nova"/>
                <a:cs typeface="Proxima Nova"/>
                <a:sym typeface="Proxima Nova"/>
              </a:rPr>
              <a:t> Search engines may not index deeper blog posts that only appear on paginated URLs, reducing their discoverability.</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Diluted Signals: </a:t>
            </a:r>
            <a:r>
              <a:rPr lang="en" sz="1200">
                <a:solidFill>
                  <a:schemeClr val="dk1"/>
                </a:solidFill>
                <a:latin typeface="Proxima Nova"/>
                <a:ea typeface="Proxima Nova"/>
                <a:cs typeface="Proxima Nova"/>
                <a:sym typeface="Proxima Nova"/>
              </a:rPr>
              <a:t>Links, crawl signals, and engagement metrics from paginated pages are not attributed correctly, which can hurt overall blog performance.</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Bad for SEO:</a:t>
            </a:r>
            <a:r>
              <a:rPr lang="en" sz="1200">
                <a:solidFill>
                  <a:schemeClr val="dk1"/>
                </a:solidFill>
                <a:latin typeface="Proxima Nova"/>
                <a:ea typeface="Proxima Nova"/>
                <a:cs typeface="Proxima Nova"/>
                <a:sym typeface="Proxima Nova"/>
              </a:rPr>
              <a:t> Canonicalizing all paginated URLs to /blog/ contradicts Google's pagination best practices, even post-rel=next/prev deprecation.</a:t>
            </a:r>
            <a:endParaRPr sz="1200">
              <a:solidFill>
                <a:schemeClr val="dk1"/>
              </a:solidFill>
              <a:latin typeface="Proxima Nova"/>
              <a:ea typeface="Proxima Nova"/>
              <a:cs typeface="Proxima Nova"/>
              <a:sym typeface="Proxima Nova"/>
            </a:endParaRPr>
          </a:p>
          <a:p>
            <a:pPr indent="0" lvl="0" marL="0" rtl="0" algn="l">
              <a:lnSpc>
                <a:spcPct val="115000"/>
              </a:lnSpc>
              <a:spcBef>
                <a:spcPts val="1400"/>
              </a:spcBef>
              <a:spcAft>
                <a:spcPts val="0"/>
              </a:spcAft>
              <a:buClr>
                <a:schemeClr val="dk1"/>
              </a:buClr>
              <a:buSzPts val="1100"/>
              <a:buFont typeface="Arial"/>
              <a:buNone/>
            </a:pPr>
            <a:r>
              <a:rPr b="1" lang="en" sz="1200" u="sng">
                <a:solidFill>
                  <a:schemeClr val="dk1"/>
                </a:solidFill>
                <a:latin typeface="Proxima Nova"/>
                <a:ea typeface="Proxima Nova"/>
                <a:cs typeface="Proxima Nova"/>
                <a:sym typeface="Proxima Nova"/>
              </a:rPr>
              <a:t>Recommendation: Canonicalize - Use Self-Referencing Canonical Tags</a:t>
            </a:r>
            <a:endParaRPr b="1" sz="1200" u="sng">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Proxima Nova"/>
                <a:ea typeface="Proxima Nova"/>
                <a:cs typeface="Proxima Nova"/>
                <a:sym typeface="Proxima Nova"/>
              </a:rPr>
              <a:t>Each paginated page should canonicalize to itself:</a:t>
            </a:r>
            <a:endParaRPr b="1" sz="1200">
              <a:solidFill>
                <a:schemeClr val="dk1"/>
              </a:solidFill>
              <a:latin typeface="Proxima Nova"/>
              <a:ea typeface="Proxima Nova"/>
              <a:cs typeface="Proxima Nova"/>
              <a:sym typeface="Proxima Nova"/>
            </a:endParaRPr>
          </a:p>
          <a:p>
            <a:pPr indent="-304800" lvl="0" marL="457200" rtl="0" algn="l">
              <a:lnSpc>
                <a:spcPct val="115000"/>
              </a:lnSpc>
              <a:spcBef>
                <a:spcPts val="1200"/>
              </a:spcBef>
              <a:spcAft>
                <a:spcPts val="0"/>
              </a:spcAft>
              <a:buClr>
                <a:schemeClr val="dk1"/>
              </a:buClr>
              <a:buSzPts val="1200"/>
              <a:buChar char="●"/>
            </a:pPr>
            <a:r>
              <a:rPr lang="en" sz="1200">
                <a:solidFill>
                  <a:srgbClr val="188038"/>
                </a:solidFill>
                <a:latin typeface="Proxima Nova"/>
                <a:ea typeface="Proxima Nova"/>
                <a:cs typeface="Proxima Nova"/>
                <a:sym typeface="Proxima Nova"/>
              </a:rPr>
              <a:t>/blog/?sf_paged=2</a:t>
            </a:r>
            <a:r>
              <a:rPr lang="en" sz="1200">
                <a:solidFill>
                  <a:schemeClr val="dk1"/>
                </a:solidFill>
                <a:latin typeface="Proxima Nova"/>
                <a:ea typeface="Proxima Nova"/>
                <a:cs typeface="Proxima Nova"/>
                <a:sym typeface="Proxima Nova"/>
              </a:rPr>
              <a:t> → canonical to </a:t>
            </a:r>
            <a:r>
              <a:rPr lang="en" sz="1200">
                <a:solidFill>
                  <a:srgbClr val="188038"/>
                </a:solidFill>
                <a:latin typeface="Proxima Nova"/>
                <a:ea typeface="Proxima Nova"/>
                <a:cs typeface="Proxima Nova"/>
                <a:sym typeface="Proxima Nova"/>
              </a:rPr>
              <a:t>/blog/?sf_paged=2</a:t>
            </a:r>
            <a:endParaRPr sz="1200">
              <a:solidFill>
                <a:srgbClr val="188038"/>
              </a:solidFill>
              <a:latin typeface="Proxima Nova"/>
              <a:ea typeface="Proxima Nova"/>
              <a:cs typeface="Proxima Nova"/>
              <a:sym typeface="Proxima Nova"/>
            </a:endParaRPr>
          </a:p>
          <a:p>
            <a:pPr indent="-304800" lvl="0" marL="457200" rtl="0" algn="l">
              <a:lnSpc>
                <a:spcPct val="115000"/>
              </a:lnSpc>
              <a:spcBef>
                <a:spcPts val="0"/>
              </a:spcBef>
              <a:spcAft>
                <a:spcPts val="0"/>
              </a:spcAft>
              <a:buClr>
                <a:schemeClr val="dk1"/>
              </a:buClr>
              <a:buSzPts val="1200"/>
              <a:buChar char="●"/>
            </a:pPr>
            <a:r>
              <a:rPr lang="en" sz="1200">
                <a:solidFill>
                  <a:srgbClr val="188038"/>
                </a:solidFill>
                <a:latin typeface="Proxima Nova"/>
                <a:ea typeface="Proxima Nova"/>
                <a:cs typeface="Proxima Nova"/>
                <a:sym typeface="Proxima Nova"/>
              </a:rPr>
              <a:t>/blog/?sf_paged=3</a:t>
            </a:r>
            <a:r>
              <a:rPr lang="en" sz="1200">
                <a:solidFill>
                  <a:schemeClr val="dk1"/>
                </a:solidFill>
                <a:latin typeface="Proxima Nova"/>
                <a:ea typeface="Proxima Nova"/>
                <a:cs typeface="Proxima Nova"/>
                <a:sym typeface="Proxima Nova"/>
              </a:rPr>
              <a:t> → canonical to </a:t>
            </a:r>
            <a:r>
              <a:rPr lang="en" sz="1200">
                <a:solidFill>
                  <a:srgbClr val="188038"/>
                </a:solidFill>
                <a:latin typeface="Proxima Nova"/>
                <a:ea typeface="Proxima Nova"/>
                <a:cs typeface="Proxima Nova"/>
                <a:sym typeface="Proxima Nova"/>
              </a:rPr>
              <a:t>/blog/?sf_paged=3</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 sz="1200">
                <a:solidFill>
                  <a:schemeClr val="dk1"/>
                </a:solidFill>
                <a:latin typeface="Proxima Nova"/>
                <a:ea typeface="Proxima Nova"/>
                <a:cs typeface="Proxima Nova"/>
                <a:sym typeface="Proxima Nova"/>
              </a:rPr>
              <a:t>This will fix all issues in the “Aggregation” tab assigned a “Canonicalize” URL Action. </a:t>
            </a:r>
            <a:endParaRPr sz="1200">
              <a:solidFill>
                <a:schemeClr val="dk1"/>
              </a:solidFill>
              <a:latin typeface="Proxima Nova"/>
              <a:ea typeface="Proxima Nova"/>
              <a:cs typeface="Proxima Nova"/>
              <a:sym typeface="Proxima Nova"/>
            </a:endParaRPr>
          </a:p>
          <a:p>
            <a:pPr indent="0" lvl="0" marL="0" rtl="0" algn="l">
              <a:lnSpc>
                <a:spcPct val="100000"/>
              </a:lnSpc>
              <a:spcBef>
                <a:spcPts val="12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435" name="Google Shape;435;p64"/>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436" name="Google Shape;436;p64"/>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1000"/>
                                        <p:tgtEl>
                                          <p:spTgt spid="4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40" name="Shape 440"/>
        <p:cNvGrpSpPr/>
        <p:nvPr/>
      </p:nvGrpSpPr>
      <p:grpSpPr>
        <a:xfrm>
          <a:off x="0" y="0"/>
          <a:ext cx="0" cy="0"/>
          <a:chOff x="0" y="0"/>
          <a:chExt cx="0" cy="0"/>
        </a:xfrm>
      </p:grpSpPr>
      <p:sp>
        <p:nvSpPr>
          <p:cNvPr id="441" name="Google Shape;441;p65"/>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5"/>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443" name="Google Shape;443;p65"/>
          <p:cNvSpPr txBox="1"/>
          <p:nvPr/>
        </p:nvSpPr>
        <p:spPr>
          <a:xfrm>
            <a:off x="2875500" y="342900"/>
            <a:ext cx="6268500" cy="453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Issue: Internal Links Point to 301 Redirects</a:t>
            </a:r>
            <a:endParaRPr sz="1200">
              <a:solidFill>
                <a:srgbClr val="E21A6B"/>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lang="en" sz="1200">
                <a:solidFill>
                  <a:schemeClr val="dk1"/>
                </a:solidFill>
                <a:latin typeface="Proxima Nova"/>
                <a:ea typeface="Proxima Nova"/>
                <a:cs typeface="Proxima Nova"/>
                <a:sym typeface="Proxima Nova"/>
              </a:rPr>
              <a:t>Over 300 internal links on the site point to URLs that return a 301 redirect instead of linking directly to the final destination page.</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chemeClr val="dk1"/>
                </a:solidFill>
                <a:latin typeface="Proxima Nova"/>
                <a:ea typeface="Proxima Nova"/>
                <a:cs typeface="Proxima Nova"/>
                <a:sym typeface="Proxima Nova"/>
              </a:rPr>
              <a:t>Why This is a Problem:</a:t>
            </a:r>
            <a:endParaRPr b="1"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Wasted Crawl Budget:</a:t>
            </a:r>
            <a:r>
              <a:rPr lang="en" sz="1200">
                <a:solidFill>
                  <a:schemeClr val="dk1"/>
                </a:solidFill>
                <a:latin typeface="Proxima Nova"/>
                <a:ea typeface="Proxima Nova"/>
                <a:cs typeface="Proxima Nova"/>
                <a:sym typeface="Proxima Nova"/>
              </a:rPr>
              <a:t> Search engines must crawl both the redirect and the destination, reducing efficiency.</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Diluted Link Eq</a:t>
            </a:r>
            <a:r>
              <a:rPr b="1" lang="en" sz="1200">
                <a:solidFill>
                  <a:schemeClr val="dk1"/>
                </a:solidFill>
                <a:latin typeface="Proxima Nova"/>
                <a:ea typeface="Proxima Nova"/>
                <a:cs typeface="Proxima Nova"/>
                <a:sym typeface="Proxima Nova"/>
              </a:rPr>
              <a:t>u</a:t>
            </a:r>
            <a:r>
              <a:rPr b="1" lang="en" sz="1200">
                <a:solidFill>
                  <a:schemeClr val="dk1"/>
                </a:solidFill>
                <a:latin typeface="Proxima Nova"/>
                <a:ea typeface="Proxima Nova"/>
                <a:cs typeface="Proxima Nova"/>
                <a:sym typeface="Proxima Nova"/>
              </a:rPr>
              <a:t>ity: </a:t>
            </a:r>
            <a:r>
              <a:rPr lang="en" sz="1200">
                <a:solidFill>
                  <a:schemeClr val="dk1"/>
                </a:solidFill>
                <a:latin typeface="Proxima Nova"/>
                <a:ea typeface="Proxima Nova"/>
                <a:cs typeface="Proxima Nova"/>
                <a:sym typeface="Proxima Nova"/>
              </a:rPr>
              <a:t>Although Google passes PageRank through redirects, some value may be lost or delayed.</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Slower Page Load: </a:t>
            </a:r>
            <a:r>
              <a:rPr lang="en" sz="1200">
                <a:solidFill>
                  <a:schemeClr val="dk1"/>
                </a:solidFill>
                <a:latin typeface="Proxima Nova"/>
                <a:ea typeface="Proxima Nova"/>
                <a:cs typeface="Proxima Nova"/>
                <a:sym typeface="Proxima Nova"/>
              </a:rPr>
              <a:t>Each redirect adds extra HTTP requests, which can negatively affect page speed and user experience.</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Signals Confusion: </a:t>
            </a:r>
            <a:r>
              <a:rPr lang="en" sz="1200">
                <a:solidFill>
                  <a:schemeClr val="dk1"/>
                </a:solidFill>
                <a:latin typeface="Proxima Nova"/>
                <a:ea typeface="Proxima Nova"/>
                <a:cs typeface="Proxima Nova"/>
                <a:sym typeface="Proxima Nova"/>
              </a:rPr>
              <a:t>It creates unnecessary complexity for search engines trying to interpret your internal structure.</a:t>
            </a:r>
            <a:endParaRPr sz="1200">
              <a:solidFill>
                <a:schemeClr val="dk1"/>
              </a:solidFill>
              <a:latin typeface="Proxima Nova"/>
              <a:ea typeface="Proxima Nova"/>
              <a:cs typeface="Proxima Nova"/>
              <a:sym typeface="Proxima Nova"/>
            </a:endParaRPr>
          </a:p>
          <a:p>
            <a:pPr indent="0" lvl="0" marL="0" rtl="0" algn="l">
              <a:lnSpc>
                <a:spcPct val="115000"/>
              </a:lnSpc>
              <a:spcBef>
                <a:spcPts val="1400"/>
              </a:spcBef>
              <a:spcAft>
                <a:spcPts val="0"/>
              </a:spcAft>
              <a:buNone/>
            </a:pPr>
            <a:r>
              <a:rPr b="1" lang="en" sz="1200" u="sng">
                <a:solidFill>
                  <a:schemeClr val="dk1"/>
                </a:solidFill>
                <a:latin typeface="Proxima Nova"/>
                <a:ea typeface="Proxima Nova"/>
                <a:cs typeface="Proxima Nova"/>
                <a:sym typeface="Proxima Nova"/>
              </a:rPr>
              <a:t>Recommendation: </a:t>
            </a:r>
            <a:r>
              <a:rPr b="1" lang="en" sz="1200" u="sng">
                <a:solidFill>
                  <a:schemeClr val="dk1"/>
                </a:solidFill>
                <a:latin typeface="Proxima Nova"/>
                <a:ea typeface="Proxima Nova"/>
                <a:cs typeface="Proxima Nova"/>
                <a:sym typeface="Proxima Nova"/>
              </a:rPr>
              <a:t>Update all internal links to point directly to the final URL</a:t>
            </a:r>
            <a:endParaRPr b="1" sz="1200" u="sng">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 sz="1200">
                <a:solidFill>
                  <a:schemeClr val="dk1"/>
                </a:solidFill>
                <a:latin typeface="Proxima Nova"/>
                <a:ea typeface="Proxima Nova"/>
                <a:cs typeface="Proxima Nova"/>
                <a:sym typeface="Proxima Nova"/>
              </a:rPr>
              <a:t>Using the “</a:t>
            </a:r>
            <a:r>
              <a:rPr lang="en" sz="1200" u="sng">
                <a:solidFill>
                  <a:schemeClr val="hlink"/>
                </a:solidFill>
                <a:latin typeface="Proxima Nova"/>
                <a:ea typeface="Proxima Nova"/>
                <a:cs typeface="Proxima Nova"/>
                <a:sym typeface="Proxima Nova"/>
                <a:hlinkClick r:id="rId3"/>
              </a:rPr>
              <a:t>Find and Remove or Replace</a:t>
            </a:r>
            <a:r>
              <a:rPr lang="en" sz="1200">
                <a:solidFill>
                  <a:schemeClr val="dk1"/>
                </a:solidFill>
                <a:latin typeface="Proxima Nova"/>
                <a:ea typeface="Proxima Nova"/>
                <a:cs typeface="Proxima Nova"/>
                <a:sym typeface="Proxima Nova"/>
              </a:rPr>
              <a:t>” tab in the WQA, perform a Find and Replace for all 301 Redirects on the site, as instructed by the sheet. </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 sz="1200">
                <a:solidFill>
                  <a:schemeClr val="dk1"/>
                </a:solidFill>
                <a:latin typeface="Proxima Nova"/>
                <a:ea typeface="Proxima Nova"/>
                <a:cs typeface="Proxima Nova"/>
                <a:sym typeface="Proxima Nova"/>
              </a:rPr>
              <a:t>This will fix all issues in the “Aggregation” tab assigned a “Find and Replace” URL Action. </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0" lvl="0" marL="0" rtl="0" algn="l">
              <a:lnSpc>
                <a:spcPct val="100000"/>
              </a:lnSpc>
              <a:spcBef>
                <a:spcPts val="12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444" name="Google Shape;444;p6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pic>
        <p:nvPicPr>
          <p:cNvPr id="445" name="Google Shape;445;p65"/>
          <p:cNvPicPr preferRelativeResize="0"/>
          <p:nvPr/>
        </p:nvPicPr>
        <p:blipFill rotWithShape="1">
          <a:blip r:embed="rId5">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1000"/>
                                        <p:tgtEl>
                                          <p:spTgt spid="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49" name="Shape 449"/>
        <p:cNvGrpSpPr/>
        <p:nvPr/>
      </p:nvGrpSpPr>
      <p:grpSpPr>
        <a:xfrm>
          <a:off x="0" y="0"/>
          <a:ext cx="0" cy="0"/>
          <a:chOff x="0" y="0"/>
          <a:chExt cx="0" cy="0"/>
        </a:xfrm>
      </p:grpSpPr>
      <p:sp>
        <p:nvSpPr>
          <p:cNvPr id="450" name="Google Shape;450;p66"/>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66"/>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452" name="Google Shape;452;p66"/>
          <p:cNvSpPr txBox="1"/>
          <p:nvPr/>
        </p:nvSpPr>
        <p:spPr>
          <a:xfrm>
            <a:off x="2875500" y="342900"/>
            <a:ext cx="6268500" cy="453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Opportunity: Improve EEAT (Experience, Expertise, Authoritativeness, Trustworthiness) Signals</a:t>
            </a:r>
            <a:endParaRPr b="1" sz="1200">
              <a:solidFill>
                <a:srgbClr val="E21A6B"/>
              </a:solidFill>
              <a:latin typeface="Proxima Nova"/>
              <a:ea typeface="Proxima Nova"/>
              <a:cs typeface="Proxima Nova"/>
              <a:sym typeface="Proxima Nova"/>
            </a:endParaRPr>
          </a:p>
          <a:p>
            <a:pPr indent="0" lvl="0" marL="0" rtl="0" algn="l">
              <a:lnSpc>
                <a:spcPct val="100000"/>
              </a:lnSpc>
              <a:spcBef>
                <a:spcPts val="700"/>
              </a:spcBef>
              <a:spcAft>
                <a:spcPts val="0"/>
              </a:spcAft>
              <a:buClr>
                <a:schemeClr val="dk1"/>
              </a:buClr>
              <a:buSzPts val="1100"/>
              <a:buFont typeface="Arial"/>
              <a:buNone/>
            </a:pPr>
            <a:r>
              <a:t/>
            </a:r>
            <a:endParaRPr b="1" sz="1200">
              <a:solidFill>
                <a:srgbClr val="E21A6B"/>
              </a:solidFill>
              <a:latin typeface="Proxima Nova"/>
              <a:ea typeface="Proxima Nova"/>
              <a:cs typeface="Proxima Nova"/>
              <a:sym typeface="Proxima Nova"/>
            </a:endParaRPr>
          </a:p>
          <a:p>
            <a:pPr indent="0" lvl="0" marL="0" rtl="0" algn="l">
              <a:lnSpc>
                <a:spcPct val="100000"/>
              </a:lnSpc>
              <a:spcBef>
                <a:spcPts val="70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Recommendation #1: Create Individual Author Pages</a:t>
            </a:r>
            <a:endParaRPr sz="1200">
              <a:solidFill>
                <a:srgbClr val="E21A6B"/>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 sz="1200">
                <a:solidFill>
                  <a:schemeClr val="dk1"/>
                </a:solidFill>
                <a:latin typeface="Proxima Nova"/>
                <a:ea typeface="Proxima Nova"/>
                <a:cs typeface="Proxima Nova"/>
                <a:sym typeface="Proxima Nova"/>
              </a:rPr>
              <a:t>A single "</a:t>
            </a:r>
            <a:r>
              <a:rPr lang="en" sz="1200" u="sng">
                <a:solidFill>
                  <a:schemeClr val="hlink"/>
                </a:solidFill>
                <a:latin typeface="Proxima Nova"/>
                <a:ea typeface="Proxima Nova"/>
                <a:cs typeface="Proxima Nova"/>
                <a:sym typeface="Proxima Nova"/>
                <a:hlinkClick r:id="rId3"/>
              </a:rPr>
              <a:t>Meet Our Authors</a:t>
            </a:r>
            <a:r>
              <a:rPr lang="en" sz="1200">
                <a:solidFill>
                  <a:schemeClr val="dk1"/>
                </a:solidFill>
                <a:latin typeface="Proxima Nova"/>
                <a:ea typeface="Proxima Nova"/>
                <a:cs typeface="Proxima Nova"/>
                <a:sym typeface="Proxima Nova"/>
              </a:rPr>
              <a:t>" page lists contributors but does not include dedicated author profile pages.</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Proxima Nova"/>
                <a:ea typeface="Proxima Nova"/>
                <a:cs typeface="Proxima Nova"/>
                <a:sym typeface="Proxima Nova"/>
              </a:rPr>
              <a:t>Create an individual page for Amber and Mitchell, including:</a:t>
            </a:r>
            <a:endParaRPr b="1" sz="1200">
              <a:solidFill>
                <a:schemeClr val="dk1"/>
              </a:solidFill>
              <a:latin typeface="Proxima Nova"/>
              <a:ea typeface="Proxima Nova"/>
              <a:cs typeface="Proxima Nova"/>
              <a:sym typeface="Proxima Nova"/>
            </a:endParaRPr>
          </a:p>
          <a:p>
            <a:pPr indent="-304800" lvl="0" marL="457200" rtl="0" algn="l">
              <a:lnSpc>
                <a:spcPct val="115000"/>
              </a:lnSpc>
              <a:spcBef>
                <a:spcPts val="12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Author photo and bio</a:t>
            </a:r>
            <a:endParaRPr sz="1200">
              <a:solidFill>
                <a:schemeClr val="dk1"/>
              </a:solidFill>
              <a:latin typeface="Proxima Nova"/>
              <a:ea typeface="Proxima Nova"/>
              <a:cs typeface="Proxima Nova"/>
              <a:sym typeface="Proxima Nova"/>
            </a:endParaRPr>
          </a:p>
          <a:p>
            <a:pPr indent="-304800" lvl="0" marL="457200" rtl="0" algn="l">
              <a:lnSpc>
                <a:spcPct val="115000"/>
              </a:lnSpc>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Relevant credentials or experience</a:t>
            </a:r>
            <a:endParaRPr sz="1200">
              <a:solidFill>
                <a:schemeClr val="dk1"/>
              </a:solidFill>
              <a:latin typeface="Proxima Nova"/>
              <a:ea typeface="Proxima Nova"/>
              <a:cs typeface="Proxima Nova"/>
              <a:sym typeface="Proxima Nova"/>
            </a:endParaRPr>
          </a:p>
          <a:p>
            <a:pPr indent="-304800" lvl="0" marL="457200" rtl="0" algn="l">
              <a:lnSpc>
                <a:spcPct val="115000"/>
              </a:lnSpc>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Links to all articles written by the author</a:t>
            </a:r>
            <a:endParaRPr sz="1200">
              <a:solidFill>
                <a:schemeClr val="dk1"/>
              </a:solidFill>
              <a:latin typeface="Proxima Nova"/>
              <a:ea typeface="Proxima Nova"/>
              <a:cs typeface="Proxima Nova"/>
              <a:sym typeface="Proxima Nova"/>
            </a:endParaRPr>
          </a:p>
          <a:p>
            <a:pPr indent="-304800" lvl="0" marL="457200" rtl="0" algn="l">
              <a:lnSpc>
                <a:spcPct val="115000"/>
              </a:lnSpc>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Links to their social or professional profiles</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b="1" lang="en" sz="1200">
                <a:solidFill>
                  <a:srgbClr val="E21A6B"/>
                </a:solidFill>
                <a:latin typeface="Proxima Nova"/>
                <a:ea typeface="Proxima Nova"/>
                <a:cs typeface="Proxima Nova"/>
                <a:sym typeface="Proxima Nova"/>
              </a:rPr>
              <a:t>Recommendation #2: Set Privacy Policy Page to Index/Follow</a:t>
            </a: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Pages like Privacy Policy, Terms of Service, and Accessibility statements help demonstrate your site’s credibility and legitimacy — especially important for Google’s quality signals.</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b="1" lang="en" sz="1200">
                <a:solidFill>
                  <a:schemeClr val="dk1"/>
                </a:solidFill>
                <a:latin typeface="Proxima Nova"/>
                <a:ea typeface="Proxima Nova"/>
                <a:cs typeface="Proxima Nova"/>
                <a:sym typeface="Proxima Nova"/>
              </a:rPr>
              <a:t>Recommended Fix: </a:t>
            </a:r>
            <a:r>
              <a:rPr lang="en" sz="1200">
                <a:solidFill>
                  <a:schemeClr val="dk1"/>
                </a:solidFill>
                <a:latin typeface="Proxima Nova"/>
                <a:ea typeface="Proxima Nova"/>
                <a:cs typeface="Proxima Nova"/>
                <a:sym typeface="Proxima Nova"/>
              </a:rPr>
              <a:t>Follow the URL Action assigned to </a:t>
            </a:r>
            <a:r>
              <a:rPr lang="en" sz="1200" u="sng">
                <a:solidFill>
                  <a:schemeClr val="hlink"/>
                </a:solidFill>
                <a:latin typeface="Proxima Nova"/>
                <a:ea typeface="Proxima Nova"/>
                <a:cs typeface="Proxima Nova"/>
                <a:sym typeface="Proxima Nova"/>
                <a:hlinkClick r:id="rId4"/>
              </a:rPr>
              <a:t>https://www.coloradorafting.net/privacy-policy/</a:t>
            </a:r>
            <a:r>
              <a:rPr lang="en" sz="1200">
                <a:solidFill>
                  <a:schemeClr val="dk1"/>
                </a:solidFill>
                <a:latin typeface="Proxima Nova"/>
                <a:ea typeface="Proxima Nova"/>
                <a:cs typeface="Proxima Nova"/>
                <a:sym typeface="Proxima Nova"/>
              </a:rPr>
              <a:t> and set the page meta tags to Index, Follow</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12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453" name="Google Shape;453;p66"/>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454" name="Google Shape;454;p66"/>
          <p:cNvPicPr preferRelativeResize="0"/>
          <p:nvPr/>
        </p:nvPicPr>
        <p:blipFill rotWithShape="1">
          <a:blip r:embed="rId6">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1000"/>
                                        <p:tgtEl>
                                          <p:spTgt spid="4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58" name="Shape 458"/>
        <p:cNvGrpSpPr/>
        <p:nvPr/>
      </p:nvGrpSpPr>
      <p:grpSpPr>
        <a:xfrm>
          <a:off x="0" y="0"/>
          <a:ext cx="0" cy="0"/>
          <a:chOff x="0" y="0"/>
          <a:chExt cx="0" cy="0"/>
        </a:xfrm>
      </p:grpSpPr>
      <p:sp>
        <p:nvSpPr>
          <p:cNvPr id="459" name="Google Shape;459;p67"/>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67"/>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461" name="Google Shape;461;p67"/>
          <p:cNvSpPr txBox="1"/>
          <p:nvPr/>
        </p:nvSpPr>
        <p:spPr>
          <a:xfrm>
            <a:off x="2875500" y="342900"/>
            <a:ext cx="6268500" cy="453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Opportunity: </a:t>
            </a:r>
            <a:r>
              <a:rPr b="1" lang="en" sz="1200">
                <a:solidFill>
                  <a:srgbClr val="E21A6B"/>
                </a:solidFill>
                <a:latin typeface="Proxima Nova"/>
                <a:ea typeface="Proxima Nova"/>
                <a:cs typeface="Proxima Nova"/>
                <a:sym typeface="Proxima Nova"/>
              </a:rPr>
              <a:t>Remove /booknow/ Page</a:t>
            </a:r>
            <a:endParaRPr sz="1200">
              <a:solidFill>
                <a:srgbClr val="E21A6B"/>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 sz="1200">
                <a:solidFill>
                  <a:schemeClr val="dk1"/>
                </a:solidFill>
                <a:latin typeface="Proxima Nova"/>
                <a:ea typeface="Proxima Nova"/>
                <a:cs typeface="Proxima Nova"/>
                <a:sym typeface="Proxima Nova"/>
              </a:rPr>
              <a:t>The /booknow/ page is duplicative of other pages like /adventures/ and /adventures/all-trips/, and does not provide a direct booking function. It also occupies a spot in the main navigation menu.</a:t>
            </a:r>
            <a:endParaRPr sz="1200">
              <a:solidFill>
                <a:schemeClr val="dk1"/>
              </a:solidFill>
              <a:latin typeface="Proxima Nova"/>
              <a:ea typeface="Proxima Nova"/>
              <a:cs typeface="Proxima Nova"/>
              <a:sym typeface="Proxima Nova"/>
            </a:endParaRPr>
          </a:p>
          <a:p>
            <a:pPr indent="0" lvl="0" marL="0" rtl="0" algn="l">
              <a:lnSpc>
                <a:spcPct val="115000"/>
              </a:lnSpc>
              <a:spcBef>
                <a:spcPts val="1400"/>
              </a:spcBef>
              <a:spcAft>
                <a:spcPts val="0"/>
              </a:spcAft>
              <a:buNone/>
            </a:pPr>
            <a:r>
              <a:rPr b="1" lang="en" sz="1200">
                <a:solidFill>
                  <a:schemeClr val="dk1"/>
                </a:solidFill>
                <a:latin typeface="Proxima Nova"/>
                <a:ea typeface="Proxima Nova"/>
                <a:cs typeface="Proxima Nova"/>
                <a:sym typeface="Proxima Nova"/>
              </a:rPr>
              <a:t>Why This Is a Problem</a:t>
            </a:r>
            <a:endParaRPr b="1" sz="1200">
              <a:solidFill>
                <a:schemeClr val="dk1"/>
              </a:solidFill>
              <a:latin typeface="Proxima Nova"/>
              <a:ea typeface="Proxima Nova"/>
              <a:cs typeface="Proxima Nova"/>
              <a:sym typeface="Proxima Nova"/>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latin typeface="Proxima Nova"/>
                <a:ea typeface="Proxima Nova"/>
                <a:cs typeface="Proxima Nova"/>
                <a:sym typeface="Proxima Nova"/>
              </a:rPr>
              <a:t>Redundant Content: </a:t>
            </a:r>
            <a:r>
              <a:rPr lang="en" sz="1200">
                <a:solidFill>
                  <a:schemeClr val="dk1"/>
                </a:solidFill>
                <a:latin typeface="Proxima Nova"/>
                <a:ea typeface="Proxima Nova"/>
                <a:cs typeface="Proxima Nova"/>
                <a:sym typeface="Proxima Nova"/>
              </a:rPr>
              <a:t>The </a:t>
            </a:r>
            <a:r>
              <a:rPr lang="en" sz="1200">
                <a:solidFill>
                  <a:srgbClr val="188038"/>
                </a:solidFill>
                <a:latin typeface="Proxima Nova"/>
                <a:ea typeface="Proxima Nova"/>
                <a:cs typeface="Proxima Nova"/>
                <a:sym typeface="Proxima Nova"/>
              </a:rPr>
              <a:t>/booknow/</a:t>
            </a:r>
            <a:r>
              <a:rPr lang="en" sz="1200">
                <a:solidFill>
                  <a:schemeClr val="dk1"/>
                </a:solidFill>
                <a:latin typeface="Proxima Nova"/>
                <a:ea typeface="Proxima Nova"/>
                <a:cs typeface="Proxima Nova"/>
                <a:sym typeface="Proxima Nova"/>
              </a:rPr>
              <a:t> page repeats information available on other pages, offering no unique value to users.</a:t>
            </a:r>
            <a:endParaRPr sz="1200">
              <a:solidFill>
                <a:schemeClr val="dk1"/>
              </a:solidFill>
              <a:latin typeface="Proxima Nova"/>
              <a:ea typeface="Proxima Nova"/>
              <a:cs typeface="Proxima Nova"/>
              <a:sym typeface="Proxima Nova"/>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Proxima Nova"/>
                <a:ea typeface="Proxima Nova"/>
                <a:cs typeface="Proxima Nova"/>
                <a:sym typeface="Proxima Nova"/>
              </a:rPr>
              <a:t>User Experience Confusion: </a:t>
            </a:r>
            <a:r>
              <a:rPr lang="en" sz="1200">
                <a:solidFill>
                  <a:schemeClr val="dk1"/>
                </a:solidFill>
                <a:latin typeface="Proxima Nova"/>
                <a:ea typeface="Proxima Nova"/>
                <a:cs typeface="Proxima Nova"/>
                <a:sym typeface="Proxima Nova"/>
              </a:rPr>
              <a:t>Despite its title, the page lacks a direct booking interface, potentially misleading users expecting to book an experience immediately.</a:t>
            </a:r>
            <a:endParaRPr sz="1200">
              <a:solidFill>
                <a:schemeClr val="dk1"/>
              </a:solidFill>
              <a:latin typeface="Proxima Nova"/>
              <a:ea typeface="Proxima Nova"/>
              <a:cs typeface="Proxima Nova"/>
              <a:sym typeface="Proxima Nova"/>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Proxima Nova"/>
                <a:ea typeface="Proxima Nova"/>
                <a:cs typeface="Proxima Nova"/>
                <a:sym typeface="Proxima Nova"/>
              </a:rPr>
              <a:t>Navigation Clutter:</a:t>
            </a:r>
            <a:r>
              <a:rPr lang="en" sz="1200">
                <a:solidFill>
                  <a:schemeClr val="dk1"/>
                </a:solidFill>
                <a:latin typeface="Proxima Nova"/>
                <a:ea typeface="Proxima Nova"/>
                <a:cs typeface="Proxima Nova"/>
                <a:sym typeface="Proxima Nova"/>
              </a:rPr>
              <a:t> Including a non-functional booking page in the main menu can detract from the site's usability and clarity.</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b="1" lang="en" sz="1200">
                <a:solidFill>
                  <a:schemeClr val="dk1"/>
                </a:solidFill>
                <a:latin typeface="Proxima Nova"/>
                <a:ea typeface="Proxima Nova"/>
                <a:cs typeface="Proxima Nova"/>
                <a:sym typeface="Proxima Nova"/>
              </a:rPr>
              <a:t>Recommended Fix: </a:t>
            </a:r>
            <a:r>
              <a:rPr lang="en" sz="1200">
                <a:solidFill>
                  <a:schemeClr val="dk1"/>
                </a:solidFill>
                <a:latin typeface="Proxima Nova"/>
                <a:ea typeface="Proxima Nova"/>
                <a:cs typeface="Proxima Nova"/>
                <a:sym typeface="Proxima Nova"/>
              </a:rPr>
              <a:t>Delete the /booknow/ page and remove the page from the menu to eliminate redundancy and potential user confusion.</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12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462" name="Google Shape;462;p67"/>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463" name="Google Shape;463;p67"/>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1000"/>
                                        <p:tgtEl>
                                          <p:spTgt spid="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67" name="Shape 467"/>
        <p:cNvGrpSpPr/>
        <p:nvPr/>
      </p:nvGrpSpPr>
      <p:grpSpPr>
        <a:xfrm>
          <a:off x="0" y="0"/>
          <a:ext cx="0" cy="0"/>
          <a:chOff x="0" y="0"/>
          <a:chExt cx="0" cy="0"/>
        </a:xfrm>
      </p:grpSpPr>
      <p:sp>
        <p:nvSpPr>
          <p:cNvPr id="468" name="Google Shape;468;p68"/>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469" name="Google Shape;469;p68"/>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470" name="Google Shape;470;p68"/>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471" name="Google Shape;471;p68"/>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www.propellic.com</a:t>
            </a:r>
            <a:endParaRPr>
              <a:solidFill>
                <a:schemeClr val="lt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WEBRIS Them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